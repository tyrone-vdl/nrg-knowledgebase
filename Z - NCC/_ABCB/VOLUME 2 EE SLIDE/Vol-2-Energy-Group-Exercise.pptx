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handoutMasterIdLst>
    <p:handoutMasterId r:id="rId52"/>
  </p:handoutMasterIdLst>
  <p:sldIdLst>
    <p:sldId id="695" r:id="rId5"/>
    <p:sldId id="705" r:id="rId6"/>
    <p:sldId id="696" r:id="rId7"/>
    <p:sldId id="698" r:id="rId8"/>
    <p:sldId id="699" r:id="rId9"/>
    <p:sldId id="675" r:id="rId10"/>
    <p:sldId id="644" r:id="rId11"/>
    <p:sldId id="645" r:id="rId12"/>
    <p:sldId id="646" r:id="rId13"/>
    <p:sldId id="647" r:id="rId14"/>
    <p:sldId id="648" r:id="rId15"/>
    <p:sldId id="649" r:id="rId16"/>
    <p:sldId id="650" r:id="rId17"/>
    <p:sldId id="651" r:id="rId18"/>
    <p:sldId id="652" r:id="rId19"/>
    <p:sldId id="653" r:id="rId20"/>
    <p:sldId id="654" r:id="rId21"/>
    <p:sldId id="655" r:id="rId22"/>
    <p:sldId id="656" r:id="rId23"/>
    <p:sldId id="657" r:id="rId24"/>
    <p:sldId id="678" r:id="rId25"/>
    <p:sldId id="679" r:id="rId26"/>
    <p:sldId id="680" r:id="rId27"/>
    <p:sldId id="681" r:id="rId28"/>
    <p:sldId id="682" r:id="rId29"/>
    <p:sldId id="683" r:id="rId30"/>
    <p:sldId id="684" r:id="rId31"/>
    <p:sldId id="685" r:id="rId32"/>
    <p:sldId id="686" r:id="rId33"/>
    <p:sldId id="702" r:id="rId34"/>
    <p:sldId id="703" r:id="rId35"/>
    <p:sldId id="700" r:id="rId36"/>
    <p:sldId id="659" r:id="rId37"/>
    <p:sldId id="660" r:id="rId38"/>
    <p:sldId id="663" r:id="rId39"/>
    <p:sldId id="664" r:id="rId40"/>
    <p:sldId id="665" r:id="rId41"/>
    <p:sldId id="666" r:id="rId42"/>
    <p:sldId id="667" r:id="rId43"/>
    <p:sldId id="671" r:id="rId44"/>
    <p:sldId id="672" r:id="rId45"/>
    <p:sldId id="704" r:id="rId46"/>
    <p:sldId id="687" r:id="rId47"/>
    <p:sldId id="688" r:id="rId48"/>
    <p:sldId id="693" r:id="rId49"/>
    <p:sldId id="694" r:id="rId50"/>
  </p:sldIdLst>
  <p:sldSz cx="9144000" cy="6858000" type="screen4x3"/>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hiddenSlides="1"/>
  <p:clrMru>
    <a:srgbClr val="1B8B2B"/>
    <a:srgbClr val="1DA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87" autoAdjust="0"/>
    <p:restoredTop sz="68290" autoAdjust="0"/>
  </p:normalViewPr>
  <p:slideViewPr>
    <p:cSldViewPr>
      <p:cViewPr varScale="1">
        <p:scale>
          <a:sx n="73" d="100"/>
          <a:sy n="73" d="100"/>
        </p:scale>
        <p:origin x="1602" y="66"/>
      </p:cViewPr>
      <p:guideLst>
        <p:guide orient="horz" pos="2160"/>
        <p:guide pos="2880"/>
      </p:guideLst>
    </p:cSldViewPr>
  </p:slideViewPr>
  <p:notesTextViewPr>
    <p:cViewPr>
      <p:scale>
        <a:sx n="100" d="100"/>
        <a:sy n="100" d="100"/>
      </p:scale>
      <p:origin x="0" y="-432"/>
    </p:cViewPr>
  </p:notesTextViewPr>
  <p:sorterViewPr>
    <p:cViewPr>
      <p:scale>
        <a:sx n="80" d="100"/>
        <a:sy n="80" d="100"/>
      </p:scale>
      <p:origin x="0" y="2172"/>
    </p:cViewPr>
  </p:sorterViewPr>
  <p:notesViewPr>
    <p:cSldViewPr snapToGrid="0" snapToObjects="1">
      <p:cViewPr>
        <p:scale>
          <a:sx n="75" d="100"/>
          <a:sy n="75" d="100"/>
        </p:scale>
        <p:origin x="-2362" y="-58"/>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6967"/>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4940" y="1"/>
            <a:ext cx="2949099" cy="496967"/>
          </a:xfrm>
          <a:prstGeom prst="rect">
            <a:avLst/>
          </a:prstGeom>
        </p:spPr>
        <p:txBody>
          <a:bodyPr vert="horz" lIns="91440" tIns="45720" rIns="91440" bIns="45720" rtlCol="0"/>
          <a:lstStyle>
            <a:lvl1pPr algn="r">
              <a:defRPr sz="1200"/>
            </a:lvl1pPr>
          </a:lstStyle>
          <a:p>
            <a:fld id="{2E724930-F7BE-4EA0-9FFD-8066B30AF5CF}" type="datetimeFigureOut">
              <a:rPr lang="en-AU" smtClean="0"/>
              <a:t>4/08/2016</a:t>
            </a:fld>
            <a:endParaRPr lang="en-AU"/>
          </a:p>
        </p:txBody>
      </p:sp>
      <p:sp>
        <p:nvSpPr>
          <p:cNvPr id="4" name="Footer Placeholder 3"/>
          <p:cNvSpPr>
            <a:spLocks noGrp="1"/>
          </p:cNvSpPr>
          <p:nvPr>
            <p:ph type="ftr" sz="quarter" idx="2"/>
          </p:nvPr>
        </p:nvSpPr>
        <p:spPr>
          <a:xfrm>
            <a:off x="1" y="9440647"/>
            <a:ext cx="2949099" cy="49696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4940" y="9440647"/>
            <a:ext cx="2949099" cy="496967"/>
          </a:xfrm>
          <a:prstGeom prst="rect">
            <a:avLst/>
          </a:prstGeom>
        </p:spPr>
        <p:txBody>
          <a:bodyPr vert="horz" lIns="91440" tIns="45720" rIns="91440" bIns="45720" rtlCol="0" anchor="b"/>
          <a:lstStyle>
            <a:lvl1pPr algn="r">
              <a:defRPr sz="1200"/>
            </a:lvl1pPr>
          </a:lstStyle>
          <a:p>
            <a:fld id="{44C8396F-5BD6-4123-9299-BEA02EC7E5CB}" type="slidenum">
              <a:rPr lang="en-AU" smtClean="0"/>
              <a:t>‹#›</a:t>
            </a:fld>
            <a:endParaRPr lang="en-AU"/>
          </a:p>
        </p:txBody>
      </p:sp>
    </p:spTree>
    <p:extLst>
      <p:ext uri="{BB962C8B-B14F-4D97-AF65-F5344CB8AC3E}">
        <p14:creationId xmlns:p14="http://schemas.microsoft.com/office/powerpoint/2010/main" val="20175516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6967"/>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40" y="1"/>
            <a:ext cx="2949099" cy="496967"/>
          </a:xfrm>
          <a:prstGeom prst="rect">
            <a:avLst/>
          </a:prstGeom>
        </p:spPr>
        <p:txBody>
          <a:bodyPr vert="horz" lIns="91440" tIns="45720" rIns="91440" bIns="45720" rtlCol="0"/>
          <a:lstStyle>
            <a:lvl1pPr algn="r">
              <a:defRPr sz="1200"/>
            </a:lvl1pPr>
          </a:lstStyle>
          <a:p>
            <a:fld id="{468EAD44-5C82-42F3-A608-AE2EC76687A4}" type="datetimeFigureOut">
              <a:rPr lang="en-AU" smtClean="0"/>
              <a:pPr/>
              <a:t>4/08/2016</a:t>
            </a:fld>
            <a:endParaRPr lang="en-AU"/>
          </a:p>
        </p:txBody>
      </p:sp>
      <p:sp>
        <p:nvSpPr>
          <p:cNvPr id="4" name="Slide Image Placeholder 3"/>
          <p:cNvSpPr>
            <a:spLocks noGrp="1" noRot="1" noChangeAspect="1"/>
          </p:cNvSpPr>
          <p:nvPr>
            <p:ph type="sldImg" idx="2"/>
          </p:nvPr>
        </p:nvSpPr>
        <p:spPr>
          <a:xfrm>
            <a:off x="919163" y="746125"/>
            <a:ext cx="4967287" cy="372586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21186"/>
            <a:ext cx="5444490" cy="447270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6" name="Footer Placeholder 5"/>
          <p:cNvSpPr>
            <a:spLocks noGrp="1"/>
          </p:cNvSpPr>
          <p:nvPr>
            <p:ph type="ftr" sz="quarter" idx="4"/>
          </p:nvPr>
        </p:nvSpPr>
        <p:spPr>
          <a:xfrm>
            <a:off x="1" y="9440647"/>
            <a:ext cx="2949099" cy="49696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40" y="9440647"/>
            <a:ext cx="2949099" cy="496967"/>
          </a:xfrm>
          <a:prstGeom prst="rect">
            <a:avLst/>
          </a:prstGeom>
        </p:spPr>
        <p:txBody>
          <a:bodyPr vert="horz" lIns="91440" tIns="45720" rIns="91440" bIns="45720" rtlCol="0" anchor="b"/>
          <a:lstStyle>
            <a:lvl1pPr algn="r">
              <a:defRPr sz="1200"/>
            </a:lvl1pPr>
          </a:lstStyle>
          <a:p>
            <a:fld id="{453E1AD6-DF05-4BB0-9185-EED55F20F693}" type="slidenum">
              <a:rPr lang="en-AU" smtClean="0"/>
              <a:pPr/>
              <a:t>‹#›</a:t>
            </a:fld>
            <a:endParaRPr lang="en-AU"/>
          </a:p>
        </p:txBody>
      </p:sp>
    </p:spTree>
    <p:extLst>
      <p:ext uri="{BB962C8B-B14F-4D97-AF65-F5344CB8AC3E}">
        <p14:creationId xmlns:p14="http://schemas.microsoft.com/office/powerpoint/2010/main" val="3891090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Narrow"/>
        <a:ea typeface="+mn-ea"/>
        <a:cs typeface="Arial Narrow"/>
      </a:defRPr>
    </a:lvl1pPr>
    <a:lvl2pPr marL="457200" algn="l" defTabSz="914400" rtl="0" eaLnBrk="1" latinLnBrk="0" hangingPunct="1">
      <a:defRPr sz="1200" kern="1200">
        <a:solidFill>
          <a:schemeClr val="tx1"/>
        </a:solidFill>
        <a:latin typeface="Arial Narrow"/>
        <a:ea typeface="+mn-ea"/>
        <a:cs typeface="Arial Narrow"/>
      </a:defRPr>
    </a:lvl2pPr>
    <a:lvl3pPr marL="914400" algn="l" defTabSz="914400" rtl="0" eaLnBrk="1" latinLnBrk="0" hangingPunct="1">
      <a:defRPr sz="1200" kern="1200">
        <a:solidFill>
          <a:schemeClr val="tx1"/>
        </a:solidFill>
        <a:latin typeface="Arial Narrow"/>
        <a:ea typeface="+mn-ea"/>
        <a:cs typeface="Arial Narrow"/>
      </a:defRPr>
    </a:lvl3pPr>
    <a:lvl4pPr marL="1371600" algn="l" defTabSz="914400" rtl="0" eaLnBrk="1" latinLnBrk="0" hangingPunct="1">
      <a:defRPr sz="1200" kern="1200">
        <a:solidFill>
          <a:schemeClr val="tx1"/>
        </a:solidFill>
        <a:latin typeface="Arial Narrow"/>
        <a:ea typeface="+mn-ea"/>
        <a:cs typeface="Arial Narrow"/>
      </a:defRPr>
    </a:lvl4pPr>
    <a:lvl5pPr marL="1828800" algn="l" defTabSz="914400" rtl="0" eaLnBrk="1" latinLnBrk="0" hangingPunct="1">
      <a:defRPr sz="1200" kern="1200">
        <a:solidFill>
          <a:schemeClr val="tx1"/>
        </a:solidFill>
        <a:latin typeface="Arial Narrow"/>
        <a:ea typeface="+mn-ea"/>
        <a:cs typeface="Arial Narrow"/>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creativecommons.org/licenses/by/4.0/legalcode"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mailto:ncc@abcb.gov.au" TargetMode="External"/><Relationship Id="rId4" Type="http://schemas.openxmlformats.org/officeDocument/2006/relationships/hyperlink" Target="http://www.abcb.gov.au/"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2"/>
          <p:cNvSpPr>
            <a:spLocks noGrp="1"/>
          </p:cNvSpPr>
          <p:nvPr>
            <p:ph type="body" idx="1"/>
          </p:nvPr>
        </p:nvSpPr>
        <p:spPr/>
        <p:txBody>
          <a:bodyPr/>
          <a:lstStyle/>
          <a:p>
            <a:endParaRPr lang="en-AU" dirty="0" smtClean="0"/>
          </a:p>
        </p:txBody>
      </p:sp>
      <p:sp>
        <p:nvSpPr>
          <p:cNvPr id="17411" name="Slide Number Placeholder 3"/>
          <p:cNvSpPr>
            <a:spLocks noGrp="1"/>
          </p:cNvSpPr>
          <p:nvPr>
            <p:ph type="sldNum" sz="quarter" idx="5"/>
          </p:nvPr>
        </p:nvSpPr>
        <p:spPr/>
        <p:txBody>
          <a:bodyPr/>
          <a:lstStyle/>
          <a:p>
            <a:fld id="{B8A3975B-F008-4E39-8335-824D71DA286D}" type="slidenum">
              <a:rPr lang="en-AU" smtClean="0"/>
              <a:pPr/>
              <a:t>1</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185314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2"/>
          <p:cNvSpPr>
            <a:spLocks noGrp="1"/>
          </p:cNvSpPr>
          <p:nvPr>
            <p:ph type="body" idx="1"/>
          </p:nvPr>
        </p:nvSpPr>
        <p:spPr/>
        <p:txBody>
          <a:bodyPr>
            <a:normAutofit fontScale="55000" lnSpcReduction="20000"/>
          </a:bodyPr>
          <a:lstStyle/>
          <a:p>
            <a:pPr algn="ctr">
              <a:spcAft>
                <a:spcPts val="0"/>
              </a:spcAft>
            </a:pPr>
            <a:r>
              <a:rPr lang="en-AU" sz="2000" b="1" u="sng" dirty="0" smtClean="0">
                <a:effectLst/>
                <a:latin typeface="Arial" panose="020B0604020202020204" pitchFamily="34" charset="0"/>
                <a:ea typeface="Times New Roman" panose="02020603050405020304" pitchFamily="18" charset="0"/>
                <a:cs typeface="Times" panose="02020603050405020304" pitchFamily="18" charset="0"/>
              </a:rPr>
              <a:t>Copyright and licence notice</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 2016 Commonwealth of Australia and States and Territories of Australia</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Ownership of intellectual property rights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Unless otherwise noted, copyright (and any other intellectual property rights, if any) in this publication is jointly owned by the Commonwealth, States and Territories of Australia.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Creative Commons Attribution 4.0 Licence</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CC BY 4.0</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b="1" dirty="0" smtClean="0">
                <a:effectLst/>
                <a:latin typeface="Arial" panose="020B0604020202020204" pitchFamily="34" charset="0"/>
                <a:ea typeface="Times New Roman" panose="02020603050405020304" pitchFamily="18" charset="0"/>
                <a:cs typeface="Times" panose="02020603050405020304" pitchFamily="18" charset="0"/>
              </a:rPr>
              <a:t>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All material in this publication is licensed under a Creative Commons Attribution 4.0 International Licence, save for logos. Attribution 4.0 International Licence is a standard form licence agreement. Under this licence: you may copy and redistribute the material in any medium or format and remix, transform and build upon the material. You must give appropriate credit, provide a link to the licence, and indicate if you have made any changes to the original work. You may do so in any reasonable manner, but not in any way that suggests the Commonwealth of Australia, States and Territories of Australia or Australian Building Codes Board endorses you or your use. </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The full licence terms are available from </a:t>
            </a:r>
            <a:r>
              <a:rPr lang="en-AU" sz="1200" u="sng" dirty="0" smtClean="0">
                <a:solidFill>
                  <a:srgbClr val="0000FF"/>
                </a:solidFill>
                <a:effectLst/>
                <a:latin typeface="Arial" panose="020B0604020202020204" pitchFamily="34" charset="0"/>
                <a:ea typeface="Times New Roman" panose="02020603050405020304" pitchFamily="18" charset="0"/>
                <a:cs typeface="Times" panose="02020603050405020304" pitchFamily="18" charset="0"/>
                <a:hlinkClick r:id="rId3"/>
              </a:rPr>
              <a:t>https://creativecommons.org/licenses/by/4.0/legalcode</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Content contained herein should be attributed as: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Times" panose="02020603050405020304" pitchFamily="18" charset="0"/>
              </a:rPr>
              <a:t>The NCC Volume Two Energy Efficiency </a:t>
            </a:r>
            <a:r>
              <a:rPr lang="en-AU" sz="1200" smtClean="0">
                <a:effectLst/>
                <a:latin typeface="Arial" panose="020B0604020202020204" pitchFamily="34" charset="0"/>
                <a:ea typeface="Times New Roman" panose="02020603050405020304" pitchFamily="18" charset="0"/>
                <a:cs typeface="Times" panose="02020603050405020304" pitchFamily="18" charset="0"/>
              </a:rPr>
              <a:t>Group</a:t>
            </a:r>
            <a:r>
              <a:rPr lang="en-AU" sz="1200" baseline="0" smtClean="0">
                <a:effectLst/>
                <a:latin typeface="Arial" panose="020B0604020202020204" pitchFamily="34" charset="0"/>
                <a:ea typeface="Times New Roman" panose="02020603050405020304" pitchFamily="18" charset="0"/>
                <a:cs typeface="Times" panose="02020603050405020304" pitchFamily="18" charset="0"/>
              </a:rPr>
              <a:t> Exercises</a:t>
            </a:r>
            <a:r>
              <a:rPr lang="en-AU" sz="800" smtClean="0">
                <a:effectLst/>
                <a:latin typeface="Arial" panose="020B0604020202020204" pitchFamily="34" charset="0"/>
                <a:ea typeface="Times New Roman" panose="02020603050405020304" pitchFamily="18" charset="0"/>
                <a:cs typeface="Times" panose="02020603050405020304" pitchFamily="18" charset="0"/>
              </a:rPr>
              <a:t>©</a:t>
            </a:r>
            <a:r>
              <a:rPr lang="en-AU" sz="1200" smtClean="0">
                <a:effectLst/>
                <a:latin typeface="Arial" panose="020B0604020202020204" pitchFamily="34" charset="0"/>
                <a:ea typeface="Times New Roman" panose="02020603050405020304" pitchFamily="18" charset="0"/>
                <a:cs typeface="Times" panose="02020603050405020304" pitchFamily="18" charset="0"/>
              </a:rPr>
              <a:t> </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as released by the Australian Building Codes Board Office on behalf of the Commonwealth of Australia and States and Territories of Australia</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2000" b="1" u="sng" dirty="0" smtClean="0">
                <a:effectLst/>
                <a:latin typeface="Arial" panose="020B0604020202020204" pitchFamily="34" charset="0"/>
                <a:ea typeface="Times New Roman" panose="02020603050405020304" pitchFamily="18" charset="0"/>
                <a:cs typeface="Times" panose="02020603050405020304" pitchFamily="18" charset="0"/>
              </a:rPr>
              <a:t>Disclaimer</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While care has been taken in the preparation of this publication, the General Manager of the Australian Building Codes Board Office on behalf of the Commonwealth of Australia and States and Territories of Australia does not warrant that any licensing or registration requirements specified in this publication are either complete or up-to-date for your State or Territory. You can ensure that you are using the most up-to-date version</a:t>
            </a:r>
            <a:r>
              <a:rPr lang="en-AU" sz="1200" dirty="0" smtClean="0">
                <a:effectLst/>
                <a:latin typeface="Arial" panose="020B0604020202020204" pitchFamily="34" charset="0"/>
                <a:ea typeface="Times New Roman" panose="02020603050405020304" pitchFamily="18" charset="0"/>
                <a:cs typeface="Times" panose="02020603050405020304" pitchFamily="18" charset="0"/>
              </a:rPr>
              <a:t> </a:t>
            </a:r>
            <a:r>
              <a:rPr lang="en-AU" sz="1200" dirty="0" smtClean="0">
                <a:effectLst/>
                <a:latin typeface="Arial" panose="020B0604020202020204" pitchFamily="34" charset="0"/>
                <a:ea typeface="Times New Roman" panose="02020603050405020304" pitchFamily="18" charset="0"/>
                <a:cs typeface="Arial" panose="020B0604020202020204" pitchFamily="34" charset="0"/>
              </a:rPr>
              <a:t>by checking the Australian Building Codes Board website (</a:t>
            </a:r>
            <a:r>
              <a:rPr lang="en-AU" sz="1200" u="sng" dirty="0" smtClean="0">
                <a:solidFill>
                  <a:srgbClr val="0000FF"/>
                </a:solidFill>
                <a:effectLst/>
                <a:latin typeface="Arial" panose="020B0604020202020204" pitchFamily="34" charset="0"/>
                <a:ea typeface="Times New Roman" panose="02020603050405020304" pitchFamily="18" charset="0"/>
                <a:cs typeface="Arial" panose="020B0604020202020204" pitchFamily="34" charset="0"/>
                <a:hlinkClick r:id="rId4"/>
              </a:rPr>
              <a:t>www.abcb.gov.au</a:t>
            </a:r>
            <a:r>
              <a:rPr lang="en-AU" sz="1200" dirty="0" smtClean="0">
                <a:effectLst/>
                <a:latin typeface="Arial" panose="020B0604020202020204" pitchFamily="34" charset="0"/>
                <a:ea typeface="Times New Roman" panose="02020603050405020304" pitchFamily="18" charset="0"/>
                <a:cs typeface="Arial" panose="020B0604020202020204" pitchFamily="34" charset="0"/>
              </a:rPr>
              <a:t>).</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The General Manager of the Australian Building Codes Board Office does not accept any liability, including liability for negligence, loss howsoever caused, damage, injury, expense or cost incurred by any person as a result of accessing, using or relying upon any information in this publication to the maximum extent permitted by law. No representation expressed or implied is made as to the currency, accuracy, reliability or completeness of any information or services which may appear on any linked websites, or other linked information sources.</a:t>
            </a: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gn="ctr">
              <a:spcAft>
                <a:spcPts val="0"/>
              </a:spcAft>
            </a:pPr>
            <a:r>
              <a:rPr lang="en-AU" sz="1200" dirty="0" smtClean="0">
                <a:effectLst/>
                <a:latin typeface="Arial" panose="020B0604020202020204" pitchFamily="34" charset="0"/>
                <a:ea typeface="Times New Roman" panose="02020603050405020304" pitchFamily="18" charset="0"/>
                <a:cs typeface="Arial" panose="020B0604020202020204" pitchFamily="34" charset="0"/>
              </a:rPr>
              <a:t>The information is provided on the basis that all persons accessing the information contained in this publication undertake responsibility for assessing the relevance and accuracy of the information to their particular circumstances.</a:t>
            </a:r>
          </a:p>
          <a:p>
            <a:pPr algn="ctr">
              <a:spcAft>
                <a:spcPts val="0"/>
              </a:spcAft>
            </a:pPr>
            <a:endParaRPr lang="en-AU" sz="2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indent="-91567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Published by:	The Australian Building Codes Board</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GPO Box 9839 </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CANBERRA  ACT  2601</a:t>
            </a: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Phone: 1300 134 631</a:t>
            </a:r>
            <a:b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b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Email: </a:t>
            </a:r>
            <a:r>
              <a:rPr lang="en-AU" sz="1300" u="sng" dirty="0" smtClean="0">
                <a:solidFill>
                  <a:srgbClr val="0000FF"/>
                </a:solidFill>
                <a:effectLst/>
                <a:latin typeface="Arial" panose="020B0604020202020204" pitchFamily="34" charset="0"/>
                <a:ea typeface="Times New Roman" panose="02020603050405020304" pitchFamily="18" charset="0"/>
                <a:cs typeface="Times New Roman" panose="02020603050405020304" pitchFamily="18" charset="0"/>
                <a:hlinkClick r:id="rId5"/>
              </a:rPr>
              <a:t>ncc@abcb.gov.au</a:t>
            </a: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a:spcAft>
                <a:spcPts val="0"/>
              </a:spcAf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Website: </a:t>
            </a:r>
            <a:r>
              <a:rPr lang="en-AU" sz="1300" u="sng" dirty="0" smtClean="0">
                <a:solidFill>
                  <a:srgbClr val="0000FF"/>
                </a:solidFill>
                <a:effectLst/>
                <a:latin typeface="Arial" panose="020B0604020202020204" pitchFamily="34" charset="0"/>
                <a:ea typeface="Times New Roman" panose="02020603050405020304" pitchFamily="18" charset="0"/>
                <a:cs typeface="Times New Roman" panose="02020603050405020304" pitchFamily="18" charset="0"/>
                <a:hlinkClick r:id="rId4"/>
              </a:rPr>
              <a:t>www.abcb.gov.au</a:t>
            </a:r>
            <a:r>
              <a:rPr lang="en-AU" sz="1300" b="1" dirty="0" smtClean="0">
                <a:effectLst/>
                <a:latin typeface="Arial" panose="020B0604020202020204" pitchFamily="34" charset="0"/>
                <a:ea typeface="Times New Roman" panose="02020603050405020304" pitchFamily="18" charset="0"/>
                <a:cs typeface="Times New Roman" panose="02020603050405020304" pitchFamily="18" charset="0"/>
              </a:rPr>
              <a:t> </a:t>
            </a:r>
          </a:p>
          <a:p>
            <a:pPr marL="922020">
              <a:spcAft>
                <a:spcPts val="0"/>
              </a:spcAft>
            </a:pP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22020" indent="6350">
              <a:spcAft>
                <a:spcPts val="0"/>
              </a:spcAft>
            </a:pPr>
            <a:r>
              <a:rPr lang="en-AU" sz="1300" i="1" dirty="0" smtClean="0">
                <a:effectLst/>
                <a:latin typeface="Arial" panose="020B0604020202020204" pitchFamily="34" charset="0"/>
                <a:ea typeface="Times New Roman" panose="02020603050405020304" pitchFamily="18" charset="0"/>
                <a:cs typeface="Times New Roman" panose="02020603050405020304" pitchFamily="18" charset="0"/>
              </a:rPr>
              <a:t> </a:t>
            </a:r>
            <a:endParaRPr lang="en-AU" sz="13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First published: August 2016</a:t>
            </a: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Print version: 1.0</a:t>
            </a:r>
          </a:p>
          <a:p>
            <a:pPr marL="989965" indent="-989965">
              <a:spcAft>
                <a:spcPts val="400"/>
              </a:spcAft>
              <a:tabLst>
                <a:tab pos="989965" algn="l"/>
              </a:tabLst>
            </a:pPr>
            <a:r>
              <a:rPr lang="en-AU" sz="1300" dirty="0" smtClean="0">
                <a:effectLst/>
                <a:latin typeface="Arial" panose="020B0604020202020204" pitchFamily="34" charset="0"/>
                <a:ea typeface="Times New Roman" panose="02020603050405020304" pitchFamily="18" charset="0"/>
                <a:cs typeface="Times New Roman" panose="02020603050405020304" pitchFamily="18" charset="0"/>
              </a:rPr>
              <a:t>Release date: August 2016</a:t>
            </a:r>
            <a:endParaRPr lang="en-AU" dirty="0" smtClean="0"/>
          </a:p>
        </p:txBody>
      </p:sp>
      <p:sp>
        <p:nvSpPr>
          <p:cNvPr id="17411" name="Slide Number Placeholder 3"/>
          <p:cNvSpPr>
            <a:spLocks noGrp="1"/>
          </p:cNvSpPr>
          <p:nvPr>
            <p:ph type="sldNum" sz="quarter" idx="5"/>
          </p:nvPr>
        </p:nvSpPr>
        <p:spPr/>
        <p:txBody>
          <a:bodyPr/>
          <a:lstStyle/>
          <a:p>
            <a:fld id="{B8A3975B-F008-4E39-8335-824D71DA286D}" type="slidenum">
              <a:rPr lang="en-AU" smtClean="0">
                <a:solidFill>
                  <a:prstClr val="black"/>
                </a:solidFill>
              </a:rPr>
              <a:pPr/>
              <a:t>2</a:t>
            </a:fld>
            <a:endParaRPr lang="en-AU" dirty="0">
              <a:solidFill>
                <a:prstClr val="black"/>
              </a:solidFill>
            </a:endParaRP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6863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Notes Placeholder 2"/>
          <p:cNvSpPr>
            <a:spLocks noGrp="1"/>
          </p:cNvSpPr>
          <p:nvPr>
            <p:ph type="body" idx="1"/>
          </p:nvPr>
        </p:nvSpPr>
        <p:spPr/>
        <p:txBody>
          <a:bodyPr/>
          <a:lstStyle/>
          <a:p>
            <a:endParaRPr lang="en-AU" dirty="0" smtClean="0"/>
          </a:p>
        </p:txBody>
      </p:sp>
      <p:sp>
        <p:nvSpPr>
          <p:cNvPr id="19459" name="Slide Number Placeholder 3"/>
          <p:cNvSpPr>
            <a:spLocks noGrp="1"/>
          </p:cNvSpPr>
          <p:nvPr>
            <p:ph type="sldNum" sz="quarter" idx="5"/>
          </p:nvPr>
        </p:nvSpPr>
        <p:spPr/>
        <p:txBody>
          <a:bodyPr/>
          <a:lstStyle/>
          <a:p>
            <a:fld id="{BB25AD34-EF5E-4C38-9099-2859E8E2EB7A}" type="slidenum">
              <a:rPr lang="en-AU" smtClean="0"/>
              <a:pPr/>
              <a:t>3</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3546596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To complete</a:t>
            </a:r>
            <a:r>
              <a:rPr lang="en-AU" baseline="0" dirty="0" smtClean="0"/>
              <a:t> the following group exercises the following is required:</a:t>
            </a:r>
          </a:p>
          <a:p>
            <a:pPr marL="1085850" lvl="2" indent="-171450">
              <a:buFont typeface="Arial" pitchFamily="34" charset="0"/>
              <a:buChar char="•"/>
            </a:pPr>
            <a:r>
              <a:rPr lang="en-AU" baseline="0" dirty="0" smtClean="0"/>
              <a:t>A copy of the NCC Volume Two. </a:t>
            </a:r>
          </a:p>
          <a:p>
            <a:pPr marL="1085850" lvl="2" indent="-171450">
              <a:buFont typeface="Arial" pitchFamily="34" charset="0"/>
              <a:buChar char="•"/>
            </a:pPr>
            <a:r>
              <a:rPr lang="en-AU" baseline="0" dirty="0" smtClean="0"/>
              <a:t>Group Exercise – Glazing Calculator (Excel spread sheet) for use with Question Five of Exercise Two.  </a:t>
            </a:r>
          </a:p>
          <a:p>
            <a:pPr marL="1543050" lvl="3" indent="-171450">
              <a:buFont typeface="Arial" pitchFamily="34" charset="0"/>
              <a:buChar char="•"/>
            </a:pPr>
            <a:r>
              <a:rPr lang="en-AU" baseline="0" dirty="0" smtClean="0"/>
              <a:t>Computer access for all participants is desired, however the presenter can work through the glazing calculator on the main screen if need be. </a:t>
            </a:r>
          </a:p>
        </p:txBody>
      </p:sp>
      <p:sp>
        <p:nvSpPr>
          <p:cNvPr id="23555" name="Slide Number Placeholder 3"/>
          <p:cNvSpPr>
            <a:spLocks noGrp="1"/>
          </p:cNvSpPr>
          <p:nvPr>
            <p:ph type="sldNum" sz="quarter" idx="5"/>
          </p:nvPr>
        </p:nvSpPr>
        <p:spPr/>
        <p:txBody>
          <a:bodyPr/>
          <a:lstStyle/>
          <a:p>
            <a:fld id="{308A2013-0055-46CD-9ED1-223CB61BFFB8}" type="slidenum">
              <a:rPr lang="en-AU" smtClean="0"/>
              <a:pPr/>
              <a:t>4</a:t>
            </a:fld>
            <a:endParaRPr lang="en-AU" dirty="0"/>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386952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4DEE4A2-4769-4852-A574-16ABDC8DC3F3}" type="slidenum">
              <a:rPr lang="en-AU" smtClean="0"/>
              <a:pPr/>
              <a:t>5</a:t>
            </a:fld>
            <a:endParaRPr lang="en-AU"/>
          </a:p>
        </p:txBody>
      </p:sp>
    </p:spTree>
    <p:extLst>
      <p:ext uri="{BB962C8B-B14F-4D97-AF65-F5344CB8AC3E}">
        <p14:creationId xmlns:p14="http://schemas.microsoft.com/office/powerpoint/2010/main" val="3584921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The first</a:t>
            </a:r>
            <a:r>
              <a:rPr lang="en-AU" baseline="0" dirty="0" smtClean="0"/>
              <a:t> </a:t>
            </a:r>
            <a:r>
              <a:rPr lang="en-AU" dirty="0" smtClean="0"/>
              <a:t>topic for</a:t>
            </a:r>
            <a:r>
              <a:rPr lang="en-AU" baseline="0" dirty="0" smtClean="0"/>
              <a:t> the group exercises </a:t>
            </a:r>
            <a:r>
              <a:rPr lang="en-AU" dirty="0" smtClean="0"/>
              <a:t>will be ‘Building</a:t>
            </a:r>
            <a:r>
              <a:rPr lang="en-AU" baseline="0" dirty="0" smtClean="0"/>
              <a:t> Fabric</a:t>
            </a:r>
            <a:r>
              <a:rPr lang="en-AU" dirty="0" smtClean="0"/>
              <a:t>’.</a:t>
            </a:r>
          </a:p>
          <a:p>
            <a:pPr marL="1085850" lvl="2" indent="-171450">
              <a:buFont typeface="Arial" pitchFamily="34" charset="0"/>
              <a:buChar char="•"/>
            </a:pPr>
            <a:endParaRPr lang="en-AU" dirty="0" smtClean="0"/>
          </a:p>
          <a:p>
            <a:pPr lvl="1"/>
            <a:endParaRPr lang="en-AU" dirty="0" smtClean="0"/>
          </a:p>
        </p:txBody>
      </p:sp>
      <p:sp>
        <p:nvSpPr>
          <p:cNvPr id="4" name="Slide Number Placeholder 3"/>
          <p:cNvSpPr>
            <a:spLocks noGrp="1"/>
          </p:cNvSpPr>
          <p:nvPr>
            <p:ph type="sldNum" sz="quarter" idx="10"/>
          </p:nvPr>
        </p:nvSpPr>
        <p:spPr/>
        <p:txBody>
          <a:bodyPr/>
          <a:lstStyle/>
          <a:p>
            <a:fld id="{A4DEE4A2-4769-4852-A574-16ABDC8DC3F3}" type="slidenum">
              <a:rPr lang="en-AU" smtClean="0"/>
              <a:pPr/>
              <a:t>6</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176828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5FE47D5-C4EB-4B24-AC1A-57EB7B3815BB}" type="slidenum">
              <a:rPr lang="en-US">
                <a:latin typeface="Arial" charset="0"/>
              </a:rPr>
              <a:pPr/>
              <a:t>7</a:t>
            </a:fld>
            <a:endParaRPr lang="en-US">
              <a:latin typeface="Arial" charset="0"/>
            </a:endParaRPr>
          </a:p>
        </p:txBody>
      </p:sp>
      <p:sp>
        <p:nvSpPr>
          <p:cNvPr id="39939"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1 -  Objectives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eaLnBrk="1" hangingPunct="1">
              <a:buFont typeface="Arial" pitchFamily="34" charset="0"/>
              <a:buChar char="•"/>
            </a:pPr>
            <a:r>
              <a:rPr lang="en-AU" dirty="0" smtClean="0"/>
              <a:t>The purpose</a:t>
            </a:r>
            <a:r>
              <a:rPr lang="en-AU" baseline="0" dirty="0" smtClean="0"/>
              <a:t> of the exercise is teach participants how to interpret the elemental energy efficiency provisions for the building fabric.</a:t>
            </a:r>
          </a:p>
          <a:p>
            <a:pPr marL="628650" lvl="1" indent="-171450" eaLnBrk="1" hangingPunct="1">
              <a:buFont typeface="Arial" pitchFamily="34" charset="0"/>
              <a:buChar char="•"/>
            </a:pPr>
            <a:r>
              <a:rPr lang="en-AU" baseline="0" dirty="0" smtClean="0"/>
              <a:t>For this exercise we will be looking at the requirements for roofs of houses.</a:t>
            </a:r>
          </a:p>
          <a:p>
            <a:pPr marL="45720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0" i="0" u="none"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i="0" u="sng" baseline="0" dirty="0" smtClean="0"/>
              <a:t>Background Notes:</a:t>
            </a:r>
          </a:p>
          <a:p>
            <a:pPr marL="0" lvl="0" indent="0" eaLnBrk="1" hangingPunct="1">
              <a:buFont typeface="Arial" pitchFamily="34" charset="0"/>
              <a:buNone/>
            </a:pPr>
            <a:r>
              <a:rPr lang="en-AU" b="1" dirty="0" smtClean="0"/>
              <a:t>Note: </a:t>
            </a:r>
            <a:r>
              <a:rPr lang="en-AU" b="0" dirty="0" smtClean="0"/>
              <a:t>The ABCB</a:t>
            </a:r>
            <a:r>
              <a:rPr lang="en-AU" b="0" baseline="0" dirty="0" smtClean="0"/>
              <a:t> NCC Volume Two Energy Efficiency Provisions Handbook, chapter eight might help with answering the questions and understanding the intent. In respect to the building fabric similar provisions apply for walls and floors.</a:t>
            </a:r>
            <a:endParaRPr lang="en-AU" b="1" dirty="0" smtClean="0"/>
          </a:p>
        </p:txBody>
      </p:sp>
      <p:sp>
        <p:nvSpPr>
          <p:cNvPr id="39940"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1088317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389CAE8-D5FA-4F59-856E-7E8D14B83666}" type="slidenum">
              <a:rPr lang="en-US">
                <a:latin typeface="Arial" charset="0"/>
              </a:rPr>
              <a:pPr/>
              <a:t>8</a:t>
            </a:fld>
            <a:endParaRPr lang="en-US">
              <a:latin typeface="Arial" charset="0"/>
            </a:endParaRPr>
          </a:p>
        </p:txBody>
      </p:sp>
      <p:sp>
        <p:nvSpPr>
          <p:cNvPr id="40963"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1 -  Learning Outcomes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171450" indent="-171450" eaLnBrk="1" hangingPunct="1">
              <a:buFont typeface="Arial" panose="020B0604020202020204" pitchFamily="34" charset="0"/>
              <a:buChar char="•"/>
            </a:pPr>
            <a:r>
              <a:rPr lang="en-AU" dirty="0" smtClean="0"/>
              <a:t>Read the slide</a:t>
            </a:r>
            <a:endParaRPr lang="en-US" sz="1200" dirty="0" smtClean="0"/>
          </a:p>
          <a:p>
            <a:pPr eaLnBrk="1" hangingPunct="1"/>
            <a:endParaRPr lang="en-AU" dirty="0" smtClean="0"/>
          </a:p>
        </p:txBody>
      </p:sp>
      <p:sp>
        <p:nvSpPr>
          <p:cNvPr id="40964"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3084766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9B5F8AC9-97F2-40F0-8C4C-9B626FF48C9B}" type="slidenum">
              <a:rPr lang="en-US">
                <a:latin typeface="Arial" charset="0"/>
              </a:rPr>
              <a:pPr/>
              <a:t>9</a:t>
            </a:fld>
            <a:endParaRPr lang="en-US">
              <a:latin typeface="Arial" charset="0"/>
            </a:endParaRPr>
          </a:p>
        </p:txBody>
      </p:sp>
      <p:sp>
        <p:nvSpPr>
          <p:cNvPr id="41987" name="Rectangle 2"/>
          <p:cNvSpPr>
            <a:spLocks noGrp="1" noRot="1" noChangeAspect="1" noChangeArrowheads="1" noTextEdit="1"/>
          </p:cNvSpPr>
          <p:nvPr>
            <p:ph type="sldImg"/>
          </p:nvPr>
        </p:nvSpPr>
        <p:spPr>
          <a:xfrm>
            <a:off x="1077913" y="865188"/>
            <a:ext cx="4649787" cy="3489325"/>
          </a:xfrm>
          <a:ln/>
        </p:spPr>
      </p:sp>
      <p:sp>
        <p:nvSpPr>
          <p:cNvPr id="4198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b="1" dirty="0" smtClean="0"/>
              <a:t>To be taught as a group exercise, it may be best to provide all of these exercise questions on a single sheet for groups to consider before running through the answers on these PowerPoint slides. A</a:t>
            </a:r>
            <a:r>
              <a:rPr lang="en-AU" b="1" baseline="0" dirty="0" smtClean="0"/>
              <a:t> question sheet is provided with the resource kit material. </a:t>
            </a:r>
            <a:endParaRPr lang="en-AU" dirty="0" smtClean="0"/>
          </a:p>
          <a:p>
            <a:pPr marL="628650" lvl="1" indent="-171450" algn="just" eaLnBrk="1" hangingPunct="1">
              <a:buFont typeface="Arial" pitchFamily="34" charset="0"/>
              <a:buChar char="•"/>
            </a:pPr>
            <a:r>
              <a:rPr lang="en-AU" dirty="0" smtClean="0"/>
              <a:t>A technical definition for R-Value can be found in Part 3.12 of NCC Volume Two.</a:t>
            </a:r>
          </a:p>
          <a:p>
            <a:pPr algn="just" eaLnBrk="1" hangingPunct="1"/>
            <a:endParaRPr lang="en-AU" b="1" dirty="0" smtClean="0"/>
          </a:p>
        </p:txBody>
      </p:sp>
    </p:spTree>
    <p:extLst>
      <p:ext uri="{BB962C8B-B14F-4D97-AF65-F5344CB8AC3E}">
        <p14:creationId xmlns:p14="http://schemas.microsoft.com/office/powerpoint/2010/main" val="1425097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69522442-906A-4132-AEE5-6434AAF1D3EA}" type="slidenum">
              <a:rPr lang="en-US">
                <a:latin typeface="Arial" charset="0"/>
              </a:rPr>
              <a:pPr/>
              <a:t>10</a:t>
            </a:fld>
            <a:endParaRPr lang="en-US">
              <a:latin typeface="Arial" charset="0"/>
            </a:endParaRPr>
          </a:p>
        </p:txBody>
      </p:sp>
      <p:sp>
        <p:nvSpPr>
          <p:cNvPr id="43011" name="Rectangle 2"/>
          <p:cNvSpPr>
            <a:spLocks noGrp="1" noRot="1" noChangeAspect="1" noChangeArrowheads="1" noTextEdit="1"/>
          </p:cNvSpPr>
          <p:nvPr>
            <p:ph type="sldImg"/>
          </p:nvPr>
        </p:nvSpPr>
        <p:spPr>
          <a:xfrm>
            <a:off x="1077913" y="865188"/>
            <a:ext cx="4649787" cy="3489325"/>
          </a:xfrm>
          <a:ln/>
        </p:spPr>
      </p:sp>
      <p:sp>
        <p:nvSpPr>
          <p:cNvPr id="4301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Technical definitions for these terms can be found in Part 1.1.1 of NCC Volume Two.</a:t>
            </a:r>
          </a:p>
        </p:txBody>
      </p:sp>
    </p:spTree>
    <p:extLst>
      <p:ext uri="{BB962C8B-B14F-4D97-AF65-F5344CB8AC3E}">
        <p14:creationId xmlns:p14="http://schemas.microsoft.com/office/powerpoint/2010/main" val="2996272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4F28FA26-3F05-46A9-9C71-1971319F8227}" type="slidenum">
              <a:rPr lang="en-US">
                <a:latin typeface="Arial" charset="0"/>
              </a:rPr>
              <a:pPr/>
              <a:t>11</a:t>
            </a:fld>
            <a:endParaRPr lang="en-US">
              <a:latin typeface="Arial" charset="0"/>
            </a:endParaRPr>
          </a:p>
        </p:txBody>
      </p:sp>
      <p:sp>
        <p:nvSpPr>
          <p:cNvPr id="44035" name="Rectangle 2"/>
          <p:cNvSpPr>
            <a:spLocks noGrp="1" noRot="1" noChangeAspect="1" noChangeArrowheads="1" noTextEdit="1"/>
          </p:cNvSpPr>
          <p:nvPr>
            <p:ph type="sldImg"/>
          </p:nvPr>
        </p:nvSpPr>
        <p:spPr>
          <a:xfrm>
            <a:off x="1077913" y="865188"/>
            <a:ext cx="4649787" cy="3489325"/>
          </a:xfrm>
          <a:ln/>
        </p:spPr>
      </p:sp>
      <p:sp>
        <p:nvSpPr>
          <p:cNvPr id="4403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This follows on from the answer from question 2. </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You can see the individual elements R-Values which combine to a Total R-Value.</a:t>
            </a:r>
          </a:p>
        </p:txBody>
      </p:sp>
    </p:spTree>
    <p:extLst>
      <p:ext uri="{BB962C8B-B14F-4D97-AF65-F5344CB8AC3E}">
        <p14:creationId xmlns:p14="http://schemas.microsoft.com/office/powerpoint/2010/main" val="2642996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80636F8-F6EB-4410-9629-A9AC8BF5E633}" type="slidenum">
              <a:rPr lang="en-US">
                <a:latin typeface="Arial" charset="0"/>
              </a:rPr>
              <a:pPr/>
              <a:t>12</a:t>
            </a:fld>
            <a:endParaRPr lang="en-US">
              <a:latin typeface="Arial" charset="0"/>
            </a:endParaRPr>
          </a:p>
        </p:txBody>
      </p:sp>
      <p:sp>
        <p:nvSpPr>
          <p:cNvPr id="45059" name="Rectangle 2"/>
          <p:cNvSpPr>
            <a:spLocks noGrp="1" noRot="1" noChangeAspect="1" noChangeArrowheads="1" noTextEdit="1"/>
          </p:cNvSpPr>
          <p:nvPr>
            <p:ph type="sldImg"/>
          </p:nvPr>
        </p:nvSpPr>
        <p:spPr>
          <a:xfrm>
            <a:off x="1077913" y="865188"/>
            <a:ext cx="4649787" cy="3489325"/>
          </a:xfrm>
          <a:ln/>
        </p:spPr>
      </p:sp>
      <p:sp>
        <p:nvSpPr>
          <p:cNvPr id="4506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endParaRPr lang="en-US" b="0" i="0" u="none"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i="0" u="sng" baseline="0" dirty="0" smtClean="0"/>
              <a:t>Background Notes:</a:t>
            </a:r>
          </a:p>
          <a:p>
            <a:pPr marL="0" lvl="0" indent="0" eaLnBrk="1" hangingPunct="1">
              <a:buFont typeface="Arial" pitchFamily="34" charset="0"/>
              <a:buNone/>
            </a:pPr>
            <a:r>
              <a:rPr lang="en-AU" b="1" dirty="0" smtClean="0"/>
              <a:t>Note: </a:t>
            </a:r>
            <a:r>
              <a:rPr lang="en-AU" b="0" dirty="0" smtClean="0"/>
              <a:t>For</a:t>
            </a:r>
            <a:r>
              <a:rPr lang="en-AU" b="0" baseline="0" dirty="0" smtClean="0"/>
              <a:t> the purpose of 3.12.1.2, a roof also incorporates a ceiling. </a:t>
            </a:r>
            <a:endParaRPr lang="en-US" b="0" i="0" u="none" baseline="0" dirty="0" smtClean="0"/>
          </a:p>
        </p:txBody>
      </p:sp>
    </p:spTree>
    <p:extLst>
      <p:ext uri="{BB962C8B-B14F-4D97-AF65-F5344CB8AC3E}">
        <p14:creationId xmlns:p14="http://schemas.microsoft.com/office/powerpoint/2010/main" val="3898350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27D7609-90F8-44D5-9FE5-4E360DA86DA4}" type="slidenum">
              <a:rPr lang="en-US">
                <a:latin typeface="Arial" charset="0"/>
              </a:rPr>
              <a:pPr/>
              <a:t>13</a:t>
            </a:fld>
            <a:endParaRPr lang="en-US">
              <a:latin typeface="Arial" charset="0"/>
            </a:endParaRPr>
          </a:p>
        </p:txBody>
      </p:sp>
      <p:sp>
        <p:nvSpPr>
          <p:cNvPr id="46083" name="Rectangle 2"/>
          <p:cNvSpPr>
            <a:spLocks noGrp="1" noRot="1" noChangeAspect="1" noChangeArrowheads="1" noTextEdit="1"/>
          </p:cNvSpPr>
          <p:nvPr>
            <p:ph type="sldImg"/>
          </p:nvPr>
        </p:nvSpPr>
        <p:spPr>
          <a:xfrm>
            <a:off x="1077913" y="865188"/>
            <a:ext cx="4649787" cy="3489325"/>
          </a:xfrm>
          <a:ln/>
        </p:spPr>
      </p:sp>
      <p:sp>
        <p:nvSpPr>
          <p:cNvPr id="4608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This answer can be found in Table 3.12.1.1a of NCC Volume Two.</a:t>
            </a:r>
          </a:p>
          <a:p>
            <a:pPr marL="628650" lvl="1" indent="-171450" algn="just" eaLnBrk="1" hangingPunct="1">
              <a:buFont typeface="Arial" pitchFamily="34" charset="0"/>
              <a:buChar cha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algn="just" eaLnBrk="1" hangingPunct="1"/>
            <a:endParaRPr lang="en-AU" i="0" dirty="0" smtClean="0"/>
          </a:p>
          <a:p>
            <a:pPr algn="just" eaLnBrk="1" hangingPunct="1"/>
            <a:r>
              <a:rPr lang="en-AU" b="1" i="0" u="sng" dirty="0" smtClean="0"/>
              <a:t>Background Notes:</a:t>
            </a:r>
          </a:p>
          <a:p>
            <a:pPr algn="just" eaLnBrk="1" hangingPunct="1"/>
            <a:r>
              <a:rPr lang="en-AU" i="0" dirty="0" smtClean="0"/>
              <a:t>Note the direction in which the R-Value is to be measured (i.e. downwards).  This direction relates to the predominant direction of heat flow for the particular climate zone.  In this case, because climate zone 1 is a hot climate it is important to reduce summertime heat gain through the roof  and hence, slow down the passage of heat in the downward direction through the roof.</a:t>
            </a:r>
            <a:r>
              <a:rPr lang="en-AU" i="0" baseline="0" dirty="0" smtClean="0"/>
              <a:t>  In a cooler climate zone (</a:t>
            </a:r>
            <a:r>
              <a:rPr lang="en-AU" i="0" baseline="0" dirty="0" err="1" smtClean="0"/>
              <a:t>ie</a:t>
            </a:r>
            <a:r>
              <a:rPr lang="en-AU" i="0" baseline="0" dirty="0" smtClean="0"/>
              <a:t> climate zone 7) it is important to </a:t>
            </a:r>
            <a:r>
              <a:rPr lang="en-AU" i="0" dirty="0" smtClean="0"/>
              <a:t>be able to retain heat in winter and hence slow down the passage of heat in the upward direction through the roof.  </a:t>
            </a:r>
          </a:p>
        </p:txBody>
      </p:sp>
    </p:spTree>
    <p:extLst>
      <p:ext uri="{BB962C8B-B14F-4D97-AF65-F5344CB8AC3E}">
        <p14:creationId xmlns:p14="http://schemas.microsoft.com/office/powerpoint/2010/main" val="2007102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9B0145AB-B9FA-4CFD-B56E-6F02A154241F}" type="slidenum">
              <a:rPr lang="en-US">
                <a:latin typeface="Arial" charset="0"/>
              </a:rPr>
              <a:pPr/>
              <a:t>14</a:t>
            </a:fld>
            <a:endParaRPr lang="en-US">
              <a:latin typeface="Arial" charset="0"/>
            </a:endParaRPr>
          </a:p>
        </p:txBody>
      </p:sp>
      <p:sp>
        <p:nvSpPr>
          <p:cNvPr id="47107" name="Rectangle 2"/>
          <p:cNvSpPr>
            <a:spLocks noGrp="1" noRot="1" noChangeAspect="1" noChangeArrowheads="1" noTextEdit="1"/>
          </p:cNvSpPr>
          <p:nvPr>
            <p:ph type="sldImg"/>
          </p:nvPr>
        </p:nvSpPr>
        <p:spPr>
          <a:xfrm>
            <a:off x="1077913" y="865188"/>
            <a:ext cx="4649787" cy="3489325"/>
          </a:xfrm>
          <a:ln/>
        </p:spPr>
      </p:sp>
      <p:sp>
        <p:nvSpPr>
          <p:cNvPr id="4710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These values can be found in Part 3.12.1.2(b) and Table 3.12.1.1a of NCC Volume Two.</a:t>
            </a:r>
          </a:p>
          <a:p>
            <a:pPr marL="628650" lvl="1" indent="-171450" algn="just" eaLnBrk="1" hangingPunct="1">
              <a:buFont typeface="Arial" pitchFamily="34" charset="0"/>
              <a:buChar cha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i="0" dirty="0" smtClean="0"/>
              <a:t>Note that there are three grades of roof colour and bare galvanising is 0.55 solar </a:t>
            </a:r>
            <a:r>
              <a:rPr lang="en-AU" i="0" dirty="0" err="1" smtClean="0"/>
              <a:t>absorptance</a:t>
            </a:r>
            <a:r>
              <a:rPr lang="en-AU" i="0" dirty="0" smtClean="0"/>
              <a:t>.  The Explanatory Information in Volume Two provides guidance as to the solar </a:t>
            </a:r>
            <a:r>
              <a:rPr lang="en-AU" i="0" dirty="0" err="1" smtClean="0"/>
              <a:t>absorptance</a:t>
            </a:r>
            <a:r>
              <a:rPr lang="en-AU" i="0" dirty="0" smtClean="0"/>
              <a:t> of colours.</a:t>
            </a:r>
            <a:r>
              <a:rPr lang="en-AU" i="0" baseline="0" dirty="0" smtClean="0"/>
              <a:t> </a:t>
            </a:r>
            <a:r>
              <a:rPr lang="en-AU" i="0" dirty="0" smtClean="0"/>
              <a:t>Note also that for a roof to be considered ventilated, there is specific criteria detailed in Volume Two, i.e. the minimum number, size and location of vents or ventilators is prescribed.</a:t>
            </a:r>
          </a:p>
        </p:txBody>
      </p:sp>
    </p:spTree>
    <p:extLst>
      <p:ext uri="{BB962C8B-B14F-4D97-AF65-F5344CB8AC3E}">
        <p14:creationId xmlns:p14="http://schemas.microsoft.com/office/powerpoint/2010/main" val="1111742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05634518-5593-41A6-A3E8-926E833ABF4B}" type="slidenum">
              <a:rPr lang="en-US">
                <a:latin typeface="Arial" charset="0"/>
              </a:rPr>
              <a:pPr/>
              <a:t>15</a:t>
            </a:fld>
            <a:endParaRPr lang="en-US">
              <a:latin typeface="Arial" charset="0"/>
            </a:endParaRPr>
          </a:p>
        </p:txBody>
      </p:sp>
      <p:sp>
        <p:nvSpPr>
          <p:cNvPr id="48131" name="Rectangle 2"/>
          <p:cNvSpPr>
            <a:spLocks noGrp="1" noRot="1" noChangeAspect="1" noChangeArrowheads="1" noTextEdit="1"/>
          </p:cNvSpPr>
          <p:nvPr>
            <p:ph type="sldImg"/>
          </p:nvPr>
        </p:nvSpPr>
        <p:spPr>
          <a:xfrm>
            <a:off x="1077913" y="865188"/>
            <a:ext cx="4649787" cy="3489325"/>
          </a:xfrm>
          <a:ln/>
        </p:spPr>
      </p:sp>
      <p:sp>
        <p:nvSpPr>
          <p:cNvPr id="4813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These numbers can be found in Figure 3.12.1.1(d) of NCC Volume Two.</a:t>
            </a:r>
          </a:p>
          <a:p>
            <a:pPr marL="628650" lvl="1" indent="-171450" algn="just" eaLnBrk="1" hangingPunct="1">
              <a:buFont typeface="Arial" pitchFamily="34" charset="0"/>
              <a:buChar char="•"/>
            </a:pPr>
            <a:r>
              <a:rPr lang="en-AU" dirty="0" smtClean="0"/>
              <a:t>Note the</a:t>
            </a:r>
            <a:r>
              <a:rPr lang="en-AU" baseline="0" dirty="0" smtClean="0"/>
              <a:t> reference to the direction of heat flow for different climate zones (</a:t>
            </a:r>
            <a:r>
              <a:rPr lang="en-AU" baseline="0" dirty="0" err="1" smtClean="0"/>
              <a:t>ie</a:t>
            </a:r>
            <a:r>
              <a:rPr lang="en-AU" baseline="0" dirty="0" smtClean="0"/>
              <a:t> upwards/downwards) which can be found in </a:t>
            </a:r>
            <a:r>
              <a:rPr lang="en-AU" b="0" baseline="0" dirty="0" smtClean="0"/>
              <a:t>Table 3.12.1.1a of NCC Volume Two.</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marL="628650" lvl="1" indent="-171450" algn="just" eaLnBrk="1" hangingPunct="1">
              <a:buFont typeface="Arial" pitchFamily="34" charset="0"/>
              <a:buChar char="•"/>
            </a:pPr>
            <a:endParaRPr lang="en-AU" b="1" dirty="0" smtClean="0"/>
          </a:p>
        </p:txBody>
      </p:sp>
    </p:spTree>
    <p:extLst>
      <p:ext uri="{BB962C8B-B14F-4D97-AF65-F5344CB8AC3E}">
        <p14:creationId xmlns:p14="http://schemas.microsoft.com/office/powerpoint/2010/main" val="247683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F7D37C4E-1F77-4E27-A250-A558A49FA2C4}" type="slidenum">
              <a:rPr lang="en-US">
                <a:latin typeface="Arial" charset="0"/>
              </a:rPr>
              <a:pPr/>
              <a:t>16</a:t>
            </a:fld>
            <a:endParaRPr lang="en-US">
              <a:latin typeface="Arial" charset="0"/>
            </a:endParaRPr>
          </a:p>
        </p:txBody>
      </p:sp>
      <p:sp>
        <p:nvSpPr>
          <p:cNvPr id="49155" name="Rectangle 2"/>
          <p:cNvSpPr>
            <a:spLocks noGrp="1" noRot="1" noChangeAspect="1" noChangeArrowheads="1" noTextEdit="1"/>
          </p:cNvSpPr>
          <p:nvPr>
            <p:ph type="sldImg"/>
          </p:nvPr>
        </p:nvSpPr>
        <p:spPr>
          <a:xfrm>
            <a:off x="1077913" y="865188"/>
            <a:ext cx="4649787" cy="3489325"/>
          </a:xfrm>
          <a:ln/>
        </p:spPr>
      </p:sp>
      <p:sp>
        <p:nvSpPr>
          <p:cNvPr id="4915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US" b="0" i="0" u="none" baseline="0" dirty="0" smtClean="0"/>
          </a:p>
          <a:p>
            <a:pPr marL="457200" marR="0" lvl="1" indent="0" algn="just" defTabSz="914400" rtl="0" eaLnBrk="1" fontAlgn="auto" latinLnBrk="0" hangingPunct="1">
              <a:lnSpc>
                <a:spcPct val="100000"/>
              </a:lnSpc>
              <a:spcBef>
                <a:spcPts val="0"/>
              </a:spcBef>
              <a:spcAft>
                <a:spcPts val="0"/>
              </a:spcAft>
              <a:buClrTx/>
              <a:buSzTx/>
              <a:buFont typeface="Arial" pitchFamily="34" charset="0"/>
              <a:buNone/>
              <a:tabLst/>
              <a:defRPr/>
            </a:pP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AU" b="1" i="0" u="sng" dirty="0" smtClean="0"/>
              <a:t>Background Notes:</a:t>
            </a: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Answer can be found by using Table 3.12.1.1a, associated explanatory information and Figure 3.12.1.1(c) in NCC Volume Two.</a:t>
            </a:r>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The solar </a:t>
            </a:r>
            <a:r>
              <a:rPr lang="en-US" b="0" i="0" u="none" baseline="0" dirty="0" err="1" smtClean="0"/>
              <a:t>absorptance</a:t>
            </a:r>
            <a:r>
              <a:rPr lang="en-US" b="0" i="0" u="none" baseline="0" dirty="0" smtClean="0"/>
              <a:t> is assumed to be greater than 0.6 (for a dark roof).</a:t>
            </a:r>
            <a:endParaRPr lang="en-AU" b="1" i="0" u="sng" dirty="0" smtClean="0"/>
          </a:p>
        </p:txBody>
      </p:sp>
    </p:spTree>
    <p:extLst>
      <p:ext uri="{BB962C8B-B14F-4D97-AF65-F5344CB8AC3E}">
        <p14:creationId xmlns:p14="http://schemas.microsoft.com/office/powerpoint/2010/main" val="620165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29213C1-F46D-41DB-B070-57E72CDD2F5D}" type="slidenum">
              <a:rPr lang="en-US">
                <a:latin typeface="Arial" charset="0"/>
              </a:rPr>
              <a:pPr/>
              <a:t>17</a:t>
            </a:fld>
            <a:endParaRPr lang="en-US">
              <a:latin typeface="Arial" charset="0"/>
            </a:endParaRPr>
          </a:p>
        </p:txBody>
      </p:sp>
      <p:sp>
        <p:nvSpPr>
          <p:cNvPr id="50179" name="Rectangle 2"/>
          <p:cNvSpPr>
            <a:spLocks noGrp="1" noRot="1" noChangeAspect="1" noChangeArrowheads="1" noTextEdit="1"/>
          </p:cNvSpPr>
          <p:nvPr>
            <p:ph type="sldImg"/>
          </p:nvPr>
        </p:nvSpPr>
        <p:spPr>
          <a:xfrm>
            <a:off x="1077913" y="865188"/>
            <a:ext cx="4649787" cy="3489325"/>
          </a:xfrm>
          <a:ln/>
        </p:spPr>
      </p:sp>
      <p:sp>
        <p:nvSpPr>
          <p:cNvPr id="5018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i="0" dirty="0" smtClean="0"/>
              <a:t>Note that the required insulation is placed on the ceiling and the roof space is ventilated.</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Note: where</a:t>
            </a:r>
            <a:r>
              <a:rPr lang="en-AU" i="0" baseline="0" dirty="0" smtClean="0"/>
              <a:t> there are penetrations in the ceiling insulation, the lost insulation must be adjusted for using 3.12.1.1(e) of NCC Volume Two.</a:t>
            </a:r>
            <a:endParaRPr lang="en-AU" i="0" dirty="0" smtClean="0"/>
          </a:p>
          <a:p>
            <a:pPr marL="628650" lvl="1" indent="-171450" algn="just" eaLnBrk="1" hangingPunct="1">
              <a:buFont typeface="Arial" pitchFamily="34" charset="0"/>
              <a:buChar char="•"/>
            </a:pPr>
            <a:endParaRPr lang="en-AU" i="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AU" b="1" i="0" u="sng" dirty="0" smtClean="0"/>
              <a:t>Background Notes:</a:t>
            </a:r>
            <a:endParaRPr lang="en-US" b="0" i="0" u="none" baseline="0" dirty="0" smtClean="0"/>
          </a:p>
          <a:p>
            <a:pPr marL="0" marR="0" lvl="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b="0" i="0" u="none" baseline="0" dirty="0" smtClean="0"/>
              <a:t>Answer can be found by using Table 3.12.1.1a and Figure 3.12.1.1(d) of NCC Volume Two.</a:t>
            </a:r>
            <a:endParaRPr lang="en-AU" b="1" i="0" u="sng" dirty="0" smtClean="0"/>
          </a:p>
          <a:p>
            <a:pPr marL="171450" lvl="0" indent="-171450" algn="just" eaLnBrk="1" hangingPunct="1">
              <a:buFont typeface="Arial" pitchFamily="34" charset="0"/>
              <a:buChar char="•"/>
            </a:pPr>
            <a:endParaRPr lang="en-AU" i="0" dirty="0" smtClean="0"/>
          </a:p>
        </p:txBody>
      </p:sp>
    </p:spTree>
    <p:extLst>
      <p:ext uri="{BB962C8B-B14F-4D97-AF65-F5344CB8AC3E}">
        <p14:creationId xmlns:p14="http://schemas.microsoft.com/office/powerpoint/2010/main" val="808071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46EFCC8-9889-4C22-B059-81F71C480255}" type="slidenum">
              <a:rPr lang="en-US">
                <a:latin typeface="Arial" charset="0"/>
              </a:rPr>
              <a:pPr/>
              <a:t>18</a:t>
            </a:fld>
            <a:endParaRPr lang="en-US">
              <a:latin typeface="Arial" charset="0"/>
            </a:endParaRPr>
          </a:p>
        </p:txBody>
      </p:sp>
      <p:sp>
        <p:nvSpPr>
          <p:cNvPr id="51203" name="Rectangle 2"/>
          <p:cNvSpPr>
            <a:spLocks noGrp="1" noRot="1" noChangeAspect="1" noChangeArrowheads="1" noTextEdit="1"/>
          </p:cNvSpPr>
          <p:nvPr>
            <p:ph type="sldImg"/>
          </p:nvPr>
        </p:nvSpPr>
        <p:spPr>
          <a:xfrm>
            <a:off x="1077913" y="865188"/>
            <a:ext cx="4649787" cy="3489325"/>
          </a:xfrm>
          <a:ln/>
        </p:spPr>
      </p:sp>
      <p:sp>
        <p:nvSpPr>
          <p:cNvPr id="5120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i="0" dirty="0" smtClean="0"/>
              <a:t>It is important to check the labelling of insulation.  In the first instance, it is important that the R-Value attributed to the insulation has been determined in accordance with AS/NZS 4859.1.  In the second instance, it is important to ensure that the insulation achieves the required R-Value in the required direction.</a:t>
            </a:r>
          </a:p>
          <a:p>
            <a:pPr algn="just" eaLnBrk="1" hangingPunct="1"/>
            <a:endParaRPr lang="en-AU" i="0" dirty="0" smtClean="0"/>
          </a:p>
          <a:p>
            <a:pPr algn="just" eaLnBrk="1" hangingPunct="1"/>
            <a:r>
              <a:rPr lang="en-AU" i="0" dirty="0" smtClean="0"/>
              <a:t>Note – if the required minimum added R-Value cannot be achieved with one product, two types of insulation can be used and their R-Values combined to achieve the required value.  For example, bulk insulation can be installed above the ceiling and reflective insulation installed below the roof in order to achieve the required minimum added R-Value. Consideration should also be made</a:t>
            </a:r>
            <a:r>
              <a:rPr lang="en-AU" i="0" baseline="0" dirty="0" smtClean="0"/>
              <a:t> to the weight of the insulation on a ceiling and condensation issues. </a:t>
            </a:r>
            <a:endParaRPr lang="en-AU" i="0" dirty="0" smtClean="0"/>
          </a:p>
        </p:txBody>
      </p:sp>
    </p:spTree>
    <p:extLst>
      <p:ext uri="{BB962C8B-B14F-4D97-AF65-F5344CB8AC3E}">
        <p14:creationId xmlns:p14="http://schemas.microsoft.com/office/powerpoint/2010/main" val="435436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43C5B06B-67F0-47DD-9838-E8FCAE954B95}" type="slidenum">
              <a:rPr lang="en-US">
                <a:latin typeface="Arial" charset="0"/>
              </a:rPr>
              <a:pPr/>
              <a:t>19</a:t>
            </a:fld>
            <a:endParaRPr lang="en-US">
              <a:latin typeface="Arial" charset="0"/>
            </a:endParaRPr>
          </a:p>
        </p:txBody>
      </p:sp>
      <p:sp>
        <p:nvSpPr>
          <p:cNvPr id="52227" name="Rectangle 2"/>
          <p:cNvSpPr>
            <a:spLocks noGrp="1" noRot="1" noChangeAspect="1" noChangeArrowheads="1" noTextEdit="1"/>
          </p:cNvSpPr>
          <p:nvPr>
            <p:ph type="sldImg"/>
          </p:nvPr>
        </p:nvSpPr>
        <p:spPr>
          <a:xfrm>
            <a:off x="1077913" y="865188"/>
            <a:ext cx="4649787" cy="3489325"/>
          </a:xfrm>
          <a:ln/>
        </p:spPr>
      </p:sp>
      <p:sp>
        <p:nvSpPr>
          <p:cNvPr id="5222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i="0" dirty="0" smtClean="0"/>
              <a:t>More detail on these requirements can be found in Part 3.12.1.1 of NCC Volume Two.</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b="1" i="0" dirty="0" smtClean="0"/>
              <a:t>Note: </a:t>
            </a:r>
            <a:r>
              <a:rPr lang="en-AU" b="0" i="0" dirty="0" smtClean="0"/>
              <a:t>I</a:t>
            </a:r>
            <a:r>
              <a:rPr lang="en-AU" i="0" dirty="0" smtClean="0"/>
              <a:t>t is critical that bulk insulation maintains its position and thickness if it is to perform as intended.  Compressing bulk insulation reduces its R-Value.</a:t>
            </a:r>
          </a:p>
        </p:txBody>
      </p:sp>
    </p:spTree>
    <p:extLst>
      <p:ext uri="{BB962C8B-B14F-4D97-AF65-F5344CB8AC3E}">
        <p14:creationId xmlns:p14="http://schemas.microsoft.com/office/powerpoint/2010/main" val="3923168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DF04BAF-EEA7-42EE-B2CB-D36F91043831}" type="slidenum">
              <a:rPr lang="en-US">
                <a:latin typeface="Arial" charset="0"/>
              </a:rPr>
              <a:pPr/>
              <a:t>20</a:t>
            </a:fld>
            <a:endParaRPr lang="en-US">
              <a:latin typeface="Arial" charset="0"/>
            </a:endParaRPr>
          </a:p>
        </p:txBody>
      </p:sp>
      <p:sp>
        <p:nvSpPr>
          <p:cNvPr id="53251" name="Rectangle 2"/>
          <p:cNvSpPr>
            <a:spLocks noGrp="1" noRot="1" noChangeAspect="1" noChangeArrowheads="1" noTextEdit="1"/>
          </p:cNvSpPr>
          <p:nvPr>
            <p:ph type="sldImg"/>
          </p:nvPr>
        </p:nvSpPr>
        <p:spPr>
          <a:xfrm>
            <a:off x="1077913" y="865188"/>
            <a:ext cx="4649787" cy="3489325"/>
          </a:xfrm>
          <a:ln/>
        </p:spPr>
      </p:sp>
      <p:sp>
        <p:nvSpPr>
          <p:cNvPr id="5325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1</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0" marR="0" indent="0" algn="just" defTabSz="914400" rtl="0" eaLnBrk="1" fontAlgn="auto" latinLnBrk="0" hangingPunct="1">
              <a:lnSpc>
                <a:spcPct val="100000"/>
              </a:lnSpc>
              <a:spcBef>
                <a:spcPts val="0"/>
              </a:spcBef>
              <a:spcAft>
                <a:spcPts val="0"/>
              </a:spcAft>
              <a:buClrTx/>
              <a:buSzTx/>
              <a:buFontTx/>
              <a:buNone/>
              <a:tabLst/>
              <a:defRPr/>
            </a:pPr>
            <a:endParaRPr lang="en-AU" b="1" i="0" u="sng"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b="1" i="0" dirty="0" smtClean="0"/>
              <a:t>Note:</a:t>
            </a:r>
            <a:r>
              <a:rPr lang="en-AU" i="0" dirty="0" smtClean="0"/>
              <a:t> The R-Value achieved with reflective insulation is dependent upon the adjoining airspace.</a:t>
            </a:r>
            <a:r>
              <a:rPr lang="en-AU" i="0" baseline="0" dirty="0" smtClean="0"/>
              <a:t> </a:t>
            </a:r>
            <a:r>
              <a:rPr lang="en-AU" i="0" dirty="0" smtClean="0"/>
              <a:t>Installers should refer to the manufacturers instructions to ensure that the correct airspace is achieved.</a:t>
            </a:r>
          </a:p>
        </p:txBody>
      </p:sp>
    </p:spTree>
    <p:extLst>
      <p:ext uri="{BB962C8B-B14F-4D97-AF65-F5344CB8AC3E}">
        <p14:creationId xmlns:p14="http://schemas.microsoft.com/office/powerpoint/2010/main" val="2823995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Worked Example</a:t>
            </a:r>
          </a:p>
          <a:p>
            <a:endParaRPr lang="en-US" b="1" i="0" u="sng" baseline="0" dirty="0" smtClean="0"/>
          </a:p>
          <a:p>
            <a:r>
              <a:rPr lang="en-US" b="1" i="0" u="sng" baseline="0" dirty="0" smtClean="0"/>
              <a:t>Quick Points:</a:t>
            </a:r>
          </a:p>
          <a:p>
            <a:pPr marL="628650" lvl="1" indent="-171450">
              <a:buFont typeface="Arial"/>
              <a:buChar char="•"/>
            </a:pPr>
            <a:r>
              <a:rPr lang="en-US" b="0" i="0" u="none" baseline="0" dirty="0" smtClean="0"/>
              <a:t>Lets consider the requirements of a standard roof design.</a:t>
            </a:r>
          </a:p>
          <a:p>
            <a:pPr marL="628650" lvl="1" indent="-171450">
              <a:buFont typeface="Arial"/>
              <a:buChar char="•"/>
            </a:pPr>
            <a:r>
              <a:rPr lang="en-US" b="0" i="0" u="none" baseline="0" dirty="0" smtClean="0"/>
              <a:t>For example:	</a:t>
            </a:r>
          </a:p>
          <a:p>
            <a:pPr marL="1085850" lvl="2" indent="-171450">
              <a:buFont typeface="Arial" panose="020B0604020202020204" pitchFamily="34" charset="0"/>
              <a:buChar char="•"/>
            </a:pPr>
            <a:r>
              <a:rPr lang="en-US" dirty="0" smtClean="0"/>
              <a:t>Minimum require Total R-Value for the roof.</a:t>
            </a:r>
          </a:p>
          <a:p>
            <a:pPr marL="1085850" lvl="2" indent="-171450">
              <a:buFont typeface="Arial" panose="020B0604020202020204" pitchFamily="34" charset="0"/>
              <a:buChar char="•"/>
            </a:pPr>
            <a:r>
              <a:rPr lang="en-US" dirty="0" smtClean="0"/>
              <a:t>The</a:t>
            </a:r>
            <a:r>
              <a:rPr lang="en-US" baseline="0" dirty="0" smtClean="0"/>
              <a:t> </a:t>
            </a:r>
            <a:r>
              <a:rPr lang="en-US" dirty="0" smtClean="0"/>
              <a:t>R-Value of the </a:t>
            </a:r>
            <a:r>
              <a:rPr lang="en-US" baseline="0" dirty="0" smtClean="0"/>
              <a:t>u</a:t>
            </a:r>
            <a:r>
              <a:rPr lang="en-US" dirty="0" smtClean="0"/>
              <a:t>ninsulated roof construction (i.e. the thermal performance of the construction components).</a:t>
            </a:r>
          </a:p>
          <a:p>
            <a:pPr marL="1085850" lvl="2" indent="-171450">
              <a:buFont typeface="Arial" panose="020B0604020202020204" pitchFamily="34" charset="0"/>
              <a:buChar char="•"/>
            </a:pPr>
            <a:r>
              <a:rPr lang="en-US" dirty="0" smtClean="0"/>
              <a:t>The adjusted</a:t>
            </a:r>
            <a:r>
              <a:rPr lang="en-US" baseline="0" dirty="0" smtClean="0"/>
              <a:t> minimum R-Value for loss of ceiling insulation.</a:t>
            </a:r>
            <a:endParaRPr lang="en-US" dirty="0" smtClean="0"/>
          </a:p>
          <a:p>
            <a:pPr marL="628650" lvl="1" indent="-171450">
              <a:buFont typeface="Arial"/>
              <a:buChar char="•"/>
            </a:pPr>
            <a:endParaRPr lang="en-US" b="0" i="0" u="none"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21</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Simple Checklist</a:t>
            </a:r>
          </a:p>
          <a:p>
            <a:endParaRPr lang="en-US" b="1" i="0" u="sng" baseline="0" dirty="0" smtClean="0"/>
          </a:p>
          <a:p>
            <a:r>
              <a:rPr lang="en-US" b="1" i="0" u="sng" baseline="0" dirty="0" smtClean="0"/>
              <a:t>Quick Points:</a:t>
            </a:r>
          </a:p>
          <a:p>
            <a:pPr marL="6286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u="none" baseline="0" dirty="0" smtClean="0"/>
              <a:t>Read the slide.</a:t>
            </a:r>
          </a:p>
          <a:p>
            <a:pPr marL="628650" lvl="1" indent="-171450">
              <a:buFont typeface="Arial"/>
              <a:buChar char="•"/>
            </a:pPr>
            <a:r>
              <a:rPr lang="en-US" b="0" i="0" u="none" baseline="0" dirty="0" smtClean="0"/>
              <a:t>You can use the check list to assist you.</a:t>
            </a:r>
          </a:p>
          <a:p>
            <a:endParaRPr lang="en-US" b="1" i="0" u="sng" baseline="0" dirty="0" smtClean="0"/>
          </a:p>
          <a:p>
            <a:endParaRPr lang="en-US" b="1" u="none"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22</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1" i="0" u="none" baseline="0" dirty="0" smtClean="0"/>
              <a:t>Group Activity</a:t>
            </a:r>
          </a:p>
          <a:p>
            <a:endParaRPr lang="en-US" b="1" i="0" u="sng" baseline="0" dirty="0" smtClean="0"/>
          </a:p>
          <a:p>
            <a:r>
              <a:rPr lang="en-US" b="1" i="0" u="sng" baseline="0" dirty="0" smtClean="0"/>
              <a:t>Quick Points:</a:t>
            </a:r>
          </a:p>
          <a:p>
            <a:pPr marL="628650" lvl="1" indent="-171450">
              <a:buFont typeface="Arial"/>
              <a:buChar char="•"/>
            </a:pPr>
            <a:r>
              <a:rPr lang="en-US" b="0" i="0" u="none" baseline="0" dirty="0" smtClean="0"/>
              <a:t>Key statistics include the following:</a:t>
            </a:r>
          </a:p>
          <a:p>
            <a:pPr marL="1085850" lvl="2" indent="-171450">
              <a:buFont typeface="Arial"/>
              <a:buChar char="•"/>
            </a:pPr>
            <a:r>
              <a:rPr lang="en-AU" b="0" i="0" u="none" baseline="0" dirty="0" smtClean="0"/>
              <a:t>Climate Zone 3.</a:t>
            </a:r>
          </a:p>
          <a:p>
            <a:pPr marL="1085850" lvl="2" indent="-171450">
              <a:buFont typeface="Arial"/>
              <a:buChar char="•"/>
            </a:pPr>
            <a:r>
              <a:rPr lang="en-AU" b="0" i="0" u="none" baseline="0" dirty="0" smtClean="0"/>
              <a:t>Direction of heat flow downward and upwards (</a:t>
            </a:r>
            <a:r>
              <a:rPr lang="en-AU" b="1" i="0" u="none" baseline="0" dirty="0" smtClean="0"/>
              <a:t>Table 3.12.1.1a</a:t>
            </a:r>
            <a:r>
              <a:rPr lang="en-AU" b="0" i="0" u="none" baseline="0" dirty="0" smtClean="0"/>
              <a:t>)</a:t>
            </a:r>
          </a:p>
          <a:p>
            <a:pPr marL="1085850" lvl="2" indent="-171450">
              <a:buFont typeface="Arial"/>
              <a:buChar char="•"/>
            </a:pPr>
            <a:r>
              <a:rPr lang="en-AU" b="0" i="0" u="none" baseline="0" dirty="0" smtClean="0"/>
              <a:t>Red roof – Solar </a:t>
            </a:r>
            <a:r>
              <a:rPr lang="en-AU" b="0" i="0" u="none" baseline="0" dirty="0" err="1" smtClean="0"/>
              <a:t>absorptance</a:t>
            </a:r>
            <a:r>
              <a:rPr lang="en-AU" b="0" i="0" u="none" baseline="0" dirty="0" smtClean="0"/>
              <a:t> 0.75.</a:t>
            </a:r>
          </a:p>
          <a:p>
            <a:pPr marL="1085850" lvl="2" indent="-171450">
              <a:buFont typeface="Arial"/>
              <a:buChar char="•"/>
            </a:pPr>
            <a:r>
              <a:rPr lang="en-AU" b="0" i="0" u="none" baseline="0" dirty="0" smtClean="0"/>
              <a:t>Non-Ventilated metal roof.</a:t>
            </a:r>
          </a:p>
          <a:p>
            <a:pPr marL="1085850" lvl="2" indent="-171450">
              <a:buFont typeface="Arial"/>
              <a:buChar char="•"/>
            </a:pPr>
            <a:r>
              <a:rPr lang="en-AU" b="0" i="0" u="none" baseline="0" dirty="0" smtClean="0"/>
              <a:t>1 service opening in insulation = 1 m².</a:t>
            </a:r>
          </a:p>
          <a:p>
            <a:pPr marL="1085850" lvl="2" indent="-171450">
              <a:buFont typeface="Arial"/>
              <a:buChar char="•"/>
            </a:pPr>
            <a:r>
              <a:rPr lang="en-AU" b="0" i="0" u="none" baseline="0" dirty="0" smtClean="0"/>
              <a:t>11 lighting openings in insulation at minimum clearance for halogen lamp.</a:t>
            </a:r>
          </a:p>
          <a:p>
            <a:pPr marL="1085850" lvl="2" indent="-171450">
              <a:buFont typeface="Arial"/>
              <a:buChar char="•"/>
            </a:pPr>
            <a:r>
              <a:rPr lang="en-AU" b="0" i="0" u="none" baseline="0" dirty="0" smtClean="0"/>
              <a:t>Assume each light is 100 mm in diameter</a:t>
            </a:r>
          </a:p>
          <a:p>
            <a:pPr marL="1085850" lvl="2" indent="-171450">
              <a:buFont typeface="Arial"/>
              <a:buChar char="•"/>
            </a:pPr>
            <a:r>
              <a:rPr lang="en-AU" b="0" i="0" u="none" baseline="0" dirty="0" smtClean="0"/>
              <a:t>Floor area = 100m</a:t>
            </a:r>
            <a:r>
              <a:rPr lang="en-AU" b="0" i="0" u="none" baseline="30000" dirty="0" smtClean="0"/>
              <a:t>2</a:t>
            </a:r>
          </a:p>
          <a:p>
            <a:pPr marL="628650" lvl="1" indent="-171450">
              <a:buFont typeface="Arial"/>
              <a:buChar char="•"/>
            </a:pPr>
            <a:endParaRPr lang="en-US" b="0" i="0" u="none" baseline="0" dirty="0" smtClean="0"/>
          </a:p>
          <a:p>
            <a:r>
              <a:rPr lang="en-US" b="1" i="0" u="sng" baseline="0" dirty="0" smtClean="0"/>
              <a:t>Background Notes:</a:t>
            </a:r>
          </a:p>
          <a:p>
            <a:pPr marL="0" marR="0" lvl="2" indent="0" algn="l" defTabSz="914400" rtl="0" eaLnBrk="1" fontAlgn="auto" latinLnBrk="0" hangingPunct="1">
              <a:lnSpc>
                <a:spcPct val="100000"/>
              </a:lnSpc>
              <a:spcBef>
                <a:spcPts val="0"/>
              </a:spcBef>
              <a:spcAft>
                <a:spcPts val="0"/>
              </a:spcAft>
              <a:buClrTx/>
              <a:buSzTx/>
              <a:buFontTx/>
              <a:buNone/>
              <a:tabLst/>
              <a:defRPr/>
            </a:pPr>
            <a:r>
              <a:rPr lang="en-AU" b="0" i="0" u="none" baseline="0" dirty="0" smtClean="0"/>
              <a:t>In reality a standard down light will not be 100 mm in diameter, however for the purpose of the this exercise the 100 mm will assist in calculating the requirements.</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AU" b="0" i="0" u="none" baseline="0" dirty="0" smtClean="0"/>
          </a:p>
          <a:p>
            <a:r>
              <a:rPr lang="en-US" b="0" u="none" baseline="0" dirty="0" smtClean="0"/>
              <a:t>Direction of heat flow – for climate zone 3, both downward and upward direction of heat flow needs to be considered. The combined downward and upwards requirement means that summer and winter (heating and cooling) have a roughly similar level of impact on an annual basis, while an upward flow indicates that heat loss from the building during winter is a major concern.</a:t>
            </a:r>
          </a:p>
          <a:p>
            <a:r>
              <a:rPr lang="en-US" b="0" u="none" baseline="0" dirty="0" smtClean="0"/>
              <a:t>For the purpose of the group activity concentrate on the upwards heat flow, as this is the more stringent requirement. Therefore if the upward heat flow requirements are met, the downward heat flow requirements will also be achieved.</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AU" b="0" i="0" u="none"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23</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Group Activity NCC &amp; Standards</a:t>
            </a:r>
          </a:p>
          <a:p>
            <a:endParaRPr lang="en-US" b="1" i="0" u="sng" baseline="0" dirty="0" smtClean="0"/>
          </a:p>
          <a:p>
            <a:r>
              <a:rPr lang="en-US" b="1" i="0" u="sng" baseline="0" dirty="0" smtClean="0"/>
              <a:t>Quick Points:</a:t>
            </a:r>
          </a:p>
          <a:p>
            <a:pPr marL="628650" lvl="1" indent="-171450">
              <a:buFont typeface="Arial" pitchFamily="34" charset="0"/>
              <a:buChar char="•"/>
            </a:pPr>
            <a:r>
              <a:rPr lang="en-US" b="0" i="0" u="none" baseline="0" dirty="0" smtClean="0"/>
              <a:t>The relevant tables and figures in 3.12.1.2 of NCC Volume Two for this group activity include:	</a:t>
            </a:r>
          </a:p>
          <a:p>
            <a:pPr marL="1085850" lvl="2" indent="-171450">
              <a:buFont typeface="Arial" pitchFamily="34" charset="0"/>
              <a:buChar char="•"/>
            </a:pPr>
            <a:r>
              <a:rPr lang="en-US" b="0" i="0" u="none" baseline="0" dirty="0" smtClean="0"/>
              <a:t>The Minimum Total R-Value Table – Table </a:t>
            </a:r>
            <a:r>
              <a:rPr lang="en-US" b="0" i="0" u="none" baseline="0" smtClean="0"/>
              <a:t>3.12.1.1a </a:t>
            </a:r>
          </a:p>
          <a:p>
            <a:pPr marL="1085850" lvl="2" indent="-171450">
              <a:buFont typeface="Arial" pitchFamily="34" charset="0"/>
              <a:buChar char="•"/>
            </a:pPr>
            <a:r>
              <a:rPr lang="en-US" b="0" i="0" u="none" baseline="0" smtClean="0"/>
              <a:t>The </a:t>
            </a:r>
            <a:r>
              <a:rPr lang="en-US" b="0" i="0" u="none" baseline="0" dirty="0" smtClean="0"/>
              <a:t>Compensation of Insulation Table – Table 3.12.1.1b</a:t>
            </a:r>
          </a:p>
          <a:p>
            <a:pPr marL="1085850" lvl="2" indent="-171450">
              <a:buFont typeface="Arial" pitchFamily="34" charset="0"/>
              <a:buChar char="•"/>
            </a:pPr>
            <a:r>
              <a:rPr lang="en-US" b="0" i="0" u="none" baseline="0" dirty="0" smtClean="0"/>
              <a:t>Typical Construction Figure – Figure 3.12.1.1  and</a:t>
            </a:r>
          </a:p>
          <a:p>
            <a:pPr marL="1085850" lvl="2" indent="-171450">
              <a:buFont typeface="Arial" pitchFamily="34" charset="0"/>
              <a:buChar char="•"/>
            </a:pPr>
            <a:r>
              <a:rPr lang="en-US" b="0" i="0" u="none" baseline="0" dirty="0" smtClean="0"/>
              <a:t>The insulation clearance requirements from AS/NZS 3000.</a:t>
            </a:r>
          </a:p>
          <a:p>
            <a:pPr marL="0" lvl="0" indent="0">
              <a:buFont typeface="Arial" pitchFamily="34" charset="0"/>
              <a:buNone/>
            </a:pPr>
            <a:endParaRPr lang="en-US" b="0" i="0" u="none" baseline="0" dirty="0" smtClean="0"/>
          </a:p>
          <a:p>
            <a:pPr marL="0" lvl="0" indent="0">
              <a:buFont typeface="Arial" pitchFamily="34" charset="0"/>
              <a:buNone/>
            </a:pPr>
            <a:r>
              <a:rPr lang="en-US" b="0" i="0" u="none" baseline="0" dirty="0" smtClean="0"/>
              <a:t>The relevant NCC Volume Two parts are shown on the following slides.</a:t>
            </a:r>
          </a:p>
          <a:p>
            <a:pPr marL="628650" lvl="1" indent="-171450">
              <a:buFont typeface="Arial"/>
              <a:buChar char="•"/>
            </a:pPr>
            <a:endParaRPr lang="en-US" b="0" i="0" u="sng" baseline="0" dirty="0" smtClean="0"/>
          </a:p>
          <a:p>
            <a:endParaRPr lang="en-US" b="1" i="0" u="none"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24</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Minimum Total R-Value (Table 3.12.1.1a)</a:t>
            </a:r>
          </a:p>
          <a:p>
            <a:endParaRPr lang="en-US" b="1" i="0" u="sng" baseline="0"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25</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Compensation of Insulation (Table 3.12.1.1b)</a:t>
            </a:r>
            <a:endParaRPr lang="en-US" b="1" dirty="0"/>
          </a:p>
          <a:p>
            <a:endParaRPr lang="en-US" b="1" u="sng" dirty="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26</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none" baseline="0" dirty="0" smtClean="0"/>
              <a:t>Insulation clearances AS/NZS 3000</a:t>
            </a:r>
          </a:p>
          <a:p>
            <a:endParaRPr lang="en-US" b="1" u="sng" baseline="0" dirty="0" smtClean="0"/>
          </a:p>
          <a:p>
            <a:r>
              <a:rPr lang="en-US" b="1" u="sng" baseline="0" dirty="0" smtClean="0"/>
              <a:t>Quick Points:</a:t>
            </a:r>
          </a:p>
          <a:p>
            <a:pPr marL="628650" lvl="1" indent="-171450">
              <a:buFont typeface="Arial" pitchFamily="34" charset="0"/>
              <a:buChar char="•"/>
            </a:pPr>
            <a:r>
              <a:rPr lang="en-US" b="0" u="none" baseline="0" dirty="0" smtClean="0"/>
              <a:t>AS/NZS 3000 provides requirements for the distance insulation should be kept away from </a:t>
            </a:r>
            <a:r>
              <a:rPr lang="en-US" b="0" u="none" baseline="0" dirty="0" err="1" smtClean="0"/>
              <a:t>downlights</a:t>
            </a:r>
            <a:r>
              <a:rPr lang="en-US" b="0" u="none" baseline="0" dirty="0" smtClean="0"/>
              <a:t>.</a:t>
            </a:r>
          </a:p>
          <a:p>
            <a:pPr marL="628650" lvl="1" indent="-171450">
              <a:buFont typeface="Arial" pitchFamily="34" charset="0"/>
              <a:buChar char="•"/>
            </a:pPr>
            <a:r>
              <a:rPr lang="en-US" b="0" u="none" baseline="0" dirty="0" smtClean="0"/>
              <a:t>The Standard refers to the light manufactures specifications or default values.</a:t>
            </a:r>
          </a:p>
          <a:p>
            <a:pPr marL="628650" lvl="1" indent="-171450">
              <a:buFont typeface="Arial" pitchFamily="34" charset="0"/>
              <a:buChar char="•"/>
            </a:pPr>
            <a:r>
              <a:rPr lang="en-US" b="0" u="none" baseline="0" dirty="0" smtClean="0"/>
              <a:t>The default values are as follows:</a:t>
            </a:r>
          </a:p>
          <a:p>
            <a:pPr marL="1085850" lvl="2" indent="-171450">
              <a:buFont typeface="Arial" pitchFamily="34" charset="0"/>
              <a:buChar char="•"/>
            </a:pPr>
            <a:r>
              <a:rPr lang="en-US" b="0" u="none" baseline="0" dirty="0" smtClean="0"/>
              <a:t>A – Clearance above the recessed luminaire – 200 mm.</a:t>
            </a:r>
          </a:p>
          <a:p>
            <a:pPr marL="1085850" lvl="2" indent="-171450">
              <a:buFont typeface="Arial" pitchFamily="34" charset="0"/>
              <a:buChar char="•"/>
            </a:pPr>
            <a:r>
              <a:rPr lang="en-US" b="0" u="none" baseline="0" dirty="0" smtClean="0"/>
              <a:t>B – Clearance to the side of the recessed luminaire to combustible building element – 200 mm.</a:t>
            </a:r>
          </a:p>
          <a:p>
            <a:pPr marL="1085850" lvl="2" indent="-171450">
              <a:buFont typeface="Arial" pitchFamily="34" charset="0"/>
              <a:buChar char="•"/>
            </a:pPr>
            <a:r>
              <a:rPr lang="en-US" b="0" u="none" baseline="0" dirty="0" smtClean="0"/>
              <a:t>C – Clearance to the side of the recessed luminaire to bulk insulation – 50 mm.</a:t>
            </a:r>
          </a:p>
          <a:p>
            <a:pPr marL="1085850" lvl="2" indent="-171450">
              <a:buFont typeface="Arial" pitchFamily="34" charset="0"/>
              <a:buChar char="•"/>
            </a:pPr>
            <a:r>
              <a:rPr lang="en-US" b="0" u="none" baseline="0" dirty="0" smtClean="0"/>
              <a:t>D – Clearance to any auxiliary equipment (This would include the transformer for the luminaire) – 50 mm.</a:t>
            </a:r>
          </a:p>
          <a:p>
            <a:endParaRPr lang="en-US" b="1" u="sng" baseline="0" dirty="0" smtClean="0"/>
          </a:p>
          <a:p>
            <a:r>
              <a:rPr lang="en-US" b="1" u="sng" baseline="0" dirty="0" smtClean="0"/>
              <a:t>Background Notes:</a:t>
            </a:r>
          </a:p>
          <a:p>
            <a:pPr>
              <a:buFontTx/>
              <a:buNone/>
            </a:pPr>
            <a:r>
              <a:rPr lang="en-AU" dirty="0" smtClean="0"/>
              <a:t>The values in the table are worst-case values. Smaller clearances can be used if they are supported by the </a:t>
            </a:r>
            <a:r>
              <a:rPr lang="en-AU" u="sng" dirty="0" smtClean="0"/>
              <a:t>manufacturer’s product information</a:t>
            </a:r>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27</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baseline="0" dirty="0" smtClean="0"/>
              <a:t>Typical Construction (Figure 3.12.1.1)</a:t>
            </a:r>
          </a:p>
          <a:p>
            <a:endParaRPr lang="en-US" b="1" i="0" u="sng" baseline="0" dirty="0" smtClean="0"/>
          </a:p>
          <a:p>
            <a:r>
              <a:rPr lang="en-US" b="1" i="0" u="sng" baseline="0" dirty="0" smtClean="0"/>
              <a:t>Quick Points:</a:t>
            </a:r>
          </a:p>
          <a:p>
            <a:pPr marL="628650" lvl="1" indent="-171450">
              <a:buFont typeface="Arial" pitchFamily="34" charset="0"/>
              <a:buChar char="•"/>
            </a:pPr>
            <a:r>
              <a:rPr lang="en-US" b="0" i="0" u="none" baseline="0" dirty="0" smtClean="0"/>
              <a:t>The attached image is an extract out of the NCC. </a:t>
            </a:r>
          </a:p>
          <a:p>
            <a:pPr marL="628650" lvl="1" indent="-171450">
              <a:buFont typeface="Arial" pitchFamily="34" charset="0"/>
              <a:buChar char="•"/>
            </a:pPr>
            <a:r>
              <a:rPr lang="en-US" b="0" i="0" u="none" baseline="0" dirty="0" smtClean="0"/>
              <a:t>It shows the typical R-Value for a Pitched metal roof with a flat ceiling.  </a:t>
            </a:r>
          </a:p>
          <a:p>
            <a:endParaRPr lang="en-US" b="1" i="0" u="sng" baseline="0" dirty="0" smtClean="0"/>
          </a:p>
          <a:p>
            <a:r>
              <a:rPr lang="en-US" b="1" i="0" u="sng" baseline="0" dirty="0" smtClean="0"/>
              <a:t>Background Notes:</a:t>
            </a:r>
          </a:p>
          <a:p>
            <a:pPr marL="0" marR="0" indent="0" algn="l" defTabSz="914400" rtl="0" eaLnBrk="1" fontAlgn="auto" latinLnBrk="0" hangingPunct="1">
              <a:lnSpc>
                <a:spcPct val="100000"/>
              </a:lnSpc>
              <a:spcBef>
                <a:spcPts val="0"/>
              </a:spcBef>
              <a:spcAft>
                <a:spcPts val="0"/>
              </a:spcAft>
              <a:buClrTx/>
              <a:buSzTx/>
              <a:buFontTx/>
              <a:buNone/>
              <a:tabLst/>
              <a:defRPr/>
            </a:pPr>
            <a:r>
              <a:rPr lang="en-AU" i="0" dirty="0" smtClean="0">
                <a:latin typeface="Arial Narrow" charset="0"/>
              </a:rPr>
              <a:t>Figure 3.12.1.1 presents Total R-Values (</a:t>
            </a:r>
            <a:r>
              <a:rPr lang="en-AU" i="0" u="sng" dirty="0" smtClean="0">
                <a:latin typeface="Arial Narrow" charset="0"/>
              </a:rPr>
              <a:t>without insulation</a:t>
            </a:r>
            <a:r>
              <a:rPr lang="en-AU" i="0" dirty="0" smtClean="0">
                <a:latin typeface="Arial Narrow" charset="0"/>
              </a:rPr>
              <a:t>) for different forms of roof and ceiling construction with and without a ventilated ceiling and with “up” and “down” heat flow direction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US" b="1" u="none" baseline="0"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28</a:t>
            </a:fld>
            <a:endParaRPr lang="en-AU"/>
          </a:p>
        </p:txBody>
      </p:sp>
    </p:spTree>
    <p:extLst>
      <p:ext uri="{BB962C8B-B14F-4D97-AF65-F5344CB8AC3E}">
        <p14:creationId xmlns:p14="http://schemas.microsoft.com/office/powerpoint/2010/main" val="2175089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Minimum require Total R-Value for the roof: R 5.1. (</a:t>
            </a:r>
            <a:r>
              <a:rPr lang="en-US" b="1" dirty="0" smtClean="0"/>
              <a:t>Table</a:t>
            </a:r>
            <a:r>
              <a:rPr lang="en-US" b="1" baseline="0" dirty="0" smtClean="0"/>
              <a:t> 3.12.1.1a</a:t>
            </a:r>
            <a:r>
              <a:rPr lang="en-US" b="0" baseline="0" dirty="0" smtClean="0"/>
              <a:t> – climate zone 3, solar </a:t>
            </a:r>
            <a:r>
              <a:rPr lang="en-US" b="0" baseline="0" dirty="0" err="1" smtClean="0"/>
              <a:t>absorptance</a:t>
            </a:r>
            <a:r>
              <a:rPr lang="en-US" b="0" baseline="0" dirty="0" smtClean="0"/>
              <a:t> more than 0.6, </a:t>
            </a:r>
            <a:r>
              <a:rPr lang="en-US" u="sng" baseline="0" dirty="0" smtClean="0"/>
              <a:t>downward and upward direction of heat flow</a:t>
            </a:r>
            <a:r>
              <a:rPr lang="en-US" baseline="0" dirty="0" smtClean="0"/>
              <a:t>)</a:t>
            </a:r>
            <a:r>
              <a:rPr lang="en-US" b="0" baseline="0" dirty="0" smtClean="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Uninsulated roof construct R-Value: R 0.54 Down and R 0.39 Up. (</a:t>
            </a:r>
            <a:r>
              <a:rPr lang="en-US" b="1" dirty="0" smtClean="0"/>
              <a:t>Figure 3.12.1.1(d) </a:t>
            </a:r>
            <a:r>
              <a:rPr lang="en-US" dirty="0" smtClean="0"/>
              <a:t>– pitched roof,</a:t>
            </a:r>
            <a:r>
              <a:rPr lang="en-US" baseline="0" dirty="0" smtClean="0"/>
              <a:t> flat ceiling, metal roof, unventilated, </a:t>
            </a:r>
            <a:r>
              <a:rPr lang="en-US" u="sng" baseline="0" dirty="0" smtClean="0"/>
              <a:t>downward and upward direction of heat flow</a:t>
            </a:r>
            <a:r>
              <a:rPr lang="en-US" baseline="0" dirty="0" smtClean="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t>Minimum required insulation: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for downward direction is </a:t>
            </a:r>
            <a:r>
              <a:rPr lang="en-US" u="sng" baseline="0" dirty="0" smtClean="0"/>
              <a:t>R 4.56 </a:t>
            </a:r>
            <a:r>
              <a:rPr lang="en-US" baseline="0" dirty="0" smtClean="0"/>
              <a:t>(R5.1 – R0.54)</a:t>
            </a:r>
          </a:p>
          <a:p>
            <a:pPr marL="628650" lvl="1" indent="-171450">
              <a:buFontTx/>
              <a:buChar char="-"/>
            </a:pPr>
            <a:r>
              <a:rPr lang="en-US" dirty="0" smtClean="0"/>
              <a:t>for upward</a:t>
            </a:r>
            <a:r>
              <a:rPr lang="en-US" baseline="0" dirty="0" smtClean="0"/>
              <a:t> direction </a:t>
            </a:r>
            <a:r>
              <a:rPr lang="en-US" dirty="0" smtClean="0"/>
              <a:t>is </a:t>
            </a:r>
            <a:r>
              <a:rPr lang="en-US" b="0" u="sng" dirty="0" smtClean="0"/>
              <a:t>R 4.71</a:t>
            </a:r>
            <a:r>
              <a:rPr lang="en-US" b="0" u="sng" baseline="0" dirty="0" smtClean="0"/>
              <a:t> </a:t>
            </a:r>
            <a:r>
              <a:rPr lang="en-US" baseline="0" dirty="0" smtClean="0"/>
              <a:t>(R5.1 – R0.39)</a:t>
            </a:r>
          </a:p>
        </p:txBody>
      </p:sp>
      <p:sp>
        <p:nvSpPr>
          <p:cNvPr id="4" name="Slide Number Placeholder 3"/>
          <p:cNvSpPr>
            <a:spLocks noGrp="1"/>
          </p:cNvSpPr>
          <p:nvPr>
            <p:ph type="sldNum" sz="quarter" idx="10"/>
          </p:nvPr>
        </p:nvSpPr>
        <p:spPr/>
        <p:txBody>
          <a:bodyPr/>
          <a:lstStyle/>
          <a:p>
            <a:fld id="{453E1AD6-DF05-4BB0-9185-EED55F20F693}" type="slidenum">
              <a:rPr lang="en-AU" smtClean="0"/>
              <a:pPr/>
              <a:t>29</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marL="171450" lvl="0" indent="-171450">
                  <a:buFont typeface="Arial" panose="020B0604020202020204" pitchFamily="34" charset="0"/>
                  <a:buChar char="•"/>
                </a:pPr>
                <a:r>
                  <a:rPr lang="en-US" dirty="0" smtClean="0"/>
                  <a:t>Assume the insulation loss around the halogens is a circle with a radius of 100 mm (50 mm for insulation</a:t>
                </a:r>
                <a:r>
                  <a:rPr lang="en-US" baseline="0" dirty="0" smtClean="0"/>
                  <a:t>, 50 mm for light fitting = 100mm or 0.1m).</a:t>
                </a:r>
                <a:endParaRPr lang="en-US" dirty="0" smtClean="0"/>
              </a:p>
              <a:p>
                <a:pPr marL="628650" lvl="1" indent="-171450">
                  <a:buFont typeface="Arial" panose="020B0604020202020204" pitchFamily="34" charset="0"/>
                  <a:buChar char="•"/>
                </a:pPr>
                <a:r>
                  <a:rPr lang="en-US" dirty="0" smtClean="0"/>
                  <a:t>Therefore each opening is a loss of </a:t>
                </a:r>
                <a14:m>
                  <m:oMath xmlns:m="http://schemas.openxmlformats.org/officeDocument/2006/math">
                    <m:r>
                      <a:rPr lang="el-GR" i="1" smtClean="0">
                        <a:latin typeface="Cambria Math"/>
                      </a:rPr>
                      <m:t>𝜋</m:t>
                    </m:r>
                    <m:sSup>
                      <m:sSupPr>
                        <m:ctrlPr>
                          <a:rPr lang="en-US" i="1" smtClean="0">
                            <a:latin typeface="Cambria Math" panose="02040503050406030204" pitchFamily="18" charset="0"/>
                          </a:rPr>
                        </m:ctrlPr>
                      </m:sSupPr>
                      <m:e>
                        <m:r>
                          <a:rPr lang="en-US" i="1" smtClean="0">
                            <a:latin typeface="Cambria Math"/>
                          </a:rPr>
                          <m:t>𝑟</m:t>
                        </m:r>
                      </m:e>
                      <m:sup>
                        <m:r>
                          <a:rPr lang="en-US" i="1" smtClean="0">
                            <a:latin typeface="Cambria Math"/>
                          </a:rPr>
                          <m:t>2</m:t>
                        </m:r>
                      </m:sup>
                    </m:sSup>
                  </m:oMath>
                </a14:m>
                <a:r>
                  <a:rPr lang="en-US" dirty="0" smtClean="0"/>
                  <a:t> = 3.141 x 0.1² = 0.031 m².</a:t>
                </a:r>
              </a:p>
              <a:p>
                <a:pPr marL="628650" lvl="1" indent="-171450">
                  <a:buFont typeface="Arial" panose="020B0604020202020204" pitchFamily="34" charset="0"/>
                  <a:buChar char="•"/>
                </a:pPr>
                <a:r>
                  <a:rPr lang="en-US" dirty="0" smtClean="0"/>
                  <a:t>Therefore the loss from 11 halogens is = 0.031 x 11 =</a:t>
                </a:r>
                <a:r>
                  <a:rPr lang="en-US" baseline="0" dirty="0" smtClean="0"/>
                  <a:t> </a:t>
                </a:r>
                <a:r>
                  <a:rPr lang="en-US" dirty="0" smtClean="0"/>
                  <a:t>0.341 m².</a:t>
                </a:r>
              </a:p>
              <a:p>
                <a:pPr marL="171450" lvl="0" indent="-171450">
                  <a:buFont typeface="Arial" panose="020B0604020202020204" pitchFamily="34" charset="0"/>
                  <a:buChar char="•"/>
                </a:pPr>
                <a:r>
                  <a:rPr lang="en-US" dirty="0" smtClean="0"/>
                  <a:t>The loss from the service installation is 1 m².</a:t>
                </a:r>
              </a:p>
              <a:p>
                <a:pPr lvl="0"/>
                <a:r>
                  <a:rPr lang="en-US" baseline="0" dirty="0" smtClean="0"/>
                  <a:t> </a:t>
                </a:r>
              </a:p>
              <a:p>
                <a:pPr lvl="0"/>
                <a:r>
                  <a:rPr lang="en-US" dirty="0" smtClean="0"/>
                  <a:t>Therefore total loss is (0.341m</a:t>
                </a:r>
                <a:r>
                  <a:rPr lang="en-US" baseline="30000" dirty="0" smtClean="0"/>
                  <a:t>2</a:t>
                </a:r>
                <a:r>
                  <a:rPr lang="en-US" dirty="0" smtClean="0"/>
                  <a:t> + 1m</a:t>
                </a:r>
                <a:r>
                  <a:rPr lang="en-US" baseline="30000" dirty="0" smtClean="0"/>
                  <a:t>2</a:t>
                </a:r>
                <a:r>
                  <a:rPr lang="en-US" dirty="0" smtClean="0"/>
                  <a:t>) = 1.341 m² (which is 1.341 % of the 100 m² floor area).</a:t>
                </a:r>
              </a:p>
              <a:p>
                <a:pPr lvl="0"/>
                <a:r>
                  <a:rPr lang="en-US" dirty="0" smtClean="0"/>
                  <a:t> </a:t>
                </a:r>
              </a:p>
              <a:p>
                <a:pPr lvl="2"/>
                <a:endParaRPr lang="en-US" dirty="0" smtClean="0"/>
              </a:p>
              <a:p>
                <a:endParaRPr lang="en-US" dirty="0" smtClean="0"/>
              </a:p>
              <a:p>
                <a:endParaRPr lang="en-US" dirty="0" smtClean="0"/>
              </a:p>
            </p:txBody>
          </p:sp>
        </mc:Choice>
        <mc:Fallback xmlns="">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lvl="1"/>
                <a:r>
                  <a:rPr lang="en-US" dirty="0" smtClean="0"/>
                  <a:t>- Assume </a:t>
                </a:r>
                <a:r>
                  <a:rPr lang="en-US" dirty="0" smtClean="0"/>
                  <a:t>the insulation loss around the halogens is a circle with a radius of 100 mm (50 mm for insulation</a:t>
                </a:r>
                <a:r>
                  <a:rPr lang="en-US" baseline="0" dirty="0" smtClean="0"/>
                  <a:t>, 50 </a:t>
                </a:r>
                <a:r>
                  <a:rPr lang="en-US" baseline="0" dirty="0" smtClean="0"/>
                  <a:t>mm </a:t>
                </a:r>
                <a:r>
                  <a:rPr lang="en-US" baseline="0" dirty="0" smtClean="0"/>
                  <a:t>for light </a:t>
                </a:r>
                <a:r>
                  <a:rPr lang="en-US" baseline="0" dirty="0" smtClean="0"/>
                  <a:t>fitting = 100mm or 0.1m).</a:t>
                </a:r>
                <a:endParaRPr lang="en-US" dirty="0" smtClean="0"/>
              </a:p>
              <a:p>
                <a:pPr lvl="2"/>
                <a:r>
                  <a:rPr lang="en-US" dirty="0" smtClean="0"/>
                  <a:t>Therefore each opening is a loss of </a:t>
                </a:r>
                <a:r>
                  <a:rPr lang="el-GR" i="0" smtClean="0">
                    <a:latin typeface="Cambria Math"/>
                  </a:rPr>
                  <a:t>𝜋</a:t>
                </a:r>
                <a:r>
                  <a:rPr lang="en-US" i="0" smtClean="0">
                    <a:latin typeface="Cambria Math"/>
                  </a:rPr>
                  <a:t>𝑟^2</a:t>
                </a:r>
                <a:r>
                  <a:rPr lang="en-US" dirty="0" smtClean="0"/>
                  <a:t> </a:t>
                </a:r>
                <a:r>
                  <a:rPr lang="en-US" dirty="0" smtClean="0"/>
                  <a:t>= </a:t>
                </a:r>
                <a:r>
                  <a:rPr lang="en-US" dirty="0" smtClean="0"/>
                  <a:t>3.141 x 0.1² </a:t>
                </a:r>
                <a:r>
                  <a:rPr lang="en-US" dirty="0" smtClean="0"/>
                  <a:t>= 0.031 m².</a:t>
                </a:r>
              </a:p>
              <a:p>
                <a:pPr lvl="2"/>
                <a:r>
                  <a:rPr lang="en-US" dirty="0" smtClean="0"/>
                  <a:t>Therefore the loss from 11 halogens is = </a:t>
                </a:r>
                <a:r>
                  <a:rPr lang="en-US" dirty="0" smtClean="0"/>
                  <a:t>0.031 x 11 =</a:t>
                </a:r>
                <a:r>
                  <a:rPr lang="en-US" baseline="0" dirty="0" smtClean="0"/>
                  <a:t> </a:t>
                </a:r>
                <a:r>
                  <a:rPr lang="en-US" dirty="0" smtClean="0"/>
                  <a:t>0.341 </a:t>
                </a:r>
                <a:r>
                  <a:rPr lang="en-US" dirty="0" smtClean="0"/>
                  <a:t>m².</a:t>
                </a:r>
              </a:p>
              <a:p>
                <a:pPr lvl="1"/>
                <a:r>
                  <a:rPr lang="en-US" dirty="0" smtClean="0"/>
                  <a:t>- The </a:t>
                </a:r>
                <a:r>
                  <a:rPr lang="en-US" dirty="0" smtClean="0"/>
                  <a:t>loss from the service installation is 1 m².</a:t>
                </a:r>
              </a:p>
              <a:p>
                <a:pPr lvl="1"/>
                <a:r>
                  <a:rPr lang="en-US" baseline="0" dirty="0" smtClean="0"/>
                  <a:t> </a:t>
                </a:r>
              </a:p>
              <a:p>
                <a:pPr lvl="1"/>
                <a:r>
                  <a:rPr lang="en-US" dirty="0" smtClean="0"/>
                  <a:t>Therefore </a:t>
                </a:r>
                <a:r>
                  <a:rPr lang="en-US" dirty="0" smtClean="0"/>
                  <a:t>total loss is </a:t>
                </a:r>
                <a:r>
                  <a:rPr lang="en-US" dirty="0" smtClean="0"/>
                  <a:t>(0.341m</a:t>
                </a:r>
                <a:r>
                  <a:rPr lang="en-US" baseline="30000" dirty="0" smtClean="0"/>
                  <a:t>2</a:t>
                </a:r>
                <a:r>
                  <a:rPr lang="en-US" dirty="0" smtClean="0"/>
                  <a:t> + 1m</a:t>
                </a:r>
                <a:r>
                  <a:rPr lang="en-US" baseline="30000" dirty="0" smtClean="0"/>
                  <a:t>2</a:t>
                </a:r>
                <a:r>
                  <a:rPr lang="en-US" dirty="0" smtClean="0"/>
                  <a:t>) = 1.341 </a:t>
                </a:r>
                <a:r>
                  <a:rPr lang="en-US" dirty="0" smtClean="0"/>
                  <a:t>m² </a:t>
                </a:r>
                <a:r>
                  <a:rPr lang="en-US" dirty="0" smtClean="0"/>
                  <a:t>(which </a:t>
                </a:r>
                <a:r>
                  <a:rPr lang="en-US" dirty="0" smtClean="0"/>
                  <a:t>is 1.341 % of the 100 m² floor </a:t>
                </a:r>
                <a:r>
                  <a:rPr lang="en-US" dirty="0" smtClean="0"/>
                  <a:t>area).</a:t>
                </a:r>
                <a:endParaRPr lang="en-US" dirty="0" smtClean="0"/>
              </a:p>
              <a:p>
                <a:pPr lvl="1"/>
                <a:r>
                  <a:rPr lang="en-US" dirty="0" smtClean="0"/>
                  <a:t> </a:t>
                </a:r>
                <a:endParaRPr lang="en-US" dirty="0" smtClean="0"/>
              </a:p>
              <a:p>
                <a:pPr lvl="2"/>
                <a:endParaRPr lang="en-US" dirty="0" smtClean="0"/>
              </a:p>
              <a:p>
                <a:endParaRPr lang="en-US" dirty="0" smtClean="0"/>
              </a:p>
              <a:p>
                <a:endParaRPr lang="en-US" dirty="0" smtClean="0"/>
              </a:p>
            </p:txBody>
          </p:sp>
        </mc:Fallback>
      </mc:AlternateContent>
      <p:sp>
        <p:nvSpPr>
          <p:cNvPr id="4" name="Slide Number Placeholder 3"/>
          <p:cNvSpPr>
            <a:spLocks noGrp="1"/>
          </p:cNvSpPr>
          <p:nvPr>
            <p:ph type="sldNum" sz="quarter" idx="10"/>
          </p:nvPr>
        </p:nvSpPr>
        <p:spPr/>
        <p:txBody>
          <a:bodyPr/>
          <a:lstStyle/>
          <a:p>
            <a:fld id="{453E1AD6-DF05-4BB0-9185-EED55F20F693}" type="slidenum">
              <a:rPr lang="en-AU" smtClean="0"/>
              <a:pPr/>
              <a:t>30</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US" b="1" dirty="0" smtClean="0"/>
              <a:t>Group Activity</a:t>
            </a:r>
          </a:p>
          <a:p>
            <a:endParaRPr lang="en-US" dirty="0" smtClean="0"/>
          </a:p>
          <a:p>
            <a:r>
              <a:rPr lang="en-US" b="1" u="sng" dirty="0" smtClean="0"/>
              <a:t>Quick Points:</a:t>
            </a:r>
          </a:p>
          <a:p>
            <a:r>
              <a:rPr lang="en-US" b="1" u="sng" dirty="0" smtClean="0"/>
              <a:t>Answers</a:t>
            </a:r>
          </a:p>
          <a:p>
            <a:pPr lvl="0"/>
            <a:r>
              <a:rPr lang="en-US" dirty="0" smtClean="0"/>
              <a:t>The total</a:t>
            </a:r>
            <a:r>
              <a:rPr lang="en-US" baseline="0" dirty="0" smtClean="0"/>
              <a:t> loss from Q13 is 1.341%, meaning t</a:t>
            </a:r>
            <a:r>
              <a:rPr lang="en-US" dirty="0" smtClean="0"/>
              <a:t>he adjusted minimum R-Value is between 6.1 and 7.0</a:t>
            </a:r>
            <a:r>
              <a:rPr lang="en-US" baseline="0" dirty="0" smtClean="0"/>
              <a:t> (</a:t>
            </a:r>
            <a:r>
              <a:rPr lang="en-US" b="1" baseline="0" dirty="0" smtClean="0"/>
              <a:t>Table 3.12.1.1b </a:t>
            </a:r>
            <a:r>
              <a:rPr lang="en-US" b="0" baseline="0" dirty="0" smtClean="0"/>
              <a:t>- 1.0% to less than 1.5%).</a:t>
            </a:r>
            <a:endParaRPr lang="en-US" dirty="0" smtClean="0"/>
          </a:p>
          <a:p>
            <a:pPr lvl="0"/>
            <a:endParaRPr lang="en-US" dirty="0" smtClean="0"/>
          </a:p>
          <a:p>
            <a:pPr lvl="0"/>
            <a:r>
              <a:rPr lang="en-US" dirty="0" smtClean="0"/>
              <a:t>Using </a:t>
            </a:r>
            <a:r>
              <a:rPr lang="en-US" u="sng" dirty="0" smtClean="0"/>
              <a:t>linear interpolation </a:t>
            </a:r>
            <a:r>
              <a:rPr lang="en-US" dirty="0" smtClean="0"/>
              <a:t>the required adjusted minimum R-Value is </a:t>
            </a:r>
          </a:p>
          <a:p>
            <a:pPr marL="171450" lvl="0" indent="-171450">
              <a:buFont typeface="Arial" panose="020B0604020202020204" pitchFamily="34" charset="0"/>
              <a:buChar char="•"/>
            </a:pPr>
            <a:r>
              <a:rPr lang="en-US" dirty="0" smtClean="0"/>
              <a:t>6.208 (i.e.</a:t>
            </a:r>
            <a:r>
              <a:rPr lang="en-US" baseline="0" dirty="0" smtClean="0"/>
              <a:t> </a:t>
            </a:r>
            <a:r>
              <a:rPr lang="en-US" dirty="0" smtClean="0"/>
              <a:t>R-value</a:t>
            </a:r>
            <a:r>
              <a:rPr lang="en-US" baseline="0" dirty="0" smtClean="0"/>
              <a:t> 6.2) in the downward direction,</a:t>
            </a:r>
          </a:p>
          <a:p>
            <a:pPr marL="171450" lvl="0" indent="-171450">
              <a:buFont typeface="Arial" panose="020B0604020202020204" pitchFamily="34" charset="0"/>
              <a:buChar char="•"/>
            </a:pPr>
            <a:r>
              <a:rPr lang="en-US" baseline="0" dirty="0" smtClean="0"/>
              <a:t>6.478 (i.e. R-value 6.5) in the upward direction.</a:t>
            </a:r>
            <a:r>
              <a:rPr lang="en-US" dirty="0" smtClean="0"/>
              <a:t> </a:t>
            </a:r>
          </a:p>
          <a:p>
            <a:pPr lvl="1"/>
            <a:endParaRPr lang="en-US" dirty="0" smtClean="0"/>
          </a:p>
          <a:p>
            <a:pPr lvl="1"/>
            <a:endParaRPr lang="en-US" dirty="0" smtClean="0"/>
          </a:p>
          <a:p>
            <a:pPr lvl="1"/>
            <a:endParaRPr lang="en-US" dirty="0" smtClean="0"/>
          </a:p>
          <a:p>
            <a:pPr lvl="2"/>
            <a:endParaRPr lang="en-US"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453E1AD6-DF05-4BB0-9185-EED55F20F693}" type="slidenum">
              <a:rPr lang="en-AU" smtClean="0"/>
              <a:pPr/>
              <a:t>31</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75089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AU" b="1" u="sng" dirty="0" smtClean="0"/>
              <a:t>Quick Points:</a:t>
            </a:r>
          </a:p>
          <a:p>
            <a:pPr marL="628650" lvl="1" indent="-171450">
              <a:buFont typeface="Arial" pitchFamily="34" charset="0"/>
              <a:buChar char="•"/>
            </a:pPr>
            <a:r>
              <a:rPr lang="en-AU" dirty="0" smtClean="0"/>
              <a:t>The next</a:t>
            </a:r>
            <a:r>
              <a:rPr lang="en-AU" baseline="0" dirty="0" smtClean="0"/>
              <a:t> </a:t>
            </a:r>
            <a:r>
              <a:rPr lang="en-AU" dirty="0" smtClean="0"/>
              <a:t>topic for</a:t>
            </a:r>
            <a:r>
              <a:rPr lang="en-AU" baseline="0" dirty="0" smtClean="0"/>
              <a:t> the group exercises </a:t>
            </a:r>
            <a:r>
              <a:rPr lang="en-AU" dirty="0" smtClean="0"/>
              <a:t>will be ‘Glazing’.</a:t>
            </a:r>
          </a:p>
          <a:p>
            <a:pPr marL="1085850" lvl="2" indent="-171450">
              <a:buFont typeface="Arial" pitchFamily="34" charset="0"/>
              <a:buChar char="•"/>
            </a:pPr>
            <a:endParaRPr lang="en-AU" dirty="0" smtClean="0"/>
          </a:p>
          <a:p>
            <a:pPr lvl="1"/>
            <a:endParaRPr lang="en-AU" dirty="0" smtClean="0"/>
          </a:p>
        </p:txBody>
      </p:sp>
      <p:sp>
        <p:nvSpPr>
          <p:cNvPr id="4" name="Slide Number Placeholder 3"/>
          <p:cNvSpPr>
            <a:spLocks noGrp="1"/>
          </p:cNvSpPr>
          <p:nvPr>
            <p:ph type="sldNum" sz="quarter" idx="10"/>
          </p:nvPr>
        </p:nvSpPr>
        <p:spPr/>
        <p:txBody>
          <a:bodyPr/>
          <a:lstStyle/>
          <a:p>
            <a:fld id="{A4DEE4A2-4769-4852-A574-16ABDC8DC3F3}" type="slidenum">
              <a:rPr lang="en-AU" smtClean="0"/>
              <a:pPr/>
              <a:t>32</a:t>
            </a:fld>
            <a:endParaRPr lang="en-AU"/>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293643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CDBD4F6-F67C-409F-B66E-5F87CEC243A4}" type="slidenum">
              <a:rPr lang="en-US">
                <a:latin typeface="Arial" charset="0"/>
              </a:rPr>
              <a:pPr/>
              <a:t>33</a:t>
            </a:fld>
            <a:endParaRPr lang="en-US">
              <a:latin typeface="Arial" charset="0"/>
            </a:endParaRPr>
          </a:p>
        </p:txBody>
      </p:sp>
      <p:sp>
        <p:nvSpPr>
          <p:cNvPr id="55299"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2 -  Objectives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Arial Narrow" pitchFamily="34" charset="0"/>
              </a:rPr>
              <a:t>The purpose of this exercise is to teach participants how to correctly interpret and apply the elemental energy efficiency </a:t>
            </a:r>
            <a:r>
              <a:rPr lang="en-US" sz="1200" i="0" dirty="0" smtClean="0">
                <a:latin typeface="Arial Narrow" pitchFamily="34" charset="0"/>
              </a:rPr>
              <a:t>Deemed-to-Satisfy Provisions </a:t>
            </a:r>
            <a:r>
              <a:rPr lang="en-US" sz="1200" dirty="0" smtClean="0">
                <a:latin typeface="Arial Narrow" pitchFamily="34" charset="0"/>
              </a:rPr>
              <a:t>for the external glazing of houses.</a:t>
            </a:r>
          </a:p>
          <a:p>
            <a:pPr eaLnBrk="1" hangingPunct="1"/>
            <a:endParaRPr lang="en-AU" dirty="0" smtClean="0"/>
          </a:p>
        </p:txBody>
      </p:sp>
      <p:sp>
        <p:nvSpPr>
          <p:cNvPr id="55300"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241338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DB532BEF-9623-48F6-AF0E-F6DD94A2BBEE}" type="slidenum">
              <a:rPr lang="en-US">
                <a:latin typeface="Arial" charset="0"/>
              </a:rPr>
              <a:pPr/>
              <a:t>34</a:t>
            </a:fld>
            <a:endParaRPr lang="en-US">
              <a:latin typeface="Arial" charset="0"/>
            </a:endParaRPr>
          </a:p>
        </p:txBody>
      </p:sp>
      <p:sp>
        <p:nvSpPr>
          <p:cNvPr id="56323" name="Rectangle 2"/>
          <p:cNvSpPr>
            <a:spLocks noGrp="1" noChangeArrowheads="1"/>
          </p:cNvSpPr>
          <p:nvPr>
            <p:ph type="body" idx="1"/>
          </p:nvPr>
        </p:nvSpPr>
        <p:spPr>
          <a:xfrm>
            <a:off x="907010" y="4725310"/>
            <a:ext cx="4991594" cy="4185714"/>
          </a:xfrm>
          <a:noFill/>
          <a:extLst>
            <a:ext uri="{91240B29-F687-4F45-9708-019B960494DF}">
              <a14:hiddenLine xmlns:a14="http://schemas.microsoft.com/office/drawing/2010/main" w="12699">
                <a:solidFill>
                  <a:schemeClr val="tx1"/>
                </a:solidFill>
                <a:miter lim="800000"/>
                <a:headEnd/>
                <a:tailEnd/>
              </a14:hiddenLine>
            </a:ext>
          </a:extLst>
        </p:spPr>
        <p:txBody>
          <a:bodyPr lIns="91580" tIns="44987" rIns="91580" bIns="44987"/>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u="none" baseline="0" dirty="0" smtClean="0"/>
              <a:t>Exercise 2 -  Learning Outcomes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0"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eaLnBrk="1" hangingPunct="1"/>
            <a:r>
              <a:rPr lang="en-AU" dirty="0" smtClean="0"/>
              <a:t>The following points detail the specific areas that will be taught during this exercise:</a:t>
            </a:r>
          </a:p>
          <a:p>
            <a:pPr marL="628650" lvl="1" indent="-171450">
              <a:buClr>
                <a:schemeClr val="tx1"/>
              </a:buClr>
              <a:buSzPct val="120000"/>
              <a:buFont typeface="Arial" pitchFamily="34" charset="0"/>
              <a:buChar char="•"/>
            </a:pPr>
            <a:r>
              <a:rPr lang="en-US" sz="1200" dirty="0" smtClean="0"/>
              <a:t>Appreciate the importance of glazing to the thermal performance of a house.</a:t>
            </a:r>
          </a:p>
          <a:p>
            <a:pPr marL="628650" lvl="1" indent="-171450">
              <a:buClr>
                <a:schemeClr val="tx1"/>
              </a:buClr>
              <a:buSzPct val="120000"/>
              <a:buFont typeface="Arial" pitchFamily="34" charset="0"/>
              <a:buChar char="•"/>
            </a:pPr>
            <a:r>
              <a:rPr lang="en-US" sz="1200" dirty="0" smtClean="0"/>
              <a:t>Understand the meaning of external glazing.</a:t>
            </a:r>
          </a:p>
          <a:p>
            <a:pPr marL="628650" lvl="1" indent="-171450">
              <a:buClr>
                <a:schemeClr val="tx1"/>
              </a:buClr>
              <a:buSzPct val="120000"/>
              <a:buFont typeface="Arial" pitchFamily="34" charset="0"/>
              <a:buChar char="•"/>
            </a:pPr>
            <a:r>
              <a:rPr lang="en-US" sz="1200" dirty="0" smtClean="0"/>
              <a:t>Understand the meaning of Total System</a:t>
            </a:r>
            <a:r>
              <a:rPr lang="en-US" sz="1200" baseline="0" dirty="0" smtClean="0"/>
              <a:t> </a:t>
            </a:r>
            <a:r>
              <a:rPr lang="en-US" sz="1200" dirty="0" smtClean="0"/>
              <a:t>U-Value.</a:t>
            </a:r>
          </a:p>
          <a:p>
            <a:pPr marL="628650" lvl="1" indent="-171450">
              <a:buClr>
                <a:schemeClr val="tx1"/>
              </a:buClr>
              <a:buSzPct val="120000"/>
              <a:buFont typeface="Arial" pitchFamily="34" charset="0"/>
              <a:buChar char="•"/>
            </a:pPr>
            <a:r>
              <a:rPr lang="en-US" sz="1200" dirty="0" smtClean="0"/>
              <a:t>Understand the meaning of Total</a:t>
            </a:r>
            <a:r>
              <a:rPr lang="en-US" sz="1200" baseline="0" dirty="0" smtClean="0"/>
              <a:t> System </a:t>
            </a:r>
            <a:r>
              <a:rPr lang="en-US" sz="1200" dirty="0" smtClean="0"/>
              <a:t>Solar Heat Gain Coefficient (SHGC). </a:t>
            </a:r>
          </a:p>
          <a:p>
            <a:pPr marL="628650" lvl="1" indent="-171450">
              <a:buClr>
                <a:schemeClr val="tx1"/>
              </a:buClr>
              <a:buSzPct val="120000"/>
              <a:buFont typeface="Arial" pitchFamily="34" charset="0"/>
              <a:buChar char="•"/>
            </a:pPr>
            <a:r>
              <a:rPr lang="en-US" sz="1200" dirty="0" smtClean="0"/>
              <a:t>Understand the basic principles of the glazing formulae in the elemental Deemed-to-Satisfy Provisions.</a:t>
            </a:r>
          </a:p>
          <a:p>
            <a:pPr marL="628650" lvl="1" indent="-171450">
              <a:buClr>
                <a:schemeClr val="tx1"/>
              </a:buClr>
              <a:buSzPct val="120000"/>
              <a:buFont typeface="Arial" pitchFamily="34" charset="0"/>
              <a:buChar char="•"/>
            </a:pPr>
            <a:r>
              <a:rPr lang="en-US" sz="1200" dirty="0" smtClean="0"/>
              <a:t>Know how to use the ABCB's glazing calculator.</a:t>
            </a:r>
          </a:p>
          <a:p>
            <a:pPr eaLnBrk="1" hangingPunct="1"/>
            <a:endParaRPr lang="en-AU" dirty="0" smtClean="0"/>
          </a:p>
          <a:p>
            <a:pPr eaLnBrk="1" hangingPunct="1"/>
            <a:endParaRPr lang="en-AU" dirty="0" smtClean="0"/>
          </a:p>
        </p:txBody>
      </p:sp>
      <p:sp>
        <p:nvSpPr>
          <p:cNvPr id="56324" name="Rectangle 3"/>
          <p:cNvSpPr>
            <a:spLocks noGrp="1" noRot="1" noChangeAspect="1" noChangeArrowheads="1" noTextEdit="1"/>
          </p:cNvSpPr>
          <p:nvPr>
            <p:ph type="sldImg"/>
          </p:nvPr>
        </p:nvSpPr>
        <p:spPr>
          <a:xfrm>
            <a:off x="1077913" y="865188"/>
            <a:ext cx="4651375" cy="3489325"/>
          </a:xfrm>
          <a:ln w="12699" cap="flat">
            <a:solidFill>
              <a:schemeClr val="tx1"/>
            </a:solidFill>
          </a:ln>
        </p:spPr>
      </p:sp>
    </p:spTree>
    <p:extLst>
      <p:ext uri="{BB962C8B-B14F-4D97-AF65-F5344CB8AC3E}">
        <p14:creationId xmlns:p14="http://schemas.microsoft.com/office/powerpoint/2010/main" val="3890612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638E1F47-A7A5-4399-892A-61A25A3F5922}" type="slidenum">
              <a:rPr lang="en-US">
                <a:latin typeface="Arial" charset="0"/>
              </a:rPr>
              <a:pPr/>
              <a:t>35</a:t>
            </a:fld>
            <a:endParaRPr lang="en-US">
              <a:latin typeface="Arial" charset="0"/>
            </a:endParaRPr>
          </a:p>
        </p:txBody>
      </p:sp>
      <p:sp>
        <p:nvSpPr>
          <p:cNvPr id="59395" name="Rectangle 2"/>
          <p:cNvSpPr>
            <a:spLocks noGrp="1" noRot="1" noChangeAspect="1" noChangeArrowheads="1" noTextEdit="1"/>
          </p:cNvSpPr>
          <p:nvPr>
            <p:ph type="sldImg"/>
          </p:nvPr>
        </p:nvSpPr>
        <p:spPr>
          <a:xfrm>
            <a:off x="1077913" y="865188"/>
            <a:ext cx="4649787" cy="3489325"/>
          </a:xfrm>
          <a:ln/>
        </p:spPr>
      </p:sp>
      <p:sp>
        <p:nvSpPr>
          <p:cNvPr id="59396"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lvl="1" indent="-171450" algn="just" eaLnBrk="1" hangingPunct="1">
              <a:buFont typeface="Arial" pitchFamily="34" charset="0"/>
              <a:buChar char="•"/>
            </a:pPr>
            <a:r>
              <a:rPr lang="en-AU" dirty="0" smtClean="0"/>
              <a:t>A formal definition for glazing can be found in Part 1.1.1 of NCC Volume Two.</a:t>
            </a:r>
          </a:p>
          <a:p>
            <a:pPr algn="just" eaLnBrk="1" hangingPunct="1"/>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dirty="0" smtClean="0"/>
              <a:t>It is particularly important to note that glazing includes both the glass and frame.  This is because the frame can have a significant effect on the thermal performance of a window or glazed door.</a:t>
            </a:r>
          </a:p>
        </p:txBody>
      </p:sp>
    </p:spTree>
    <p:extLst>
      <p:ext uri="{BB962C8B-B14F-4D97-AF65-F5344CB8AC3E}">
        <p14:creationId xmlns:p14="http://schemas.microsoft.com/office/powerpoint/2010/main" val="2011479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77E6F22E-2B24-4E4F-8A03-A04E3EEDC2F5}" type="slidenum">
              <a:rPr lang="en-US">
                <a:latin typeface="Arial" charset="0"/>
              </a:rPr>
              <a:pPr/>
              <a:t>36</a:t>
            </a:fld>
            <a:endParaRPr lang="en-US">
              <a:latin typeface="Arial" charset="0"/>
            </a:endParaRPr>
          </a:p>
        </p:txBody>
      </p:sp>
      <p:sp>
        <p:nvSpPr>
          <p:cNvPr id="60419" name="Rectangle 2"/>
          <p:cNvSpPr>
            <a:spLocks noGrp="1" noRot="1" noChangeAspect="1" noChangeArrowheads="1" noTextEdit="1"/>
          </p:cNvSpPr>
          <p:nvPr>
            <p:ph type="sldImg"/>
          </p:nvPr>
        </p:nvSpPr>
        <p:spPr>
          <a:xfrm>
            <a:off x="1077913" y="865188"/>
            <a:ext cx="4649787" cy="3489325"/>
          </a:xfrm>
          <a:ln/>
        </p:spPr>
      </p:sp>
      <p:sp>
        <p:nvSpPr>
          <p:cNvPr id="60420"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A formal definition of Total System U-Value can be found in Part 1.1.1 of NCC Volume Two.</a:t>
            </a:r>
          </a:p>
          <a:p>
            <a:pPr marL="628650" lvl="1" indent="-171450" algn="just" eaLnBrk="1" hangingPunct="1">
              <a:buFont typeface="Arial" pitchFamily="34" charset="0"/>
              <a:buChar char="•"/>
            </a:pPr>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r>
              <a:rPr lang="en-AU" dirty="0" smtClean="0"/>
              <a:t>It is particularly important to note that the Total System U-Value of glazing covers both the glass and frame. This is because the frame can have a significant effect on the Total System U-Value of a window or glazed door.</a:t>
            </a:r>
          </a:p>
        </p:txBody>
      </p:sp>
    </p:spTree>
    <p:extLst>
      <p:ext uri="{BB962C8B-B14F-4D97-AF65-F5344CB8AC3E}">
        <p14:creationId xmlns:p14="http://schemas.microsoft.com/office/powerpoint/2010/main" val="9710463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1C8AEBFC-8C0F-421D-B3C5-F2294F6882D0}" type="slidenum">
              <a:rPr lang="en-US">
                <a:latin typeface="Arial" charset="0"/>
              </a:rPr>
              <a:pPr/>
              <a:t>37</a:t>
            </a:fld>
            <a:endParaRPr lang="en-US">
              <a:latin typeface="Arial" charset="0"/>
            </a:endParaRPr>
          </a:p>
        </p:txBody>
      </p:sp>
      <p:sp>
        <p:nvSpPr>
          <p:cNvPr id="61443" name="Rectangle 2"/>
          <p:cNvSpPr>
            <a:spLocks noGrp="1" noRot="1" noChangeAspect="1" noChangeArrowheads="1" noTextEdit="1"/>
          </p:cNvSpPr>
          <p:nvPr>
            <p:ph type="sldImg"/>
          </p:nvPr>
        </p:nvSpPr>
        <p:spPr>
          <a:xfrm>
            <a:off x="1077913" y="865188"/>
            <a:ext cx="4649787" cy="3489325"/>
          </a:xfrm>
          <a:ln/>
        </p:spPr>
      </p:sp>
      <p:sp>
        <p:nvSpPr>
          <p:cNvPr id="61444"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dirty="0" smtClean="0"/>
              <a:t>A formal definition of Total System SHGC can be found in Part 1.1.1 of NCC Volume Two.</a:t>
            </a:r>
          </a:p>
          <a:p>
            <a:pPr marL="628650" marR="0" lvl="1" indent="-171450" algn="just" defTabSz="914400" rtl="0" eaLnBrk="1" fontAlgn="auto" latinLnBrk="0" hangingPunct="1">
              <a:lnSpc>
                <a:spcPct val="100000"/>
              </a:lnSpc>
              <a:spcBef>
                <a:spcPts val="0"/>
              </a:spcBef>
              <a:spcAft>
                <a:spcPts val="0"/>
              </a:spcAft>
              <a:buClrTx/>
              <a:buSzTx/>
              <a:buFont typeface="Arial" pitchFamily="34" charset="0"/>
              <a:buChar char="•"/>
              <a:tabLst/>
              <a:defRPr/>
            </a:pPr>
            <a:endParaRPr lang="en-AU"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AU" b="1" i="0" u="sng" dirty="0" smtClean="0"/>
              <a:t>Background Notes:</a:t>
            </a:r>
          </a:p>
          <a:p>
            <a:pPr algn="just" eaLnBrk="1" hangingPunct="1">
              <a:buFontTx/>
              <a:buNone/>
            </a:pPr>
            <a:r>
              <a:rPr lang="en-AU" dirty="0" smtClean="0"/>
              <a:t>Again, it is important to note that the SHGC of glazing covers both the glass and frame.</a:t>
            </a:r>
          </a:p>
        </p:txBody>
      </p:sp>
    </p:spTree>
    <p:extLst>
      <p:ext uri="{BB962C8B-B14F-4D97-AF65-F5344CB8AC3E}">
        <p14:creationId xmlns:p14="http://schemas.microsoft.com/office/powerpoint/2010/main" val="22123695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892D01E4-46D1-4AE1-9DF6-A1BC856CC93A}" type="slidenum">
              <a:rPr lang="en-US">
                <a:latin typeface="Arial" charset="0"/>
              </a:rPr>
              <a:pPr/>
              <a:t>38</a:t>
            </a:fld>
            <a:endParaRPr lang="en-US">
              <a:latin typeface="Arial" charset="0"/>
            </a:endParaRPr>
          </a:p>
        </p:txBody>
      </p:sp>
      <p:sp>
        <p:nvSpPr>
          <p:cNvPr id="62467" name="Rectangle 2"/>
          <p:cNvSpPr>
            <a:spLocks noGrp="1" noRot="1" noChangeAspect="1" noChangeArrowheads="1" noTextEdit="1"/>
          </p:cNvSpPr>
          <p:nvPr>
            <p:ph type="sldImg"/>
          </p:nvPr>
        </p:nvSpPr>
        <p:spPr>
          <a:xfrm>
            <a:off x="1077913" y="865188"/>
            <a:ext cx="4649787" cy="3489325"/>
          </a:xfrm>
          <a:ln/>
        </p:spPr>
      </p:sp>
      <p:sp>
        <p:nvSpPr>
          <p:cNvPr id="6246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Read the slide.</a:t>
            </a:r>
          </a:p>
          <a:p>
            <a:pPr algn="just" eaLnBrk="1" hangingPunct="1"/>
            <a:endParaRPr lang="en-AU" dirty="0" smtClean="0"/>
          </a:p>
        </p:txBody>
      </p:sp>
    </p:spTree>
    <p:extLst>
      <p:ext uri="{BB962C8B-B14F-4D97-AF65-F5344CB8AC3E}">
        <p14:creationId xmlns:p14="http://schemas.microsoft.com/office/powerpoint/2010/main" val="14605413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3C941D5A-6C05-4065-A074-0CA6E67CA1F9}" type="slidenum">
              <a:rPr lang="en-US">
                <a:latin typeface="Arial" charset="0"/>
              </a:rPr>
              <a:pPr/>
              <a:t>39</a:t>
            </a:fld>
            <a:endParaRPr lang="en-US">
              <a:latin typeface="Arial"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This image will assist you to determine if the design complies.</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b="0" i="0" u="none" baseline="0" dirty="0" smtClean="0"/>
              <a:t>Working time</a:t>
            </a:r>
            <a:r>
              <a:rPr lang="en-AU" b="0" i="0" u="none" baseline="0" dirty="0" smtClean="0"/>
              <a:t>.</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b="0" i="0" u="none" baseline="0" dirty="0" smtClean="0"/>
              <a:t>Alternatively the glazing calculator could be used.</a:t>
            </a:r>
          </a:p>
          <a:p>
            <a:pPr marL="628650" marR="0" lvl="2" indent="-1714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AU" b="0" i="0" u="none" baseline="0" dirty="0" smtClean="0"/>
              <a:t>The glazing calculator for the group exercise has been included in the training package.</a:t>
            </a:r>
            <a:endParaRPr lang="en-US" b="0" i="0" u="none" baseline="0" dirty="0" smtClean="0"/>
          </a:p>
        </p:txBody>
      </p:sp>
    </p:spTree>
    <p:extLst>
      <p:ext uri="{BB962C8B-B14F-4D97-AF65-F5344CB8AC3E}">
        <p14:creationId xmlns:p14="http://schemas.microsoft.com/office/powerpoint/2010/main" val="295971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C27E92A9-FE9A-4DFB-B683-636CED73414C}" type="slidenum">
              <a:rPr lang="en-US">
                <a:latin typeface="Arial" charset="0"/>
              </a:rPr>
              <a:pPr/>
              <a:t>40</a:t>
            </a:fld>
            <a:endParaRPr lang="en-US">
              <a:latin typeface="Arial" charset="0"/>
            </a:endParaRPr>
          </a:p>
        </p:txBody>
      </p:sp>
      <p:sp>
        <p:nvSpPr>
          <p:cNvPr id="67587" name="Rectangle 2"/>
          <p:cNvSpPr>
            <a:spLocks noGrp="1" noRot="1" noChangeAspect="1" noChangeArrowheads="1" noTextEdit="1"/>
          </p:cNvSpPr>
          <p:nvPr>
            <p:ph type="sldImg"/>
          </p:nvPr>
        </p:nvSpPr>
        <p:spPr>
          <a:xfrm>
            <a:off x="1077913" y="865188"/>
            <a:ext cx="4649787" cy="3489325"/>
          </a:xfrm>
          <a:ln/>
        </p:spPr>
      </p:sp>
      <p:sp>
        <p:nvSpPr>
          <p:cNvPr id="67588"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algn="just" eaLnBrk="1" hangingPunct="1">
              <a:buFont typeface="Arial" pitchFamily="34" charset="0"/>
              <a:buChar char="•"/>
            </a:pPr>
            <a:r>
              <a:rPr lang="en-AU" dirty="0" smtClean="0"/>
              <a:t>The glazing calculator confirms that the glazing does not comply for solar heat gain.</a:t>
            </a:r>
          </a:p>
        </p:txBody>
      </p:sp>
    </p:spTree>
    <p:extLst>
      <p:ext uri="{BB962C8B-B14F-4D97-AF65-F5344CB8AC3E}">
        <p14:creationId xmlns:p14="http://schemas.microsoft.com/office/powerpoint/2010/main" val="37262269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24812">
              <a:defRPr>
                <a:solidFill>
                  <a:schemeClr val="tx1"/>
                </a:solidFill>
                <a:latin typeface="Tahoma" pitchFamily="34" charset="0"/>
              </a:defRPr>
            </a:lvl1pPr>
            <a:lvl2pPr marL="717764" indent="-276063" defTabSz="924812">
              <a:defRPr>
                <a:solidFill>
                  <a:schemeClr val="tx1"/>
                </a:solidFill>
                <a:latin typeface="Tahoma" pitchFamily="34" charset="0"/>
              </a:defRPr>
            </a:lvl2pPr>
            <a:lvl3pPr marL="1104252" indent="-220850" defTabSz="924812">
              <a:defRPr>
                <a:solidFill>
                  <a:schemeClr val="tx1"/>
                </a:solidFill>
                <a:latin typeface="Tahoma" pitchFamily="34" charset="0"/>
              </a:defRPr>
            </a:lvl3pPr>
            <a:lvl4pPr marL="1545953" indent="-220850" defTabSz="924812">
              <a:defRPr>
                <a:solidFill>
                  <a:schemeClr val="tx1"/>
                </a:solidFill>
                <a:latin typeface="Tahoma" pitchFamily="34" charset="0"/>
              </a:defRPr>
            </a:lvl4pPr>
            <a:lvl5pPr marL="1987654" indent="-220850" defTabSz="924812">
              <a:defRPr>
                <a:solidFill>
                  <a:schemeClr val="tx1"/>
                </a:solidFill>
                <a:latin typeface="Tahoma" pitchFamily="34" charset="0"/>
              </a:defRPr>
            </a:lvl5pPr>
            <a:lvl6pPr marL="2429355" indent="-220850" algn="r" defTabSz="924812" eaLnBrk="0" fontAlgn="base" hangingPunct="0">
              <a:spcBef>
                <a:spcPct val="0"/>
              </a:spcBef>
              <a:spcAft>
                <a:spcPct val="0"/>
              </a:spcAft>
              <a:defRPr>
                <a:solidFill>
                  <a:schemeClr val="tx1"/>
                </a:solidFill>
                <a:latin typeface="Tahoma" pitchFamily="34" charset="0"/>
              </a:defRPr>
            </a:lvl6pPr>
            <a:lvl7pPr marL="2871056" indent="-220850" algn="r" defTabSz="924812" eaLnBrk="0" fontAlgn="base" hangingPunct="0">
              <a:spcBef>
                <a:spcPct val="0"/>
              </a:spcBef>
              <a:spcAft>
                <a:spcPct val="0"/>
              </a:spcAft>
              <a:defRPr>
                <a:solidFill>
                  <a:schemeClr val="tx1"/>
                </a:solidFill>
                <a:latin typeface="Tahoma" pitchFamily="34" charset="0"/>
              </a:defRPr>
            </a:lvl7pPr>
            <a:lvl8pPr marL="3312757" indent="-220850" algn="r" defTabSz="924812" eaLnBrk="0" fontAlgn="base" hangingPunct="0">
              <a:spcBef>
                <a:spcPct val="0"/>
              </a:spcBef>
              <a:spcAft>
                <a:spcPct val="0"/>
              </a:spcAft>
              <a:defRPr>
                <a:solidFill>
                  <a:schemeClr val="tx1"/>
                </a:solidFill>
                <a:latin typeface="Tahoma" pitchFamily="34" charset="0"/>
              </a:defRPr>
            </a:lvl8pPr>
            <a:lvl9pPr marL="3754458" indent="-220850" algn="r" defTabSz="924812" eaLnBrk="0" fontAlgn="base" hangingPunct="0">
              <a:spcBef>
                <a:spcPct val="0"/>
              </a:spcBef>
              <a:spcAft>
                <a:spcPct val="0"/>
              </a:spcAft>
              <a:defRPr>
                <a:solidFill>
                  <a:schemeClr val="tx1"/>
                </a:solidFill>
                <a:latin typeface="Tahoma" pitchFamily="34" charset="0"/>
              </a:defRPr>
            </a:lvl9pPr>
          </a:lstStyle>
          <a:p>
            <a:fld id="{0ECD9776-CC4E-4D8A-986A-DC448DB31678}" type="slidenum">
              <a:rPr lang="en-US">
                <a:latin typeface="Arial" charset="0"/>
              </a:rPr>
              <a:pPr/>
              <a:t>41</a:t>
            </a:fld>
            <a:endParaRPr lang="en-US">
              <a:latin typeface="Arial" charset="0"/>
            </a:endParaRPr>
          </a:p>
        </p:txBody>
      </p:sp>
      <p:sp>
        <p:nvSpPr>
          <p:cNvPr id="68611" name="Rectangle 2"/>
          <p:cNvSpPr>
            <a:spLocks noGrp="1" noRot="1" noChangeAspect="1" noChangeArrowheads="1" noTextEdit="1"/>
          </p:cNvSpPr>
          <p:nvPr>
            <p:ph type="sldImg"/>
          </p:nvPr>
        </p:nvSpPr>
        <p:spPr>
          <a:xfrm>
            <a:off x="1077913" y="865188"/>
            <a:ext cx="4649787" cy="3489325"/>
          </a:xfrm>
          <a:ln/>
        </p:spPr>
      </p:sp>
      <p:sp>
        <p:nvSpPr>
          <p:cNvPr id="68612" name="Rectangle 3"/>
          <p:cNvSpPr>
            <a:spLocks noGrp="1" noChangeArrowheads="1"/>
          </p:cNvSpPr>
          <p:nvPr>
            <p:ph type="body" idx="1"/>
          </p:nvPr>
        </p:nvSpPr>
        <p:spPr>
          <a:xfrm>
            <a:off x="907010" y="4723768"/>
            <a:ext cx="4991594" cy="4959648"/>
          </a:xfrm>
          <a:noFill/>
        </p:spPr>
        <p:txBody>
          <a:bodyPr/>
          <a:lstStyle/>
          <a:p>
            <a:pPr algn="just" eaLnBrk="1" hangingPunct="1"/>
            <a:r>
              <a:rPr lang="en-US" b="1" i="0" u="none" baseline="0" dirty="0" smtClean="0"/>
              <a:t>Exercise 2</a:t>
            </a:r>
          </a:p>
          <a:p>
            <a:pPr algn="just" eaLnBrk="1" hangingPunct="1"/>
            <a:endParaRPr lang="en-AU" b="1"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Quick Points:</a:t>
            </a:r>
          </a:p>
          <a:p>
            <a:pPr marL="628650" lvl="1" indent="-171450" algn="just" eaLnBrk="1" hangingPunct="1">
              <a:buFont typeface="Arial" pitchFamily="34" charset="0"/>
              <a:buChar char="•"/>
            </a:pPr>
            <a:r>
              <a:rPr lang="en-AU" i="0" dirty="0" smtClean="0"/>
              <a:t>One method to achieve compliance</a:t>
            </a:r>
            <a:r>
              <a:rPr lang="en-AU" i="0" baseline="0" dirty="0" smtClean="0"/>
              <a:t> would be to change </a:t>
            </a:r>
            <a:r>
              <a:rPr lang="en-AU" i="0" dirty="0" smtClean="0"/>
              <a:t>the glazing from standard to tinted and coated (improve</a:t>
            </a:r>
            <a:r>
              <a:rPr lang="en-AU" i="0" baseline="0" dirty="0" smtClean="0"/>
              <a:t> glazing performance)</a:t>
            </a:r>
            <a:r>
              <a:rPr lang="en-AU" i="0" dirty="0" smtClean="0"/>
              <a:t>.</a:t>
            </a:r>
          </a:p>
          <a:p>
            <a:pPr algn="just" eaLnBrk="1" hangingPunct="1"/>
            <a:endParaRPr lang="en-AU" i="0"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b="1" i="0" u="sng" baseline="0" dirty="0" smtClean="0"/>
              <a:t>Background Notes:</a:t>
            </a:r>
          </a:p>
          <a:p>
            <a:pPr algn="just" eaLnBrk="1" hangingPunct="1"/>
            <a:r>
              <a:rPr lang="en-AU" b="1" i="0" dirty="0" smtClean="0"/>
              <a:t>Note:</a:t>
            </a:r>
            <a:r>
              <a:rPr lang="en-AU" i="0" dirty="0" smtClean="0"/>
              <a:t> A building in climate zone 5 has both cooling and heating needs and changing glazing types can improve one aspect to the detriment of the other.</a:t>
            </a:r>
          </a:p>
        </p:txBody>
      </p:sp>
    </p:spTree>
    <p:extLst>
      <p:ext uri="{BB962C8B-B14F-4D97-AF65-F5344CB8AC3E}">
        <p14:creationId xmlns:p14="http://schemas.microsoft.com/office/powerpoint/2010/main" val="40265307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ct val="0"/>
              </a:spcBef>
            </a:pPr>
            <a:r>
              <a:rPr lang="en-AU" b="1" dirty="0" smtClean="0"/>
              <a:t>Australian Building Codes Board</a:t>
            </a:r>
          </a:p>
          <a:p>
            <a:pPr>
              <a:spcBef>
                <a:spcPct val="0"/>
              </a:spcBef>
            </a:pPr>
            <a:endParaRPr lang="en-AU" b="1" u="sng" dirty="0" smtClean="0"/>
          </a:p>
          <a:p>
            <a:pPr>
              <a:spcBef>
                <a:spcPct val="0"/>
              </a:spcBef>
            </a:pPr>
            <a:r>
              <a:rPr lang="en-AU" b="1" u="sng" dirty="0" smtClean="0"/>
              <a:t>Quick Points</a:t>
            </a:r>
            <a:r>
              <a:rPr lang="en-AU" b="1" dirty="0" smtClean="0"/>
              <a:t>:</a:t>
            </a:r>
          </a:p>
          <a:p>
            <a:pPr marL="169850" lvl="0" indent="-171450">
              <a:buFont typeface="Arial" panose="020B0604020202020204" pitchFamily="34" charset="0"/>
              <a:buChar char="•"/>
            </a:pPr>
            <a:r>
              <a:rPr lang="en-AU" dirty="0" smtClean="0"/>
              <a:t>16 ABCB Board members</a:t>
            </a:r>
          </a:p>
          <a:p>
            <a:pPr marL="169850" lvl="0" indent="-171450">
              <a:buFont typeface="Arial" panose="020B0604020202020204" pitchFamily="34" charset="0"/>
              <a:buChar char="•"/>
            </a:pPr>
            <a:r>
              <a:rPr lang="en-AU" dirty="0" smtClean="0"/>
              <a:t>The ABCB Office is based in Canberra.</a:t>
            </a:r>
          </a:p>
          <a:p>
            <a:pPr marL="169850" lvl="0" indent="-171450">
              <a:buFont typeface="Arial" panose="020B0604020202020204" pitchFamily="34" charset="0"/>
              <a:buChar char="•"/>
            </a:pPr>
            <a:r>
              <a:rPr lang="en-AU" dirty="0" smtClean="0"/>
              <a:t>Hosted by the Department of Industry, Innovation and Science.</a:t>
            </a:r>
          </a:p>
          <a:p>
            <a:pPr marL="169850" lvl="0" indent="-171450">
              <a:buFont typeface="Arial" panose="020B0604020202020204" pitchFamily="34" charset="0"/>
              <a:buChar char="•"/>
            </a:pPr>
            <a:r>
              <a:rPr lang="en-AU" dirty="0" smtClean="0"/>
              <a:t>Main role of ABCB is to develop and maintain the NCC.</a:t>
            </a:r>
          </a:p>
          <a:p>
            <a:pPr marL="626450" lvl="1" indent="-170850">
              <a:spcBef>
                <a:spcPct val="0"/>
              </a:spcBef>
              <a:buFont typeface="Wingdings" pitchFamily="2" charset="2"/>
              <a:buChar char="q"/>
            </a:pPr>
            <a:endParaRPr lang="en-AU" dirty="0" smtClean="0"/>
          </a:p>
          <a:p>
            <a:pPr>
              <a:spcBef>
                <a:spcPct val="0"/>
              </a:spcBef>
            </a:pPr>
            <a:r>
              <a:rPr lang="en-AU" b="1" u="sng" dirty="0" smtClean="0"/>
              <a:t>Background Notes</a:t>
            </a:r>
            <a:r>
              <a:rPr lang="en-AU" b="1" dirty="0" smtClean="0"/>
              <a:t>:</a:t>
            </a:r>
          </a:p>
          <a:p>
            <a:pPr>
              <a:spcBef>
                <a:spcPct val="0"/>
              </a:spcBef>
            </a:pPr>
            <a:r>
              <a:rPr lang="en-AU" smtClean="0"/>
              <a:t>The ABCB Board </a:t>
            </a:r>
            <a:r>
              <a:rPr lang="en-AU" dirty="0" smtClean="0"/>
              <a:t>consists of sixteen members including a Chair, the head of each Commonwealth, State and Territory Administration responsible for building matters, up to five industry representatives, and a representative of the Australian Local Government Association.</a:t>
            </a:r>
          </a:p>
          <a:p>
            <a:pPr>
              <a:spcBef>
                <a:spcPct val="0"/>
              </a:spcBef>
            </a:pPr>
            <a:endParaRPr lang="en-AU" dirty="0" smtClean="0"/>
          </a:p>
          <a:p>
            <a:pPr>
              <a:spcBef>
                <a:spcPct val="0"/>
              </a:spcBef>
            </a:pPr>
            <a:r>
              <a:rPr lang="en-AU" dirty="0" smtClean="0"/>
              <a:t>The ABCB Office is based in Canberra and is hosted by the Commonwealth Department of Industry, Innovation</a:t>
            </a:r>
            <a:r>
              <a:rPr lang="en-AU" baseline="0" dirty="0" smtClean="0"/>
              <a:t> and </a:t>
            </a:r>
            <a:r>
              <a:rPr lang="en-AU" dirty="0" smtClean="0"/>
              <a:t>Science (which provides the Secretariat for the Building Ministers’ Forum which</a:t>
            </a:r>
            <a:r>
              <a:rPr lang="en-AU" baseline="0" dirty="0" smtClean="0"/>
              <a:t> consists of the nine Ministers with building and plumbing responsibilities)</a:t>
            </a:r>
            <a:r>
              <a:rPr lang="en-AU" dirty="0" smtClean="0"/>
              <a:t>.</a:t>
            </a:r>
            <a:r>
              <a:rPr lang="en-AU" baseline="0" dirty="0" smtClean="0"/>
              <a:t> </a:t>
            </a:r>
          </a:p>
          <a:p>
            <a:pPr>
              <a:spcBef>
                <a:spcPct val="0"/>
              </a:spcBef>
            </a:pPr>
            <a:endParaRPr lang="en-AU" baseline="0" dirty="0" smtClean="0"/>
          </a:p>
          <a:p>
            <a:pPr>
              <a:spcBef>
                <a:spcPct val="0"/>
              </a:spcBef>
            </a:pPr>
            <a:r>
              <a:rPr lang="en-AU" baseline="0" dirty="0" smtClean="0"/>
              <a:t>For information about the ABCB, the NCC or any supporting materials visit www.abcb.gov.au</a:t>
            </a:r>
            <a:endParaRPr lang="en-AU" dirty="0"/>
          </a:p>
        </p:txBody>
      </p:sp>
      <p:sp>
        <p:nvSpPr>
          <p:cNvPr id="4" name="Slide Number Placeholder 3"/>
          <p:cNvSpPr>
            <a:spLocks noGrp="1"/>
          </p:cNvSpPr>
          <p:nvPr>
            <p:ph type="sldNum" sz="quarter" idx="10"/>
          </p:nvPr>
        </p:nvSpPr>
        <p:spPr/>
        <p:txBody>
          <a:bodyPr/>
          <a:lstStyle/>
          <a:p>
            <a:fld id="{A4DEE4A2-4769-4852-A574-16ABDC8DC3F3}" type="slidenum">
              <a:rPr lang="en-AU" smtClean="0">
                <a:solidFill>
                  <a:prstClr val="black"/>
                </a:solidFill>
              </a:rPr>
              <a:pPr/>
              <a:t>42</a:t>
            </a:fld>
            <a:endParaRPr lang="en-AU" dirty="0">
              <a:solidFill>
                <a:prstClr val="black"/>
              </a:solidFill>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5437962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3"/>
          <p:cNvSpPr>
            <a:spLocks noGrp="1"/>
          </p:cNvSpPr>
          <p:nvPr>
            <p:ph type="sldNum" sz="quarter" idx="5"/>
          </p:nvPr>
        </p:nvSpPr>
        <p:spPr/>
        <p:txBody>
          <a:bodyPr/>
          <a:lstStyle/>
          <a:p>
            <a:fld id="{2DB9ED1B-902C-4B5F-AD53-FBCA82E1AEA9}" type="slidenum">
              <a:rPr lang="en-AU" smtClean="0"/>
              <a:pPr/>
              <a:t>43</a:t>
            </a:fld>
            <a:endParaRPr lang="en-AU"/>
          </a:p>
        </p:txBody>
      </p:sp>
      <p:sp>
        <p:nvSpPr>
          <p:cNvPr id="3" name="Slide Image Placeholder 2"/>
          <p:cNvSpPr>
            <a:spLocks noGrp="1" noRot="1" noChangeAspect="1"/>
          </p:cNvSpPr>
          <p:nvPr>
            <p:ph type="sldImg"/>
          </p:nvPr>
        </p:nvSpPr>
        <p:spPr/>
      </p:sp>
      <p:sp>
        <p:nvSpPr>
          <p:cNvPr id="4" name="Notes Placeholder 3"/>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9634972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Slide Number Placeholder 3"/>
          <p:cNvSpPr>
            <a:spLocks noGrp="1"/>
          </p:cNvSpPr>
          <p:nvPr>
            <p:ph type="sldNum" sz="quarter" idx="5"/>
          </p:nvPr>
        </p:nvSpPr>
        <p:spPr/>
        <p:txBody>
          <a:bodyPr/>
          <a:lstStyle/>
          <a:p>
            <a:fld id="{C09E939D-0E9F-4817-8CB4-87A921B678A5}" type="slidenum">
              <a:rPr lang="en-AU" smtClean="0"/>
              <a:pPr/>
              <a:t>44</a:t>
            </a:fld>
            <a:endParaRPr lang="en-AU"/>
          </a:p>
        </p:txBody>
      </p:sp>
      <p:sp>
        <p:nvSpPr>
          <p:cNvPr id="3" name="Slide Image Placeholder 2"/>
          <p:cNvSpPr>
            <a:spLocks noGrp="1" noRot="1" noChangeAspect="1"/>
          </p:cNvSpPr>
          <p:nvPr>
            <p:ph type="sldImg"/>
          </p:nvPr>
        </p:nvSpPr>
        <p:spPr/>
      </p:sp>
      <p:sp>
        <p:nvSpPr>
          <p:cNvPr id="4" name="Notes Placeholder 3"/>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514700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Slide Number Placeholder 3"/>
          <p:cNvSpPr txBox="1">
            <a:spLocks noGrp="1"/>
          </p:cNvSpPr>
          <p:nvPr/>
        </p:nvSpPr>
        <p:spPr bwMode="auto">
          <a:xfrm>
            <a:off x="3854791" y="9441371"/>
            <a:ext cx="2949301" cy="496427"/>
          </a:xfrm>
          <a:prstGeom prst="rect">
            <a:avLst/>
          </a:prstGeom>
          <a:noFill/>
          <a:ln w="9525">
            <a:noFill/>
            <a:miter lim="800000"/>
            <a:headEnd/>
            <a:tailEnd/>
          </a:ln>
        </p:spPr>
        <p:txBody>
          <a:bodyPr lIns="91521" tIns="45759" rIns="91521" bIns="45759" anchor="b"/>
          <a:lstStyle/>
          <a:p>
            <a:pPr algn="r" defTabSz="915521"/>
            <a:fld id="{839332C3-4241-4D5F-8D59-322D588CE21A}" type="slidenum">
              <a:rPr lang="en-AU" sz="1200">
                <a:latin typeface="Calibri" pitchFamily="34" charset="0"/>
              </a:rPr>
              <a:pPr algn="r" defTabSz="915521"/>
              <a:t>45</a:t>
            </a:fld>
            <a:endParaRPr lang="en-AU" sz="1200">
              <a:latin typeface="Calibri" pitchFamily="34" charset="0"/>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3924980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Slide Number Placeholder 3"/>
          <p:cNvSpPr txBox="1">
            <a:spLocks noGrp="1"/>
          </p:cNvSpPr>
          <p:nvPr/>
        </p:nvSpPr>
        <p:spPr bwMode="auto">
          <a:xfrm>
            <a:off x="3854791" y="9441371"/>
            <a:ext cx="2949301" cy="496427"/>
          </a:xfrm>
          <a:prstGeom prst="rect">
            <a:avLst/>
          </a:prstGeom>
          <a:noFill/>
          <a:ln w="9525">
            <a:noFill/>
            <a:miter lim="800000"/>
            <a:headEnd/>
            <a:tailEnd/>
          </a:ln>
        </p:spPr>
        <p:txBody>
          <a:bodyPr lIns="91521" tIns="45759" rIns="91521" bIns="45759" anchor="b"/>
          <a:lstStyle/>
          <a:p>
            <a:pPr algn="r" defTabSz="915521"/>
            <a:fld id="{839332C3-4241-4D5F-8D59-322D588CE21A}" type="slidenum">
              <a:rPr lang="en-AU" sz="1200">
                <a:latin typeface="Calibri" pitchFamily="34" charset="0"/>
              </a:rPr>
              <a:pPr algn="r" defTabSz="915521"/>
              <a:t>46</a:t>
            </a:fld>
            <a:endParaRPr lang="en-AU" sz="1200">
              <a:latin typeface="Calibri" pitchFamily="34" charset="0"/>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100368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2B741429-73B0-4BA5-9A56-E0EE3FDB811C}" type="datetimeFigureOut">
              <a:rPr lang="en-AU" smtClean="0"/>
              <a:pPr/>
              <a:t>4/08/2016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2B741429-73B0-4BA5-9A56-E0EE3FDB811C}" type="datetimeFigureOut">
              <a:rPr lang="en-AU" smtClean="0"/>
              <a:pPr/>
              <a:t>4/08/2016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741429-73B0-4BA5-9A56-E0EE3FDB811C}" type="datetimeFigureOut">
              <a:rPr lang="en-AU" smtClean="0"/>
              <a:pPr/>
              <a:t>4/08/2016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741429-73B0-4BA5-9A56-E0EE3FDB811C}" type="datetimeFigureOut">
              <a:rPr lang="en-AU" smtClean="0"/>
              <a:pPr/>
              <a:t>4/08/2016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B741429-73B0-4BA5-9A56-E0EE3FDB811C}" type="datetimeFigureOut">
              <a:rPr lang="en-AU" smtClean="0"/>
              <a:pPr/>
              <a:t>4/08/2016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ECFD2C2-8DA3-4BF9-99C8-24FFF70FB40C}" type="slidenum">
              <a:rPr lang="en-AU" smtClean="0"/>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762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457200" y="1927225"/>
            <a:ext cx="4038600" cy="3787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27225"/>
            <a:ext cx="4038600" cy="3787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5"/>
          <p:cNvSpPr>
            <a:spLocks noGrp="1" noChangeArrowheads="1"/>
          </p:cNvSpPr>
          <p:nvPr>
            <p:ph type="dt" sz="half" idx="10"/>
          </p:nvPr>
        </p:nvSpPr>
        <p:spPr>
          <a:ln/>
        </p:spPr>
        <p:txBody>
          <a:bodyPr/>
          <a:lstStyle>
            <a:lvl1pPr>
              <a:defRPr/>
            </a:lvl1pPr>
          </a:lstStyle>
          <a:p>
            <a:pPr>
              <a:defRPr/>
            </a:pPr>
            <a:endParaRPr lang="en-AU"/>
          </a:p>
        </p:txBody>
      </p:sp>
      <p:sp>
        <p:nvSpPr>
          <p:cNvPr id="6" name="Rectangle 6"/>
          <p:cNvSpPr>
            <a:spLocks noGrp="1" noChangeArrowheads="1"/>
          </p:cNvSpPr>
          <p:nvPr>
            <p:ph type="ftr" sz="quarter" idx="11"/>
          </p:nvPr>
        </p:nvSpPr>
        <p:spPr>
          <a:ln/>
        </p:spPr>
        <p:txBody>
          <a:bodyPr/>
          <a:lstStyle>
            <a:lvl1pPr>
              <a:defRPr/>
            </a:lvl1pPr>
          </a:lstStyle>
          <a:p>
            <a:pPr>
              <a:defRPr/>
            </a:pPr>
            <a:endParaRPr lang="en-AU"/>
          </a:p>
        </p:txBody>
      </p:sp>
      <p:sp>
        <p:nvSpPr>
          <p:cNvPr id="7" name="Rectangle 7"/>
          <p:cNvSpPr>
            <a:spLocks noGrp="1" noChangeArrowheads="1"/>
          </p:cNvSpPr>
          <p:nvPr>
            <p:ph type="sldNum" sz="quarter" idx="12"/>
          </p:nvPr>
        </p:nvSpPr>
        <p:spPr>
          <a:ln/>
        </p:spPr>
        <p:txBody>
          <a:bodyPr/>
          <a:lstStyle>
            <a:lvl1pPr>
              <a:defRPr/>
            </a:lvl1pPr>
          </a:lstStyle>
          <a:p>
            <a:pPr>
              <a:defRPr/>
            </a:pPr>
            <a:fld id="{C6E57D0A-1979-4340-BF5B-ACD30AEC4909}" type="slidenum">
              <a:rPr lang="en-AU"/>
              <a:pPr>
                <a:defRPr/>
              </a:pPr>
              <a:t>‹#›</a:t>
            </a:fld>
            <a:endParaRPr lang="en-AU"/>
          </a:p>
        </p:txBody>
      </p:sp>
    </p:spTree>
    <p:extLst>
      <p:ext uri="{BB962C8B-B14F-4D97-AF65-F5344CB8AC3E}">
        <p14:creationId xmlns:p14="http://schemas.microsoft.com/office/powerpoint/2010/main" val="349274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741429-73B0-4BA5-9A56-E0EE3FDB811C}" type="datetimeFigureOut">
              <a:rPr lang="en-AU" smtClean="0"/>
              <a:pPr/>
              <a:t>4/08/2016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CFD2C2-8DA3-4BF9-99C8-24FFF70FB40C}" type="slidenum">
              <a:rPr lang="en-AU" smtClean="0"/>
              <a:pPr/>
              <a:t>‹#›</a:t>
            </a:fld>
            <a:endParaRPr lang="en-AU"/>
          </a:p>
        </p:txBody>
      </p:sp>
      <p:sp>
        <p:nvSpPr>
          <p:cNvPr id="7" name="Rectangle 6"/>
          <p:cNvSpPr/>
          <p:nvPr userDrawn="1"/>
        </p:nvSpPr>
        <p:spPr>
          <a:xfrm rot="5400000">
            <a:off x="3959932" y="-3519772"/>
            <a:ext cx="1152128" cy="8568952"/>
          </a:xfrm>
          <a:prstGeom prst="rect">
            <a:avLst/>
          </a:prstGeom>
          <a:solidFill>
            <a:srgbClr val="1B8B2B"/>
          </a:solidFill>
          <a:ln>
            <a:solidFill>
              <a:srgbClr val="1B8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carousel2bresized.png"/>
          <p:cNvPicPr>
            <a:picLocks noChangeAspect="1"/>
          </p:cNvPicPr>
          <p:nvPr userDrawn="1"/>
        </p:nvPicPr>
        <p:blipFill>
          <a:blip r:embed="rId14" cstate="print"/>
          <a:stretch>
            <a:fillRect/>
          </a:stretch>
        </p:blipFill>
        <p:spPr>
          <a:xfrm>
            <a:off x="7343895" y="1052737"/>
            <a:ext cx="684489" cy="433736"/>
          </a:xfrm>
          <a:prstGeom prst="rect">
            <a:avLst/>
          </a:prstGeom>
          <a:effectLst>
            <a:outerShdw blurRad="50800" dist="38100" dir="13500000" algn="br" rotWithShape="0">
              <a:schemeClr val="bg1">
                <a:alpha val="80000"/>
              </a:schemeClr>
            </a:outerShdw>
          </a:effectLst>
        </p:spPr>
      </p:pic>
      <p:pic>
        <p:nvPicPr>
          <p:cNvPr id="9" name="Picture 8" descr="abcb-2-landing-stock-1.png"/>
          <p:cNvPicPr>
            <a:picLocks noChangeAspect="1"/>
          </p:cNvPicPr>
          <p:nvPr userDrawn="1"/>
        </p:nvPicPr>
        <p:blipFill>
          <a:blip r:embed="rId15" cstate="print"/>
          <a:stretch>
            <a:fillRect/>
          </a:stretch>
        </p:blipFill>
        <p:spPr>
          <a:xfrm>
            <a:off x="6588224" y="1052736"/>
            <a:ext cx="678932" cy="432048"/>
          </a:xfrm>
          <a:prstGeom prst="rect">
            <a:avLst/>
          </a:prstGeom>
          <a:effectLst>
            <a:outerShdw blurRad="50800" dist="38100" dir="13500000" algn="br" rotWithShape="0">
              <a:schemeClr val="bg1">
                <a:alpha val="80000"/>
              </a:schemeClr>
            </a:outerShdw>
          </a:effectLst>
        </p:spPr>
      </p:pic>
      <p:pic>
        <p:nvPicPr>
          <p:cNvPr id="10" name="Picture 9" descr="Stock photo 2.png"/>
          <p:cNvPicPr>
            <a:picLocks noChangeAspect="1"/>
          </p:cNvPicPr>
          <p:nvPr userDrawn="1"/>
        </p:nvPicPr>
        <p:blipFill>
          <a:blip r:embed="rId16" cstate="print"/>
          <a:stretch>
            <a:fillRect/>
          </a:stretch>
        </p:blipFill>
        <p:spPr>
          <a:xfrm>
            <a:off x="8100392" y="1052736"/>
            <a:ext cx="637848" cy="432048"/>
          </a:xfrm>
          <a:prstGeom prst="rect">
            <a:avLst/>
          </a:prstGeom>
          <a:effectLst>
            <a:outerShdw blurRad="50800" dist="38100" dir="13500000" algn="br" rotWithShape="0">
              <a:schemeClr val="bg1">
                <a:alpha val="80000"/>
              </a:schemeClr>
            </a:outerShdw>
          </a:effectLst>
        </p:spPr>
      </p:pic>
      <p:sp>
        <p:nvSpPr>
          <p:cNvPr id="12" name="Rectangle 11"/>
          <p:cNvSpPr/>
          <p:nvPr userDrawn="1"/>
        </p:nvSpPr>
        <p:spPr>
          <a:xfrm>
            <a:off x="251520" y="1484784"/>
            <a:ext cx="1080120" cy="5112568"/>
          </a:xfrm>
          <a:prstGeom prst="rect">
            <a:avLst/>
          </a:prstGeom>
          <a:solidFill>
            <a:srgbClr val="1B8B2B">
              <a:alpha val="80000"/>
            </a:srgbClr>
          </a:solidFill>
          <a:ln>
            <a:solidFill>
              <a:srgbClr val="1DA3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35198" y="401960"/>
            <a:ext cx="512763"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6" descr="http://workspaces/manufacturing/ABCB/Documents/Projects/Communications%20and%20Education/Communications%20and%20Events/Design%20and%20Print/Graphic%20Design/Publications/NCC%20Generic%20Images/NCC_NO_Year_Volume_2_FC_B5_hr.jpg"/>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533477" y="5729016"/>
            <a:ext cx="510131" cy="72432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4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0.jpe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1.jpeg"/><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wmf"/><Relationship Id="rId3" Type="http://schemas.openxmlformats.org/officeDocument/2006/relationships/image" Target="../media/image22.wmf"/><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emf"/><Relationship Id="rId2" Type="http://schemas.openxmlformats.org/officeDocument/2006/relationships/notesSlide" Target="../notesSlides/notesSlide39.xml"/><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5.wmf"/><Relationship Id="rId11" Type="http://schemas.openxmlformats.org/officeDocument/2006/relationships/image" Target="../media/image30.png"/><Relationship Id="rId5" Type="http://schemas.openxmlformats.org/officeDocument/2006/relationships/image" Target="../media/image24.wmf"/><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wmf"/><Relationship Id="rId9" Type="http://schemas.openxmlformats.org/officeDocument/2006/relationships/image" Target="../media/image28.emf"/><Relationship Id="rId1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jpeg"/><Relationship Id="rId7" Type="http://schemas.openxmlformats.org/officeDocument/2006/relationships/image" Target="cid:image002.png@01D16B1B.2112E330" TargetMode="External"/><Relationship Id="rId12"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4.png"/><Relationship Id="rId5" Type="http://schemas.openxmlformats.org/officeDocument/2006/relationships/image" Target="cid:image001.jpg@01D16B1B.2112E330" TargetMode="External"/><Relationship Id="rId10" Type="http://schemas.openxmlformats.org/officeDocument/2006/relationships/hyperlink" Target="http://www.google.com.au/url?q=http://www.steamfeed.com/how-to-twitter-guide-for-twitter/&amp;sa=U&amp;ved=0ahUKEwjUguiy7YLLAhVBYqYKHeqYBzMQwW4IFjAA&amp;usg=AFQjCNGOHri813LyZnuI1X5MtjMrGqKMCg" TargetMode="External"/><Relationship Id="rId4" Type="http://schemas.openxmlformats.org/officeDocument/2006/relationships/image" Target="../media/image41.jpeg"/><Relationship Id="rId9" Type="http://schemas.openxmlformats.org/officeDocument/2006/relationships/image" Target="cid:image003.png@01D16B1B.2112E330"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3" name="Group 14"/>
          <p:cNvGrpSpPr/>
          <p:nvPr/>
        </p:nvGrpSpPr>
        <p:grpSpPr>
          <a:xfrm>
            <a:off x="271125" y="188640"/>
            <a:ext cx="8568952" cy="6408712"/>
            <a:chOff x="251520" y="188640"/>
            <a:chExt cx="8568952" cy="6408712"/>
          </a:xfrm>
        </p:grpSpPr>
        <p:sp>
          <p:nvSpPr>
            <p:cNvPr id="16" name="Rectangle 15"/>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Rectangle 16"/>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2" name="Title 1"/>
          <p:cNvSpPr>
            <a:spLocks noGrp="1"/>
          </p:cNvSpPr>
          <p:nvPr>
            <p:ph type="title"/>
          </p:nvPr>
        </p:nvSpPr>
        <p:spPr>
          <a:xfrm>
            <a:off x="590872" y="188640"/>
            <a:ext cx="8229600" cy="1143000"/>
          </a:xfrm>
        </p:spPr>
        <p:txBody>
          <a:bodyPr>
            <a:normAutofit/>
          </a:bodyPr>
          <a:lstStyle/>
          <a:p>
            <a:pPr fontAlgn="auto">
              <a:spcAft>
                <a:spcPts val="0"/>
              </a:spcAft>
              <a:defRPr/>
            </a:pPr>
            <a:r>
              <a:rPr lang="en-AU" sz="3600" b="1" dirty="0">
                <a:solidFill>
                  <a:schemeClr val="bg1"/>
                </a:solidFill>
                <a:latin typeface="Arial" panose="020B0604020202020204" pitchFamily="34" charset="0"/>
                <a:cs typeface="Arial" panose="020B0604020202020204" pitchFamily="34" charset="0"/>
              </a:rPr>
              <a:t>Presenter Notes</a:t>
            </a:r>
          </a:p>
        </p:txBody>
      </p:sp>
      <p:sp>
        <p:nvSpPr>
          <p:cNvPr id="16387" name="Text Placeholder 7"/>
          <p:cNvSpPr>
            <a:spLocks noGrp="1"/>
          </p:cNvSpPr>
          <p:nvPr>
            <p:ph type="body" idx="1"/>
          </p:nvPr>
        </p:nvSpPr>
        <p:spPr>
          <a:xfrm>
            <a:off x="3203848" y="2060848"/>
            <a:ext cx="3320108" cy="432048"/>
          </a:xfrm>
        </p:spPr>
        <p:txBody>
          <a:bodyPr>
            <a:normAutofit lnSpcReduction="10000"/>
          </a:bodyPr>
          <a:lstStyle/>
          <a:p>
            <a:pPr algn="ctr"/>
            <a:r>
              <a:rPr lang="en-AU" dirty="0" smtClean="0">
                <a:solidFill>
                  <a:srgbClr val="1B8B2B"/>
                </a:solidFill>
                <a:latin typeface="Arial" charset="0"/>
                <a:cs typeface="Arial" charset="0"/>
              </a:rPr>
              <a:t>A free resource from</a:t>
            </a:r>
          </a:p>
        </p:txBody>
      </p:sp>
      <p:pic>
        <p:nvPicPr>
          <p:cNvPr id="16388" name="Content Placeholder 8"/>
          <p:cNvPicPr>
            <a:picLocks noGrp="1" noChangeAspect="1"/>
          </p:cNvPicPr>
          <p:nvPr>
            <p:ph sz="half" idx="2"/>
          </p:nvPr>
        </p:nvPicPr>
        <p:blipFill>
          <a:blip r:embed="rId3" cstate="print"/>
          <a:srcRect/>
          <a:stretch>
            <a:fillRect/>
          </a:stretch>
        </p:blipFill>
        <p:spPr>
          <a:xfrm>
            <a:off x="2166066" y="2908548"/>
            <a:ext cx="1917140" cy="2721794"/>
          </a:xfrm>
        </p:spPr>
      </p:pic>
      <p:pic>
        <p:nvPicPr>
          <p:cNvPr id="5" name="Picture 4"/>
          <p:cNvPicPr>
            <a:picLocks noChangeAspect="1"/>
          </p:cNvPicPr>
          <p:nvPr/>
        </p:nvPicPr>
        <p:blipFill>
          <a:blip r:embed="rId4"/>
          <a:stretch>
            <a:fillRect/>
          </a:stretch>
        </p:blipFill>
        <p:spPr>
          <a:xfrm>
            <a:off x="4268077" y="2554945"/>
            <a:ext cx="4572000" cy="3429000"/>
          </a:xfrm>
          <a:prstGeom prst="rect">
            <a:avLst/>
          </a:prstGeom>
        </p:spPr>
      </p:pic>
    </p:spTree>
    <p:extLst>
      <p:ext uri="{BB962C8B-B14F-4D97-AF65-F5344CB8AC3E}">
        <p14:creationId xmlns:p14="http://schemas.microsoft.com/office/powerpoint/2010/main" val="13110016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grpSp>
        <p:nvGrpSpPr>
          <p:cNvPr id="3" name="Group 14"/>
          <p:cNvGrpSpPr/>
          <p:nvPr/>
        </p:nvGrpSpPr>
        <p:grpSpPr>
          <a:xfrm>
            <a:off x="251520" y="188640"/>
            <a:ext cx="8568952" cy="6408712"/>
            <a:chOff x="251520" y="188640"/>
            <a:chExt cx="8568952" cy="6408712"/>
          </a:xfrm>
        </p:grpSpPr>
        <p:sp>
          <p:nvSpPr>
            <p:cNvPr id="16" name="Rectangle 15"/>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sp>
          <p:nvSpPr>
            <p:cNvPr id="17" name="Rectangle 16"/>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grpSp>
      <p:sp>
        <p:nvSpPr>
          <p:cNvPr id="2" name="Title 1"/>
          <p:cNvSpPr>
            <a:spLocks noGrp="1"/>
          </p:cNvSpPr>
          <p:nvPr>
            <p:ph type="title"/>
          </p:nvPr>
        </p:nvSpPr>
        <p:spPr/>
        <p:txBody>
          <a:bodyPr>
            <a:normAutofit/>
          </a:bodyPr>
          <a:lstStyle/>
          <a:p>
            <a:pPr fontAlgn="auto">
              <a:spcAft>
                <a:spcPts val="0"/>
              </a:spcAft>
              <a:defRPr/>
            </a:pPr>
            <a:r>
              <a:rPr lang="en-AU" sz="3600" b="1" dirty="0" smtClean="0">
                <a:solidFill>
                  <a:schemeClr val="bg1"/>
                </a:solidFill>
                <a:latin typeface="Arial" panose="020B0604020202020204" pitchFamily="34" charset="0"/>
                <a:cs typeface="Arial" panose="020B0604020202020204" pitchFamily="34" charset="0"/>
              </a:rPr>
              <a:t>Presenter Notes</a:t>
            </a:r>
            <a:endParaRPr lang="en-AU" sz="3600" b="1" dirty="0">
              <a:solidFill>
                <a:schemeClr val="bg1"/>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2091111" y="1485344"/>
            <a:ext cx="5937273" cy="5040000"/>
          </a:xfrm>
          <a:prstGeom prst="rect">
            <a:avLst/>
          </a:prstGeom>
        </p:spPr>
      </p:pic>
    </p:spTree>
    <p:extLst>
      <p:ext uri="{BB962C8B-B14F-4D97-AF65-F5344CB8AC3E}">
        <p14:creationId xmlns:p14="http://schemas.microsoft.com/office/powerpoint/2010/main" val="4390270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3" name="Group 6"/>
          <p:cNvGrpSpPr/>
          <p:nvPr/>
        </p:nvGrpSpPr>
        <p:grpSpPr>
          <a:xfrm>
            <a:off x="251520" y="188640"/>
            <a:ext cx="8568952" cy="6408712"/>
            <a:chOff x="251520" y="188640"/>
            <a:chExt cx="8568952" cy="6408712"/>
          </a:xfrm>
        </p:grpSpPr>
        <p:sp>
          <p:nvSpPr>
            <p:cNvPr id="8" name="Rectangle 7"/>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 name="Rectangle 8"/>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bg1"/>
                </a:solidFill>
              </a:endParaRPr>
            </a:p>
          </p:txBody>
        </p:sp>
      </p:grpSp>
      <p:sp>
        <p:nvSpPr>
          <p:cNvPr id="18434" name="Text Placeholder 2"/>
          <p:cNvSpPr>
            <a:spLocks noGrp="1"/>
          </p:cNvSpPr>
          <p:nvPr>
            <p:ph type="body" idx="1"/>
          </p:nvPr>
        </p:nvSpPr>
        <p:spPr>
          <a:xfrm>
            <a:off x="1467916" y="1535113"/>
            <a:ext cx="4040188" cy="639762"/>
          </a:xfrm>
          <a:noFill/>
          <a:ln w="25400">
            <a:solidFill>
              <a:srgbClr val="1B8B2B"/>
            </a:solidFill>
          </a:ln>
        </p:spPr>
        <p:txBody>
          <a:bodyPr/>
          <a:lstStyle/>
          <a:p>
            <a:r>
              <a:rPr lang="en-AU" dirty="0" smtClean="0">
                <a:solidFill>
                  <a:srgbClr val="1B8B2B"/>
                </a:solidFill>
                <a:latin typeface="Arial" charset="0"/>
                <a:cs typeface="Arial" charset="0"/>
              </a:rPr>
              <a:t>PowerPoint Resource</a:t>
            </a:r>
          </a:p>
        </p:txBody>
      </p:sp>
      <p:sp>
        <p:nvSpPr>
          <p:cNvPr id="4" name="Content Placeholder 3"/>
          <p:cNvSpPr>
            <a:spLocks noGrp="1"/>
          </p:cNvSpPr>
          <p:nvPr>
            <p:ph sz="half" idx="2"/>
          </p:nvPr>
        </p:nvSpPr>
        <p:spPr>
          <a:xfrm>
            <a:off x="1467916" y="2174875"/>
            <a:ext cx="4040188" cy="3951288"/>
          </a:xfrm>
          <a:solidFill>
            <a:srgbClr val="1B8B2B">
              <a:alpha val="60000"/>
            </a:srgbClr>
          </a:solidFill>
          <a:ln>
            <a:solidFill>
              <a:srgbClr val="1B8B2B">
                <a:alpha val="60000"/>
              </a:srgbClr>
            </a:solidFill>
          </a:ln>
        </p:spPr>
        <p:txBody>
          <a:bodyPr rtlCol="0">
            <a:normAutofit/>
          </a:bodyPr>
          <a:lstStyle/>
          <a:p>
            <a:pPr marL="0" indent="0" fontAlgn="auto">
              <a:spcAft>
                <a:spcPts val="0"/>
              </a:spcAft>
              <a:buFont typeface="Arial" pitchFamily="34" charset="0"/>
              <a:buNone/>
              <a:defRPr/>
            </a:pPr>
            <a:r>
              <a:rPr lang="en-AU" b="1" u="sng" dirty="0" smtClean="0">
                <a:solidFill>
                  <a:schemeClr val="bg1"/>
                </a:solidFill>
              </a:rPr>
              <a:t>Purpose</a:t>
            </a:r>
            <a:r>
              <a:rPr lang="en-AU" dirty="0" smtClean="0">
                <a:solidFill>
                  <a:schemeClr val="bg1"/>
                </a:solidFill>
              </a:rPr>
              <a:t> </a:t>
            </a:r>
          </a:p>
          <a:p>
            <a:pPr marL="0" indent="0" fontAlgn="auto">
              <a:spcAft>
                <a:spcPts val="0"/>
              </a:spcAft>
              <a:buFont typeface="Arial" pitchFamily="34" charset="0"/>
              <a:buNone/>
              <a:defRPr/>
            </a:pPr>
            <a:r>
              <a:rPr lang="en-AU" dirty="0" smtClean="0">
                <a:solidFill>
                  <a:schemeClr val="bg1"/>
                </a:solidFill>
              </a:rPr>
              <a:t>This PowerPoint is one of a suite of NCC Resource Kits.  It is designed as a teaching resource to be used by teachers, industry associations and employers teaching others involved in energy efficiency building solutions of the NCC.</a:t>
            </a:r>
            <a:endParaRPr lang="en-AU" dirty="0">
              <a:solidFill>
                <a:schemeClr val="bg1"/>
              </a:solidFill>
            </a:endParaRPr>
          </a:p>
        </p:txBody>
      </p:sp>
      <p:sp>
        <p:nvSpPr>
          <p:cNvPr id="18436" name="Text Placeholder 4"/>
          <p:cNvSpPr>
            <a:spLocks noGrp="1"/>
          </p:cNvSpPr>
          <p:nvPr>
            <p:ph type="body" sz="quarter" idx="3"/>
          </p:nvPr>
        </p:nvSpPr>
        <p:spPr>
          <a:xfrm>
            <a:off x="5570785" y="1535113"/>
            <a:ext cx="4041775" cy="639762"/>
          </a:xfrm>
        </p:spPr>
        <p:txBody>
          <a:bodyPr/>
          <a:lstStyle/>
          <a:p>
            <a:r>
              <a:rPr lang="en-AU" dirty="0" smtClean="0">
                <a:solidFill>
                  <a:srgbClr val="1B8B2B"/>
                </a:solidFill>
                <a:latin typeface="Arial" charset="0"/>
                <a:cs typeface="Arial" charset="0"/>
              </a:rPr>
              <a:t>What is included:</a:t>
            </a:r>
          </a:p>
        </p:txBody>
      </p:sp>
      <p:sp>
        <p:nvSpPr>
          <p:cNvPr id="6" name="Content Placeholder 5"/>
          <p:cNvSpPr>
            <a:spLocks noGrp="1"/>
          </p:cNvSpPr>
          <p:nvPr>
            <p:ph sz="quarter" idx="4"/>
          </p:nvPr>
        </p:nvSpPr>
        <p:spPr>
          <a:xfrm>
            <a:off x="5508105" y="2060848"/>
            <a:ext cx="3635896" cy="3951288"/>
          </a:xfrm>
        </p:spPr>
        <p:txBody>
          <a:bodyPr rtlCol="0">
            <a:normAutofit/>
          </a:bodyPr>
          <a:lstStyle/>
          <a:p>
            <a:pPr marL="0" indent="0" fontAlgn="auto">
              <a:spcAft>
                <a:spcPts val="0"/>
              </a:spcAft>
              <a:buFont typeface="Arial" pitchFamily="34" charset="0"/>
              <a:buNone/>
              <a:defRPr/>
            </a:pPr>
            <a:r>
              <a:rPr lang="en-AU" sz="2000" dirty="0" smtClean="0"/>
              <a:t>     Slides with:</a:t>
            </a:r>
          </a:p>
          <a:p>
            <a:pPr fontAlgn="auto">
              <a:spcAft>
                <a:spcPts val="0"/>
              </a:spcAft>
              <a:buFont typeface="Arial" pitchFamily="34" charset="0"/>
              <a:buChar char="•"/>
              <a:defRPr/>
            </a:pPr>
            <a:r>
              <a:rPr lang="en-AU" sz="1800" dirty="0" smtClean="0"/>
              <a:t>Teaching notes </a:t>
            </a:r>
            <a:r>
              <a:rPr lang="en-AU" sz="1400" dirty="0" smtClean="0"/>
              <a:t>(</a:t>
            </a:r>
            <a:r>
              <a:rPr lang="en-AU" sz="1400" dirty="0" smtClean="0">
                <a:hlinkClick r:id="rId3" action="ppaction://hlinksldjump"/>
              </a:rPr>
              <a:t>Tell me more</a:t>
            </a:r>
            <a:r>
              <a:rPr lang="en-AU" sz="1400" dirty="0" smtClean="0"/>
              <a:t>)</a:t>
            </a:r>
            <a:endParaRPr lang="en-AU" dirty="0" smtClean="0"/>
          </a:p>
          <a:p>
            <a:pPr fontAlgn="auto">
              <a:spcAft>
                <a:spcPts val="0"/>
              </a:spcAft>
              <a:buFont typeface="Arial" pitchFamily="34" charset="0"/>
              <a:buChar char="•"/>
              <a:defRPr/>
            </a:pPr>
            <a:r>
              <a:rPr lang="en-AU" sz="1800" dirty="0">
                <a:solidFill>
                  <a:prstClr val="black"/>
                </a:solidFill>
              </a:rPr>
              <a:t>Examples</a:t>
            </a:r>
            <a:r>
              <a:rPr lang="en-AU" sz="2000" dirty="0">
                <a:solidFill>
                  <a:prstClr val="black"/>
                </a:solidFill>
              </a:rPr>
              <a:t> </a:t>
            </a:r>
            <a:r>
              <a:rPr lang="en-AU" sz="1400" dirty="0">
                <a:solidFill>
                  <a:prstClr val="black"/>
                </a:solidFill>
              </a:rPr>
              <a:t>(</a:t>
            </a:r>
            <a:r>
              <a:rPr lang="en-AU" sz="1400" dirty="0">
                <a:solidFill>
                  <a:prstClr val="black"/>
                </a:solidFill>
                <a:hlinkClick r:id="rId4" action="ppaction://hlinksldjump"/>
              </a:rPr>
              <a:t>Tell me more</a:t>
            </a:r>
            <a:r>
              <a:rPr lang="en-AU" sz="1400" dirty="0" smtClean="0">
                <a:solidFill>
                  <a:prstClr val="black"/>
                </a:solidFill>
              </a:rPr>
              <a:t>)</a:t>
            </a:r>
            <a:endParaRPr lang="en-AU" dirty="0" smtClean="0"/>
          </a:p>
          <a:p>
            <a:pPr fontAlgn="auto">
              <a:spcAft>
                <a:spcPts val="0"/>
              </a:spcAft>
              <a:buFont typeface="Arial" pitchFamily="34" charset="0"/>
              <a:buChar char="•"/>
              <a:defRPr/>
            </a:pPr>
            <a:r>
              <a:rPr lang="en-AU" sz="1800" dirty="0"/>
              <a:t>Organised </a:t>
            </a:r>
            <a:r>
              <a:rPr lang="en-AU" sz="1800" dirty="0" smtClean="0"/>
              <a:t>topics </a:t>
            </a:r>
            <a:r>
              <a:rPr lang="en-AU" sz="1400" dirty="0" smtClean="0">
                <a:solidFill>
                  <a:prstClr val="black"/>
                </a:solidFill>
              </a:rPr>
              <a:t>(</a:t>
            </a:r>
            <a:r>
              <a:rPr lang="en-AU" sz="1400" dirty="0" smtClean="0">
                <a:solidFill>
                  <a:prstClr val="black"/>
                </a:solidFill>
                <a:hlinkClick r:id="" action="ppaction://noaction"/>
              </a:rPr>
              <a:t>Tell </a:t>
            </a:r>
            <a:r>
              <a:rPr lang="en-AU" sz="1400" dirty="0">
                <a:solidFill>
                  <a:prstClr val="black"/>
                </a:solidFill>
                <a:hlinkClick r:id="" action="ppaction://noaction"/>
              </a:rPr>
              <a:t>me more</a:t>
            </a:r>
            <a:r>
              <a:rPr lang="en-AU" sz="1400" dirty="0" smtClean="0">
                <a:solidFill>
                  <a:prstClr val="black"/>
                </a:solidFill>
              </a:rPr>
              <a:t>)</a:t>
            </a:r>
            <a:endParaRPr lang="en-AU" dirty="0"/>
          </a:p>
        </p:txBody>
      </p:sp>
      <p:sp>
        <p:nvSpPr>
          <p:cNvPr id="2" name="Title 1"/>
          <p:cNvSpPr>
            <a:spLocks noGrp="1"/>
          </p:cNvSpPr>
          <p:nvPr>
            <p:ph type="title"/>
          </p:nvPr>
        </p:nvSpPr>
        <p:spPr>
          <a:noFill/>
        </p:spPr>
        <p:txBody>
          <a:bodyPr>
            <a:normAutofit/>
          </a:bodyPr>
          <a:lstStyle/>
          <a:p>
            <a:pPr fontAlgn="auto">
              <a:spcAft>
                <a:spcPts val="0"/>
              </a:spcAft>
              <a:defRPr/>
            </a:pPr>
            <a:r>
              <a:rPr lang="en-AU" sz="3600" b="1" dirty="0">
                <a:solidFill>
                  <a:schemeClr val="bg1"/>
                </a:solidFill>
                <a:latin typeface="Arial" panose="020B0604020202020204" pitchFamily="34" charset="0"/>
                <a:cs typeface="Arial" panose="020B0604020202020204" pitchFamily="34" charset="0"/>
              </a:rPr>
              <a:t>Presenter Notes</a:t>
            </a:r>
          </a:p>
        </p:txBody>
      </p:sp>
    </p:spTree>
    <p:extLst>
      <p:ext uri="{BB962C8B-B14F-4D97-AF65-F5344CB8AC3E}">
        <p14:creationId xmlns:p14="http://schemas.microsoft.com/office/powerpoint/2010/main" val="10392969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444208" y="980728"/>
            <a:ext cx="2376264"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532" name="Content Placeholder 2"/>
          <p:cNvSpPr>
            <a:spLocks noGrp="1"/>
          </p:cNvSpPr>
          <p:nvPr>
            <p:ph sz="half" idx="2"/>
          </p:nvPr>
        </p:nvSpPr>
        <p:spPr>
          <a:xfrm>
            <a:off x="2124075" y="2205038"/>
            <a:ext cx="5927725" cy="1536700"/>
          </a:xfrm>
        </p:spPr>
        <p:txBody>
          <a:bodyPr>
            <a:normAutofit fontScale="85000" lnSpcReduction="10000"/>
          </a:bodyPr>
          <a:lstStyle/>
          <a:p>
            <a:r>
              <a:rPr lang="en-AU" sz="3200" b="0" dirty="0" smtClean="0">
                <a:latin typeface="Arial" charset="0"/>
                <a:cs typeface="Arial" charset="0"/>
              </a:rPr>
              <a:t>This PowerPoint Presentation contains only the group exercises developed for the Resource Kit.</a:t>
            </a:r>
          </a:p>
        </p:txBody>
      </p:sp>
      <p:sp>
        <p:nvSpPr>
          <p:cNvPr id="22533" name="Content Placeholder 2"/>
          <p:cNvSpPr>
            <a:spLocks noGrp="1"/>
          </p:cNvSpPr>
          <p:nvPr>
            <p:ph sz="quarter" idx="4"/>
          </p:nvPr>
        </p:nvSpPr>
        <p:spPr>
          <a:xfrm>
            <a:off x="2195513" y="5445125"/>
            <a:ext cx="5929312" cy="1152525"/>
          </a:xfrm>
        </p:spPr>
        <p:txBody>
          <a:bodyPr/>
          <a:lstStyle/>
          <a:p>
            <a:r>
              <a:rPr lang="en-AU" sz="3200" i="1" dirty="0" smtClean="0">
                <a:latin typeface="Arial" charset="0"/>
                <a:cs typeface="Arial" charset="0"/>
              </a:rPr>
              <a:t>The presentation begins on the next slide …</a:t>
            </a:r>
          </a:p>
        </p:txBody>
      </p:sp>
      <p:sp>
        <p:nvSpPr>
          <p:cNvPr id="15" name="Freeform 14"/>
          <p:cNvSpPr/>
          <p:nvPr/>
        </p:nvSpPr>
        <p:spPr>
          <a:xfrm>
            <a:off x="2195736" y="3933056"/>
            <a:ext cx="6096000" cy="1268760"/>
          </a:xfrm>
          <a:custGeom>
            <a:avLst/>
            <a:gdLst>
              <a:gd name="connsiteX0" fmla="*/ 0 w 6096000"/>
              <a:gd name="connsiteY0" fmla="*/ 126876 h 1268760"/>
              <a:gd name="connsiteX1" fmla="*/ 37161 w 6096000"/>
              <a:gd name="connsiteY1" fmla="*/ 37161 h 1268760"/>
              <a:gd name="connsiteX2" fmla="*/ 126876 w 6096000"/>
              <a:gd name="connsiteY2" fmla="*/ 0 h 1268760"/>
              <a:gd name="connsiteX3" fmla="*/ 5969124 w 6096000"/>
              <a:gd name="connsiteY3" fmla="*/ 0 h 1268760"/>
              <a:gd name="connsiteX4" fmla="*/ 6058839 w 6096000"/>
              <a:gd name="connsiteY4" fmla="*/ 37161 h 1268760"/>
              <a:gd name="connsiteX5" fmla="*/ 6096000 w 6096000"/>
              <a:gd name="connsiteY5" fmla="*/ 126876 h 1268760"/>
              <a:gd name="connsiteX6" fmla="*/ 6096000 w 6096000"/>
              <a:gd name="connsiteY6" fmla="*/ 1141884 h 1268760"/>
              <a:gd name="connsiteX7" fmla="*/ 6058839 w 6096000"/>
              <a:gd name="connsiteY7" fmla="*/ 1231599 h 1268760"/>
              <a:gd name="connsiteX8" fmla="*/ 5969124 w 6096000"/>
              <a:gd name="connsiteY8" fmla="*/ 1268760 h 1268760"/>
              <a:gd name="connsiteX9" fmla="*/ 126876 w 6096000"/>
              <a:gd name="connsiteY9" fmla="*/ 1268760 h 1268760"/>
              <a:gd name="connsiteX10" fmla="*/ 37161 w 6096000"/>
              <a:gd name="connsiteY10" fmla="*/ 1231599 h 1268760"/>
              <a:gd name="connsiteX11" fmla="*/ 0 w 6096000"/>
              <a:gd name="connsiteY11" fmla="*/ 1141884 h 1268760"/>
              <a:gd name="connsiteX12" fmla="*/ 0 w 6096000"/>
              <a:gd name="connsiteY12" fmla="*/ 126876 h 126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96000" h="1268760">
                <a:moveTo>
                  <a:pt x="0" y="126876"/>
                </a:moveTo>
                <a:cubicBezTo>
                  <a:pt x="0" y="93226"/>
                  <a:pt x="13367" y="60955"/>
                  <a:pt x="37161" y="37161"/>
                </a:cubicBezTo>
                <a:cubicBezTo>
                  <a:pt x="60955" y="13367"/>
                  <a:pt x="93226" y="0"/>
                  <a:pt x="126876" y="0"/>
                </a:cubicBezTo>
                <a:lnTo>
                  <a:pt x="5969124" y="0"/>
                </a:lnTo>
                <a:cubicBezTo>
                  <a:pt x="6002774" y="0"/>
                  <a:pt x="6035045" y="13367"/>
                  <a:pt x="6058839" y="37161"/>
                </a:cubicBezTo>
                <a:cubicBezTo>
                  <a:pt x="6082633" y="60955"/>
                  <a:pt x="6096000" y="93226"/>
                  <a:pt x="6096000" y="126876"/>
                </a:cubicBezTo>
                <a:lnTo>
                  <a:pt x="6096000" y="1141884"/>
                </a:lnTo>
                <a:cubicBezTo>
                  <a:pt x="6096000" y="1175534"/>
                  <a:pt x="6082633" y="1207805"/>
                  <a:pt x="6058839" y="1231599"/>
                </a:cubicBezTo>
                <a:cubicBezTo>
                  <a:pt x="6035045" y="1255393"/>
                  <a:pt x="6002774" y="1268760"/>
                  <a:pt x="5969124" y="1268760"/>
                </a:cubicBezTo>
                <a:lnTo>
                  <a:pt x="126876" y="1268760"/>
                </a:lnTo>
                <a:cubicBezTo>
                  <a:pt x="93226" y="1268760"/>
                  <a:pt x="60955" y="1255393"/>
                  <a:pt x="37161" y="1231599"/>
                </a:cubicBezTo>
                <a:cubicBezTo>
                  <a:pt x="13367" y="1207805"/>
                  <a:pt x="0" y="1175534"/>
                  <a:pt x="0" y="1141884"/>
                </a:cubicBezTo>
                <a:lnTo>
                  <a:pt x="0" y="126876"/>
                </a:lnTo>
                <a:close/>
              </a:path>
            </a:pathLst>
          </a:custGeom>
          <a:solidFill>
            <a:srgbClr val="1B8B2B"/>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452756" tIns="106680" rIns="106680" bIns="106680" numCol="1" spcCol="1270" anchor="ctr" anchorCtr="0">
            <a:noAutofit/>
          </a:bodyPr>
          <a:lstStyle/>
          <a:p>
            <a:pPr lvl="0" algn="l" defTabSz="1244600">
              <a:lnSpc>
                <a:spcPct val="90000"/>
              </a:lnSpc>
              <a:spcBef>
                <a:spcPct val="0"/>
              </a:spcBef>
              <a:spcAft>
                <a:spcPct val="35000"/>
              </a:spcAft>
            </a:pPr>
            <a:r>
              <a:rPr lang="en-AU" sz="2800" kern="1200" dirty="0" smtClean="0"/>
              <a:t>Group Exercises</a:t>
            </a:r>
            <a:endParaRPr lang="en-AU" sz="1600" kern="1200" dirty="0"/>
          </a:p>
        </p:txBody>
      </p:sp>
      <p:sp>
        <p:nvSpPr>
          <p:cNvPr id="2" name="Title 1"/>
          <p:cNvSpPr>
            <a:spLocks noGrp="1"/>
          </p:cNvSpPr>
          <p:nvPr>
            <p:ph type="title"/>
          </p:nvPr>
        </p:nvSpPr>
        <p:spPr>
          <a:xfrm>
            <a:off x="662880" y="188640"/>
            <a:ext cx="8229600" cy="1143000"/>
          </a:xfrm>
        </p:spPr>
        <p:txBody>
          <a:bodyPr/>
          <a:lstStyle/>
          <a:p>
            <a:pPr fontAlgn="auto">
              <a:spcAft>
                <a:spcPts val="0"/>
              </a:spcAft>
              <a:defRPr/>
            </a:pPr>
            <a:r>
              <a:rPr lang="en-AU" dirty="0" smtClean="0">
                <a:solidFill>
                  <a:schemeClr val="bg1"/>
                </a:solidFill>
              </a:rPr>
              <a:t>Presenter Notes</a:t>
            </a:r>
            <a:endParaRPr lang="en-AU" dirty="0">
              <a:solidFill>
                <a:schemeClr val="bg1"/>
              </a:solidFill>
            </a:endParaRPr>
          </a:p>
        </p:txBody>
      </p:sp>
      <p:grpSp>
        <p:nvGrpSpPr>
          <p:cNvPr id="3" name="Group 11"/>
          <p:cNvGrpSpPr/>
          <p:nvPr/>
        </p:nvGrpSpPr>
        <p:grpSpPr>
          <a:xfrm>
            <a:off x="251520" y="188640"/>
            <a:ext cx="8568952" cy="6408712"/>
            <a:chOff x="251520" y="188640"/>
            <a:chExt cx="8568952" cy="6408712"/>
          </a:xfrm>
        </p:grpSpPr>
        <p:sp>
          <p:nvSpPr>
            <p:cNvPr id="13" name="Rectangle 12"/>
            <p:cNvSpPr/>
            <p:nvPr/>
          </p:nvSpPr>
          <p:spPr>
            <a:xfrm>
              <a:off x="251520" y="188640"/>
              <a:ext cx="1080120" cy="64087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Rectangle 13"/>
            <p:cNvSpPr/>
            <p:nvPr/>
          </p:nvSpPr>
          <p:spPr>
            <a:xfrm rot="5400000">
              <a:off x="4499992" y="-2979712"/>
              <a:ext cx="1152128" cy="74888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40632" y="4149080"/>
            <a:ext cx="1170130" cy="864096"/>
          </a:xfrm>
          <a:prstGeom prst="rect">
            <a:avLst/>
          </a:prstGeom>
          <a:noFill/>
          <a:ln w="9525">
            <a:noFill/>
            <a:miter lim="800000"/>
            <a:headEnd/>
            <a:tailEnd/>
          </a:ln>
        </p:spPr>
      </p:pic>
      <p:sp>
        <p:nvSpPr>
          <p:cNvPr id="4" name="Rectangle 3"/>
          <p:cNvSpPr/>
          <p:nvPr/>
        </p:nvSpPr>
        <p:spPr>
          <a:xfrm>
            <a:off x="3214008" y="432718"/>
            <a:ext cx="3724096" cy="646331"/>
          </a:xfrm>
          <a:prstGeom prst="rect">
            <a:avLst/>
          </a:prstGeom>
        </p:spPr>
        <p:txBody>
          <a:bodyPr wrap="none">
            <a:spAutoFit/>
          </a:bodyPr>
          <a:lstStyle/>
          <a:p>
            <a:r>
              <a:rPr lang="en-AU" sz="3600" b="1" dirty="0">
                <a:solidFill>
                  <a:schemeClr val="bg1"/>
                </a:solidFill>
                <a:latin typeface="Arial" panose="020B0604020202020204" pitchFamily="34" charset="0"/>
                <a:ea typeface="+mj-ea"/>
                <a:cs typeface="Arial" panose="020B0604020202020204" pitchFamily="34" charset="0"/>
              </a:rPr>
              <a:t>Presenter Notes</a:t>
            </a:r>
          </a:p>
        </p:txBody>
      </p:sp>
    </p:spTree>
    <p:extLst>
      <p:ext uri="{BB962C8B-B14F-4D97-AF65-F5344CB8AC3E}">
        <p14:creationId xmlns:p14="http://schemas.microsoft.com/office/powerpoint/2010/main" val="3714087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251520" y="188640"/>
            <a:ext cx="8712968" cy="1152128"/>
          </a:xfrm>
          <a:prstGeom prst="rect">
            <a:avLst/>
          </a:prstGeom>
          <a:solidFill>
            <a:srgbClr val="1B8B2B"/>
          </a:solidFill>
          <a:ln>
            <a:solidFill>
              <a:srgbClr val="1B8B2B">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Rectangle 9"/>
          <p:cNvSpPr/>
          <p:nvPr/>
        </p:nvSpPr>
        <p:spPr>
          <a:xfrm>
            <a:off x="179512" y="1412776"/>
            <a:ext cx="1224136" cy="5256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Rectangle 6"/>
          <p:cNvSpPr/>
          <p:nvPr/>
        </p:nvSpPr>
        <p:spPr>
          <a:xfrm>
            <a:off x="6444208" y="1196752"/>
            <a:ext cx="2376264"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Rectangle 7"/>
          <p:cNvSpPr/>
          <p:nvPr/>
        </p:nvSpPr>
        <p:spPr>
          <a:xfrm>
            <a:off x="1259632" y="188640"/>
            <a:ext cx="7704856" cy="1152128"/>
          </a:xfrm>
          <a:prstGeom prst="rect">
            <a:avLst/>
          </a:prstGeom>
          <a:solidFill>
            <a:srgbClr val="1B8B2B"/>
          </a:solidFill>
          <a:ln>
            <a:solidFill>
              <a:srgbClr val="1B8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Rectangle 10"/>
          <p:cNvSpPr/>
          <p:nvPr/>
        </p:nvSpPr>
        <p:spPr>
          <a:xfrm>
            <a:off x="2582680" y="191542"/>
            <a:ext cx="4057521" cy="1200329"/>
          </a:xfrm>
          <a:prstGeom prst="rect">
            <a:avLst/>
          </a:prstGeom>
          <a:noFill/>
        </p:spPr>
        <p:txBody>
          <a:bodyPr wrap="none" lIns="91440" tIns="45720" rIns="91440" bIns="45720">
            <a:spAutoFit/>
          </a:bodyPr>
          <a:lstStyle/>
          <a:p>
            <a:pPr algn="ctr"/>
            <a:r>
              <a:rPr lang="en-US"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60000" endA="900" endPos="60000" dist="29997" dir="5400000" sy="-100000" algn="bl" rotWithShape="0"/>
                </a:effectLst>
                <a:latin typeface="Arial" pitchFamily="34" charset="0"/>
                <a:cs typeface="Arial" pitchFamily="34" charset="0"/>
              </a:rPr>
              <a:t>NCC Volume Two</a:t>
            </a:r>
          </a:p>
          <a:p>
            <a:pPr algn="ctr"/>
            <a:r>
              <a:rPr lang="en-US"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60000" endA="900" endPos="60000" dist="29997" dir="5400000" sy="-100000" algn="bl" rotWithShape="0"/>
                </a:effectLst>
                <a:latin typeface="Arial" pitchFamily="34" charset="0"/>
                <a:cs typeface="Arial" pitchFamily="34" charset="0"/>
              </a:rPr>
              <a:t>Energy Efficiency</a:t>
            </a:r>
          </a:p>
        </p:txBody>
      </p:sp>
      <p:sp>
        <p:nvSpPr>
          <p:cNvPr id="21" name="Rectangle 20"/>
          <p:cNvSpPr/>
          <p:nvPr/>
        </p:nvSpPr>
        <p:spPr>
          <a:xfrm>
            <a:off x="251520" y="1484784"/>
            <a:ext cx="3096344" cy="5112568"/>
          </a:xfrm>
          <a:prstGeom prst="rect">
            <a:avLst/>
          </a:prstGeom>
          <a:solidFill>
            <a:srgbClr val="1B8B2B">
              <a:alpha val="80000"/>
            </a:srgbClr>
          </a:solidFill>
          <a:ln>
            <a:solidFill>
              <a:srgbClr val="1B8B2B">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TextBox 19"/>
          <p:cNvSpPr txBox="1"/>
          <p:nvPr/>
        </p:nvSpPr>
        <p:spPr>
          <a:xfrm>
            <a:off x="323528" y="2457072"/>
            <a:ext cx="2448272" cy="4031873"/>
          </a:xfrm>
          <a:prstGeom prst="rect">
            <a:avLst/>
          </a:prstGeom>
          <a:noFill/>
        </p:spPr>
        <p:txBody>
          <a:bodyPr wrap="square" rtlCol="0">
            <a:spAutoFit/>
          </a:bodyPr>
          <a:lstStyle/>
          <a:p>
            <a:pPr algn="ctr"/>
            <a:r>
              <a:rPr lang="en-AU" sz="2800" dirty="0" smtClean="0">
                <a:solidFill>
                  <a:schemeClr val="bg1"/>
                </a:solidFill>
                <a:latin typeface="Arial" pitchFamily="34" charset="0"/>
                <a:cs typeface="Arial" pitchFamily="34" charset="0"/>
              </a:rPr>
              <a:t>Group Exercises</a:t>
            </a:r>
          </a:p>
          <a:p>
            <a:pPr algn="ctr"/>
            <a:endParaRPr lang="en-AU" sz="3200" dirty="0">
              <a:solidFill>
                <a:schemeClr val="bg1"/>
              </a:solidFill>
              <a:latin typeface="Arial" pitchFamily="34" charset="0"/>
              <a:cs typeface="Arial" pitchFamily="34" charset="0"/>
            </a:endParaRPr>
          </a:p>
          <a:p>
            <a:pPr algn="ctr"/>
            <a:endParaRPr lang="en-AU" sz="3200" dirty="0" smtClean="0">
              <a:solidFill>
                <a:schemeClr val="bg1"/>
              </a:solidFill>
              <a:latin typeface="Arial" pitchFamily="34" charset="0"/>
              <a:cs typeface="Arial" pitchFamily="34" charset="0"/>
            </a:endParaRPr>
          </a:p>
          <a:p>
            <a:pPr algn="ctr"/>
            <a:r>
              <a:rPr lang="en-AU" sz="3200" dirty="0" smtClean="0">
                <a:solidFill>
                  <a:schemeClr val="bg1"/>
                </a:solidFill>
                <a:latin typeface="Arial" pitchFamily="34" charset="0"/>
                <a:cs typeface="Arial" pitchFamily="34" charset="0"/>
              </a:rPr>
              <a:t>What Practitioners Need to </a:t>
            </a:r>
          </a:p>
          <a:p>
            <a:pPr algn="ctr"/>
            <a:r>
              <a:rPr lang="en-AU" sz="3200" dirty="0" smtClean="0">
                <a:solidFill>
                  <a:schemeClr val="bg1"/>
                </a:solidFill>
                <a:latin typeface="Arial" pitchFamily="34" charset="0"/>
                <a:cs typeface="Arial" pitchFamily="34" charset="0"/>
              </a:rPr>
              <a:t>Know</a:t>
            </a:r>
            <a:endParaRPr lang="en-AU" sz="3200" dirty="0">
              <a:solidFill>
                <a:schemeClr val="bg1"/>
              </a:solidFill>
              <a:latin typeface="Arial" pitchFamily="34" charset="0"/>
              <a:cs typeface="Arial" pitchFamily="34" charset="0"/>
            </a:endParaRPr>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1880" y="1484786"/>
            <a:ext cx="2702435" cy="2376262"/>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1880" y="4077072"/>
            <a:ext cx="2702435" cy="2520280"/>
          </a:xfrm>
          <a:prstGeom prst="rect">
            <a:avLst/>
          </a:prstGeom>
        </p:spPr>
      </p:pic>
      <p:pic>
        <p:nvPicPr>
          <p:cNvPr id="28" name="Content Placeholder 11" descr="abcb-2-landing-stock-1.png"/>
          <p:cNvPicPr>
            <a:picLocks noGrp="1"/>
          </p:cNvPicPr>
          <p:nvPr>
            <p:ph sz="quarter" idx="4"/>
          </p:nvPr>
        </p:nvPicPr>
        <p:blipFill>
          <a:blip r:embed="rId5" cstate="print"/>
          <a:srcRect b="2857"/>
          <a:stretch>
            <a:fillRect/>
          </a:stretch>
        </p:blipFill>
        <p:spPr>
          <a:xfrm>
            <a:off x="2915816" y="1945634"/>
            <a:ext cx="1080000" cy="979310"/>
          </a:xfrm>
          <a:effectLst>
            <a:outerShdw sx="125000" sy="125000" algn="ctr" rotWithShape="0">
              <a:schemeClr val="bg1"/>
            </a:outerShdw>
          </a:effectLst>
        </p:spPr>
      </p:pic>
      <p:pic>
        <p:nvPicPr>
          <p:cNvPr id="29" name="Picture 28" descr="carousel2bresized.png"/>
          <p:cNvPicPr>
            <a:picLocks noChangeAspect="1"/>
          </p:cNvPicPr>
          <p:nvPr/>
        </p:nvPicPr>
        <p:blipFill>
          <a:blip r:embed="rId6" cstate="print"/>
          <a:stretch>
            <a:fillRect/>
          </a:stretch>
        </p:blipFill>
        <p:spPr>
          <a:xfrm>
            <a:off x="2915816" y="3501009"/>
            <a:ext cx="1080119" cy="972000"/>
          </a:xfrm>
          <a:prstGeom prst="rect">
            <a:avLst/>
          </a:prstGeom>
          <a:effectLst>
            <a:outerShdw sx="125000" sy="125000" algn="ctr" rotWithShape="0">
              <a:schemeClr val="bg1"/>
            </a:outerShdw>
          </a:effectLst>
        </p:spPr>
      </p:pic>
      <p:pic>
        <p:nvPicPr>
          <p:cNvPr id="30" name="Picture 29" descr="Stock photo 2.png"/>
          <p:cNvPicPr>
            <a:picLocks noChangeAspect="1"/>
          </p:cNvPicPr>
          <p:nvPr/>
        </p:nvPicPr>
        <p:blipFill>
          <a:blip r:embed="rId7" cstate="print"/>
          <a:stretch>
            <a:fillRect/>
          </a:stretch>
        </p:blipFill>
        <p:spPr>
          <a:xfrm>
            <a:off x="2915936" y="5121296"/>
            <a:ext cx="1080000" cy="972000"/>
          </a:xfrm>
          <a:prstGeom prst="rect">
            <a:avLst/>
          </a:prstGeom>
          <a:effectLst>
            <a:outerShdw sx="125000" sy="125000" algn="ctr" rotWithShape="0">
              <a:schemeClr val="bg1"/>
            </a:outerShdw>
          </a:effectLst>
        </p:spPr>
      </p:pic>
      <p:pic>
        <p:nvPicPr>
          <p:cNvPr id="31" name="Picture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62524" y="4077072"/>
            <a:ext cx="2592287" cy="2520280"/>
          </a:xfrm>
          <a:prstGeom prst="rect">
            <a:avLst/>
          </a:prstGeom>
          <a:ln w="3175">
            <a:solidFill>
              <a:schemeClr val="tx1">
                <a:lumMod val="65000"/>
                <a:lumOff val="35000"/>
              </a:schemeClr>
            </a:solidFill>
          </a:ln>
        </p:spPr>
      </p:pic>
      <p:pic>
        <p:nvPicPr>
          <p:cNvPr id="32" name="Picture 3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62524" y="1484786"/>
            <a:ext cx="2592288" cy="2376262"/>
          </a:xfrm>
          <a:prstGeom prst="rect">
            <a:avLst/>
          </a:prstGeom>
        </p:spPr>
      </p:pic>
    </p:spTree>
    <p:extLst>
      <p:ext uri="{BB962C8B-B14F-4D97-AF65-F5344CB8AC3E}">
        <p14:creationId xmlns:p14="http://schemas.microsoft.com/office/powerpoint/2010/main" val="1003016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hlinkClick r:id="" action="ppaction://noaction"/>
          </p:cNvPr>
          <p:cNvSpPr/>
          <p:nvPr/>
        </p:nvSpPr>
        <p:spPr>
          <a:xfrm>
            <a:off x="3059832" y="2204864"/>
            <a:ext cx="3528392" cy="864096"/>
          </a:xfrm>
          <a:prstGeom prst="rect">
            <a:avLst/>
          </a:prstGeom>
          <a:solidFill>
            <a:srgbClr val="1B8B2B">
              <a:alpha val="50000"/>
            </a:srgbClr>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Building Fabric</a:t>
            </a:r>
            <a:endParaRPr lang="en-AU" sz="2000" b="1" dirty="0">
              <a:solidFill>
                <a:prstClr val="white"/>
              </a:solidFill>
            </a:endParaRPr>
          </a:p>
        </p:txBody>
      </p:sp>
      <p:sp>
        <p:nvSpPr>
          <p:cNvPr id="15" name="Rectangle 14">
            <a:hlinkClick r:id="rId3" action="ppaction://hlinksldjump"/>
          </p:cNvPr>
          <p:cNvSpPr/>
          <p:nvPr/>
        </p:nvSpPr>
        <p:spPr>
          <a:xfrm>
            <a:off x="3090272" y="3402320"/>
            <a:ext cx="3497952" cy="857632"/>
          </a:xfrm>
          <a:prstGeom prst="rect">
            <a:avLst/>
          </a:prstGeom>
          <a:solidFill>
            <a:srgbClr val="1B8B2B"/>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Glazing</a:t>
            </a:r>
            <a:endParaRPr lang="en-AU" sz="2000" b="1" dirty="0">
              <a:solidFill>
                <a:prstClr val="white"/>
              </a:solidFill>
            </a:endParaRPr>
          </a:p>
        </p:txBody>
      </p:sp>
      <p:sp>
        <p:nvSpPr>
          <p:cNvPr id="16" name="Rectangle 1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Table of Contents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766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1331640" y="1968624"/>
            <a:ext cx="7355160" cy="4124672"/>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a:buClr>
                <a:schemeClr val="tx1"/>
              </a:buClr>
              <a:buSzPct val="120000"/>
            </a:pPr>
            <a:r>
              <a:rPr lang="en-US" dirty="0" smtClean="0"/>
              <a:t>The purpose of this exercise is to teach participants how to correctly interpret and apply the elemental energy efficiency Deemed-to-Satisfy Provisions for the fabric of houses.</a:t>
            </a:r>
          </a:p>
          <a:p>
            <a:pPr>
              <a:buClr>
                <a:schemeClr val="tx1"/>
              </a:buClr>
              <a:buSzPct val="120000"/>
            </a:pPr>
            <a:r>
              <a:rPr lang="en-US" dirty="0" smtClean="0"/>
              <a:t>To understand the principles behind these provisions, we will look at how the provisions relate to the roofs of houses.</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 – Objective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63744584"/>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331640" y="1581249"/>
            <a:ext cx="7355160" cy="5179283"/>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marL="476250" indent="-476250" eaLnBrk="1" hangingPunct="1">
              <a:lnSpc>
                <a:spcPct val="90000"/>
              </a:lnSpc>
              <a:buClr>
                <a:schemeClr val="tx1"/>
              </a:buClr>
              <a:buSzPct val="120000"/>
              <a:buFont typeface="Monotype Sorts" pitchFamily="2" charset="2"/>
              <a:buNone/>
            </a:pPr>
            <a:r>
              <a:rPr lang="en-US" sz="2400" dirty="0" smtClean="0"/>
              <a:t>On completion of this exercise, participants should be able to–</a:t>
            </a:r>
          </a:p>
          <a:p>
            <a:pPr>
              <a:lnSpc>
                <a:spcPct val="90000"/>
              </a:lnSpc>
              <a:buClr>
                <a:schemeClr val="tx1"/>
              </a:buClr>
              <a:buSzPct val="120000"/>
            </a:pPr>
            <a:r>
              <a:rPr lang="en-US" sz="2400" dirty="0" smtClean="0"/>
              <a:t>Understand the meaning of R-Value.</a:t>
            </a:r>
          </a:p>
          <a:p>
            <a:pPr>
              <a:lnSpc>
                <a:spcPct val="90000"/>
              </a:lnSpc>
              <a:buClr>
                <a:schemeClr val="tx1"/>
              </a:buClr>
              <a:buSzPct val="120000"/>
            </a:pPr>
            <a:r>
              <a:rPr lang="en-US" sz="2400" dirty="0" err="1" smtClean="0"/>
              <a:t>Recognise</a:t>
            </a:r>
            <a:r>
              <a:rPr lang="en-US" sz="2400" dirty="0" smtClean="0"/>
              <a:t> the difference between R-Value and Total R-Value.</a:t>
            </a:r>
          </a:p>
          <a:p>
            <a:pPr>
              <a:lnSpc>
                <a:spcPct val="90000"/>
              </a:lnSpc>
              <a:buClr>
                <a:schemeClr val="tx1"/>
              </a:buClr>
              <a:buSzPct val="120000"/>
            </a:pPr>
            <a:r>
              <a:rPr lang="en-US" sz="2400" dirty="0" smtClean="0"/>
              <a:t>Identify those Deemed-to-Satisfy Provisions that prescribe minimum Total R-Values for building elements.</a:t>
            </a:r>
          </a:p>
          <a:p>
            <a:pPr>
              <a:lnSpc>
                <a:spcPct val="90000"/>
              </a:lnSpc>
              <a:buClr>
                <a:schemeClr val="tx1"/>
              </a:buClr>
              <a:buSzPct val="120000"/>
            </a:pPr>
            <a:r>
              <a:rPr lang="en-US" sz="2400" dirty="0" smtClean="0"/>
              <a:t>Identify the minimum Total R-Value for roofs in a given location.</a:t>
            </a:r>
          </a:p>
          <a:p>
            <a:pPr>
              <a:lnSpc>
                <a:spcPct val="90000"/>
              </a:lnSpc>
              <a:buClr>
                <a:schemeClr val="tx1"/>
              </a:buClr>
              <a:buSzPct val="120000"/>
            </a:pPr>
            <a:r>
              <a:rPr lang="en-US" sz="2400" dirty="0" smtClean="0"/>
              <a:t>Determine the Total R-Value of a particular form of roof construction.</a:t>
            </a:r>
          </a:p>
          <a:p>
            <a:pPr>
              <a:lnSpc>
                <a:spcPct val="90000"/>
              </a:lnSpc>
              <a:buClr>
                <a:schemeClr val="tx1"/>
              </a:buClr>
              <a:buSzPct val="120000"/>
            </a:pPr>
            <a:r>
              <a:rPr lang="en-US" sz="2400" dirty="0" smtClean="0"/>
              <a:t>Determine the amount of additional insulation required.</a:t>
            </a:r>
          </a:p>
          <a:p>
            <a:pPr>
              <a:lnSpc>
                <a:spcPct val="90000"/>
              </a:lnSpc>
              <a:buClr>
                <a:schemeClr val="tx1"/>
              </a:buClr>
              <a:buSzPct val="120000"/>
            </a:pPr>
            <a:r>
              <a:rPr lang="en-US" sz="2400" dirty="0" smtClean="0"/>
              <a:t>Consider how to choose insulation.</a:t>
            </a:r>
          </a:p>
          <a:p>
            <a:pPr>
              <a:lnSpc>
                <a:spcPct val="90000"/>
              </a:lnSpc>
              <a:buClr>
                <a:schemeClr val="tx1"/>
              </a:buClr>
              <a:buSzPct val="120000"/>
            </a:pPr>
            <a:r>
              <a:rPr lang="en-US" sz="2400" dirty="0" smtClean="0"/>
              <a:t>Consider installation requirements.</a:t>
            </a:r>
          </a:p>
        </p:txBody>
      </p:sp>
      <p:sp>
        <p:nvSpPr>
          <p:cNvPr id="4" name="Rectangle 3"/>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 – Learning Outcomes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904527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331640" y="1752600"/>
            <a:ext cx="7560840" cy="914400"/>
          </a:xfrm>
        </p:spPr>
        <p:txBody>
          <a:bodyPr>
            <a:normAutofit/>
          </a:bodyPr>
          <a:lstStyle/>
          <a:p>
            <a:pPr marL="465138" indent="-465138" eaLnBrk="1" hangingPunct="1">
              <a:buClr>
                <a:schemeClr val="tx1"/>
              </a:buClr>
              <a:buSzPct val="120000"/>
              <a:buFont typeface="Monotype Sorts" pitchFamily="2" charset="2"/>
              <a:buNone/>
            </a:pPr>
            <a:r>
              <a:rPr lang="en-US" sz="2000" dirty="0" smtClean="0"/>
              <a:t>QUESTION 1:</a:t>
            </a:r>
          </a:p>
          <a:p>
            <a:pPr marL="465138" indent="-465138" eaLnBrk="1" hangingPunct="1">
              <a:buClr>
                <a:schemeClr val="tx1"/>
              </a:buClr>
              <a:buSzPct val="120000"/>
              <a:buFont typeface="Monotype Sorts" pitchFamily="2" charset="2"/>
              <a:buNone/>
            </a:pPr>
            <a:r>
              <a:rPr lang="en-US" sz="2000" dirty="0" smtClean="0"/>
              <a:t>In your own words, describe the meaning of R-Value or material R-Value?</a:t>
            </a:r>
          </a:p>
        </p:txBody>
      </p:sp>
      <p:sp>
        <p:nvSpPr>
          <p:cNvPr id="8197" name="Rectangle 5"/>
          <p:cNvSpPr>
            <a:spLocks noChangeArrowheads="1"/>
          </p:cNvSpPr>
          <p:nvPr/>
        </p:nvSpPr>
        <p:spPr bwMode="auto">
          <a:xfrm>
            <a:off x="1331640" y="2895600"/>
            <a:ext cx="689796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65138" indent="-465138"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The degree to which a material resists the flow of heat.</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A measure of a material's thickness divided by its thermal conductivity.</a:t>
            </a:r>
          </a:p>
          <a:p>
            <a:pPr marL="465138" indent="-465138" algn="l" eaLnBrk="1" hangingPunct="1">
              <a:spcBef>
                <a:spcPct val="30000"/>
              </a:spcBef>
              <a:buClr>
                <a:schemeClr val="tx1"/>
              </a:buClr>
              <a:buSzPct val="120000"/>
              <a:buFont typeface="Monotype Sorts" pitchFamily="2" charset="2"/>
              <a:buChar char="r"/>
            </a:pPr>
            <a:r>
              <a:rPr lang="en-US" sz="2000" dirty="0">
                <a:latin typeface="Arial Narrow" pitchFamily="34" charset="0"/>
              </a:rPr>
              <a:t>The higher the R-Value, the more the material resists the flow of heat.</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9157237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819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xfrm>
            <a:off x="1331639" y="1752600"/>
            <a:ext cx="7542537" cy="914400"/>
          </a:xfrm>
        </p:spPr>
        <p:txBody>
          <a:bodyPr>
            <a:normAutofit/>
          </a:bodyPr>
          <a:lstStyle/>
          <a:p>
            <a:pPr marL="447675" indent="-447675" eaLnBrk="1" hangingPunct="1">
              <a:buClr>
                <a:schemeClr val="tx1"/>
              </a:buClr>
              <a:buSzPct val="120000"/>
              <a:buFont typeface="Monotype Sorts" pitchFamily="2" charset="2"/>
              <a:buNone/>
              <a:tabLst>
                <a:tab pos="361950" algn="l"/>
              </a:tabLst>
            </a:pPr>
            <a:r>
              <a:rPr lang="en-US" sz="2000" dirty="0" smtClean="0"/>
              <a:t>QUESTION 2:</a:t>
            </a:r>
          </a:p>
          <a:p>
            <a:pPr marL="0" indent="0" eaLnBrk="1" hangingPunct="1">
              <a:buClr>
                <a:schemeClr val="tx1"/>
              </a:buClr>
              <a:buSzPct val="120000"/>
              <a:buFont typeface="Monotype Sorts" pitchFamily="2" charset="2"/>
              <a:buNone/>
              <a:tabLst>
                <a:tab pos="0" algn="l"/>
              </a:tabLst>
            </a:pPr>
            <a:r>
              <a:rPr lang="en-US" sz="2000" dirty="0" smtClean="0"/>
              <a:t>In your own words, describe the difference between R-Value and Total R-Value?</a:t>
            </a:r>
          </a:p>
        </p:txBody>
      </p:sp>
      <p:sp>
        <p:nvSpPr>
          <p:cNvPr id="49156" name="Rectangle 4"/>
          <p:cNvSpPr>
            <a:spLocks noChangeArrowheads="1"/>
          </p:cNvSpPr>
          <p:nvPr/>
        </p:nvSpPr>
        <p:spPr bwMode="auto">
          <a:xfrm>
            <a:off x="1331640" y="2895600"/>
            <a:ext cx="689796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tabLst>
                <a:tab pos="361950" algn="l"/>
              </a:tabLst>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R-Value is the thermal resistance of a single material.</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Total R-Value is the sum of the R-Values of all the components including air that make up a composite element such as a roof, wall or floor.</a:t>
            </a:r>
          </a:p>
          <a:p>
            <a:pPr marL="447675" indent="-4476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See example on next slide.</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1707190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sz="half" idx="1"/>
          </p:nvPr>
        </p:nvSpPr>
        <p:spPr>
          <a:xfrm>
            <a:off x="1331640" y="1752600"/>
            <a:ext cx="7507560" cy="3787775"/>
          </a:xfrm>
        </p:spPr>
        <p:txBody>
          <a:bodyPr/>
          <a:lstStyle/>
          <a:p>
            <a:pPr marL="465138" indent="-465138" eaLnBrk="1" hangingPunct="1">
              <a:buClr>
                <a:schemeClr val="tx1"/>
              </a:buClr>
              <a:buSzPct val="120000"/>
              <a:buFont typeface="Monotype Sorts" pitchFamily="2" charset="2"/>
              <a:buNone/>
            </a:pPr>
            <a:r>
              <a:rPr lang="en-US" sz="2000" smtClean="0"/>
              <a:t>QUESTION 2 ANSWER cont:</a:t>
            </a:r>
          </a:p>
          <a:p>
            <a:pPr marL="465138" indent="-465138" eaLnBrk="1" hangingPunct="1">
              <a:buClr>
                <a:schemeClr val="tx1"/>
              </a:buClr>
              <a:buSzPct val="120000"/>
              <a:buFont typeface="Monotype Sorts" pitchFamily="2" charset="2"/>
              <a:buNone/>
            </a:pPr>
            <a:endParaRPr lang="en-US" sz="2000" smtClean="0"/>
          </a:p>
        </p:txBody>
      </p:sp>
      <p:graphicFrame>
        <p:nvGraphicFramePr>
          <p:cNvPr id="51787" name="Group 587"/>
          <p:cNvGraphicFramePr>
            <a:graphicFrameLocks noGrp="1"/>
          </p:cNvGraphicFramePr>
          <p:nvPr>
            <p:ph sz="half" idx="2"/>
            <p:extLst>
              <p:ext uri="{D42A27DB-BD31-4B8C-83A1-F6EECF244321}">
                <p14:modId xmlns:p14="http://schemas.microsoft.com/office/powerpoint/2010/main" val="2673399739"/>
              </p:ext>
            </p:extLst>
          </p:nvPr>
        </p:nvGraphicFramePr>
        <p:xfrm>
          <a:off x="1403648" y="2438400"/>
          <a:ext cx="7560839" cy="2729124"/>
        </p:xfrm>
        <a:graphic>
          <a:graphicData uri="http://schemas.openxmlformats.org/drawingml/2006/table">
            <a:tbl>
              <a:tblPr/>
              <a:tblGrid>
                <a:gridCol w="1937942"/>
                <a:gridCol w="604613"/>
                <a:gridCol w="1745421"/>
                <a:gridCol w="790769"/>
                <a:gridCol w="954652"/>
                <a:gridCol w="720763"/>
                <a:gridCol w="806679"/>
              </a:tblGrid>
              <a:tr h="404719">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rPr>
                        <a:t>Roof construction description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endParaRPr kumimoji="0" lang="en-AU" sz="1200" b="1" i="0" u="none" strike="noStrike" cap="none" normalizeH="0" baseline="0" smtClean="0">
                        <a:ln>
                          <a:noFill/>
                        </a:ln>
                        <a:solidFill>
                          <a:schemeClr val="tx1"/>
                        </a:solidFill>
                        <a:effectLst/>
                        <a:latin typeface="Arial" charset="0"/>
                      </a:endParaRPr>
                    </a:p>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Item</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endParaRPr kumimoji="0" lang="en-AU" sz="1200" b="1" i="0" u="none" strike="noStrike" cap="none" normalizeH="0" baseline="0" smtClean="0">
                        <a:ln>
                          <a:noFill/>
                        </a:ln>
                        <a:solidFill>
                          <a:schemeClr val="tx1"/>
                        </a:solidFill>
                        <a:effectLst/>
                        <a:latin typeface="Arial" charset="0"/>
                      </a:endParaRPr>
                    </a:p>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Item description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R-Value</a:t>
                      </a:r>
                      <a:r>
                        <a:rPr kumimoji="0" lang="en-AU" sz="1200" b="1" i="0" u="none" strike="noStrike" cap="none" normalizeH="0" baseline="0" smtClean="0">
                          <a:ln>
                            <a:noFill/>
                          </a:ln>
                          <a:solidFill>
                            <a:schemeClr val="tx1"/>
                          </a:solidFill>
                          <a:effectLst/>
                          <a:latin typeface="Arial" charset="0"/>
                        </a:rPr>
                        <a:t> Unventilated</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gridSpan="2">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R-Value</a:t>
                      </a:r>
                      <a:r>
                        <a:rPr kumimoji="0" lang="en-AU" sz="1200" b="1" i="0" u="none" strike="noStrike" cap="none" normalizeH="0" baseline="0" smtClean="0">
                          <a:ln>
                            <a:noFill/>
                          </a:ln>
                          <a:solidFill>
                            <a:schemeClr val="tx1"/>
                          </a:solidFill>
                          <a:effectLst/>
                          <a:latin typeface="Arial" charset="0"/>
                        </a:rPr>
                        <a:t> Ventilated</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r>
              <a:tr h="280923">
                <a:tc vMerge="1">
                  <a:txBody>
                    <a:bodyPr/>
                    <a:lstStyle/>
                    <a:p>
                      <a:endParaRPr lang="en-AU"/>
                    </a:p>
                  </a:txBody>
                  <a:tcPr/>
                </a:tc>
                <a:tc vMerge="1">
                  <a:txBody>
                    <a:bodyPr/>
                    <a:lstStyle/>
                    <a:p>
                      <a:endParaRPr lang="en-AU"/>
                    </a:p>
                  </a:txBody>
                  <a:tcPr/>
                </a:tc>
                <a:tc vMerge="1">
                  <a:txBody>
                    <a:bodyPr/>
                    <a:lstStyle/>
                    <a:p>
                      <a:endParaRPr lang="en-AU"/>
                    </a:p>
                  </a:txBody>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Up</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Down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Up</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Down</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1555">
                <a:tc rowSpan="6">
                  <a:txBody>
                    <a:bodyPr/>
                    <a:lstStyle/>
                    <a:p>
                      <a:pPr marL="0" marR="0" lvl="0" indent="0" algn="l" defTabSz="914400" rtl="0" eaLnBrk="1" fontAlgn="base" latinLnBrk="0" hangingPunct="1">
                        <a:lnSpc>
                          <a:spcPct val="100000"/>
                        </a:lnSpc>
                        <a:spcBef>
                          <a:spcPct val="30000"/>
                        </a:spcBef>
                        <a:spcAft>
                          <a:spcPct val="0"/>
                        </a:spcAft>
                        <a:buClrTx/>
                        <a:buSzTx/>
                        <a:buFontTx/>
                        <a:buNone/>
                        <a:tabLst/>
                      </a:pPr>
                      <a:endParaRPr kumimoji="0" lang="en-AU" sz="1200" b="0" i="0" u="none" strike="noStrike" cap="none" normalizeH="0" baseline="0" smtClean="0">
                        <a:ln>
                          <a:noFill/>
                        </a:ln>
                        <a:solidFill>
                          <a:schemeClr val="tx1"/>
                        </a:solidFill>
                        <a:effectLst/>
                        <a:latin typeface="Arial" charset="0"/>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Outdoor air film (7m/s)</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dirty="0" smtClean="0">
                          <a:ln>
                            <a:noFill/>
                          </a:ln>
                          <a:solidFill>
                            <a:schemeClr val="tx1"/>
                          </a:solidFill>
                          <a:effectLst/>
                          <a:latin typeface="Arial" charset="0"/>
                        </a:rPr>
                        <a:t>0.04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2.</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Metal cladding</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855">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3.</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Roof airspace (non-reflective)</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0.18</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0.28</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0.00</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0.46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093">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Plasterboard, gypsum (10 mm, 880 kg/m</a:t>
                      </a:r>
                      <a:r>
                        <a:rPr kumimoji="0" lang="en-AU" sz="1200" b="0" i="0" u="none" strike="noStrike" cap="none" normalizeH="0" baseline="30000" smtClean="0">
                          <a:ln>
                            <a:noFill/>
                          </a:ln>
                          <a:solidFill>
                            <a:schemeClr val="tx1"/>
                          </a:solidFill>
                          <a:effectLst/>
                          <a:latin typeface="Arial" charset="0"/>
                        </a:rPr>
                        <a:t>3</a:t>
                      </a:r>
                      <a:r>
                        <a:rPr kumimoji="0" lang="en-AU" sz="1200" b="0" i="0" u="none" strike="noStrike" cap="none" normalizeH="0" baseline="0" smtClean="0">
                          <a:ln>
                            <a:noFill/>
                          </a:ln>
                          <a:solidFill>
                            <a:schemeClr val="tx1"/>
                          </a:solidFill>
                          <a:effectLst/>
                          <a:latin typeface="Arial" charset="0"/>
                        </a:rPr>
                        <a:t>)</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0.06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5.</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Indoor air film (still air)</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0" i="0" u="none" strike="noStrike" cap="none" normalizeH="0" baseline="0" smtClean="0">
                          <a:ln>
                            <a:noFill/>
                          </a:ln>
                          <a:solidFill>
                            <a:schemeClr val="tx1"/>
                          </a:solidFill>
                          <a:effectLst/>
                          <a:latin typeface="Arial" charset="0"/>
                        </a:rPr>
                        <a:t>0.16</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256">
                <a:tc vMerge="1">
                  <a:txBody>
                    <a:bodyPr/>
                    <a:lstStyle/>
                    <a:p>
                      <a:endParaRPr lang="en-AU"/>
                    </a:p>
                  </a:txBody>
                  <a:tcPr/>
                </a:tc>
                <a:tc gridSpan="2">
                  <a:txBody>
                    <a:bodyPr/>
                    <a:lstStyle/>
                    <a:p>
                      <a:pPr marL="0" marR="0" lvl="0" indent="0" algn="r" defTabSz="914400" rtl="0" eaLnBrk="1" fontAlgn="base" latinLnBrk="0" hangingPunct="1">
                        <a:lnSpc>
                          <a:spcPct val="100000"/>
                        </a:lnSpc>
                        <a:spcBef>
                          <a:spcPct val="30000"/>
                        </a:spcBef>
                        <a:spcAft>
                          <a:spcPct val="0"/>
                        </a:spcAft>
                        <a:buClrTx/>
                        <a:buSzTx/>
                        <a:buFontTx/>
                        <a:buNone/>
                        <a:tabLst/>
                      </a:pPr>
                      <a:r>
                        <a:rPr kumimoji="0" lang="en-AU" sz="1200" b="1" i="1" u="none" strike="noStrike" cap="none" normalizeH="0" baseline="0" smtClean="0">
                          <a:ln>
                            <a:noFill/>
                          </a:ln>
                          <a:solidFill>
                            <a:schemeClr val="tx1"/>
                          </a:solidFill>
                          <a:effectLst/>
                          <a:latin typeface="Arial" charset="0"/>
                        </a:rPr>
                        <a:t>Total R-Value</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0.39</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0.54</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smtClean="0">
                          <a:ln>
                            <a:noFill/>
                          </a:ln>
                          <a:solidFill>
                            <a:schemeClr val="tx1"/>
                          </a:solidFill>
                          <a:effectLst/>
                          <a:latin typeface="Arial" charset="0"/>
                        </a:rPr>
                        <a:t>0.21</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rPr>
                        <a:t>0.72</a:t>
                      </a: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1331" name="Picture 434" descr="v1_SpecJ1-3a_2007_trans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2864" y="3356992"/>
            <a:ext cx="1905000"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124713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1331640" y="1752600"/>
            <a:ext cx="6897960" cy="1143000"/>
          </a:xfrm>
        </p:spPr>
        <p:txBody>
          <a:bodyPr>
            <a:normAutofit fontScale="92500"/>
          </a:bodyPr>
          <a:lstStyle/>
          <a:p>
            <a:pPr marL="0" indent="0" eaLnBrk="1" hangingPunct="1">
              <a:buClr>
                <a:schemeClr val="tx1"/>
              </a:buClr>
              <a:buSzPct val="120000"/>
              <a:buFont typeface="Monotype Sorts" pitchFamily="2" charset="2"/>
              <a:buNone/>
            </a:pPr>
            <a:r>
              <a:rPr lang="en-US" sz="2000" dirty="0" smtClean="0"/>
              <a:t>QUESTION 3:</a:t>
            </a:r>
          </a:p>
          <a:p>
            <a:pPr marL="0" indent="0" eaLnBrk="1" hangingPunct="1">
              <a:buClr>
                <a:schemeClr val="tx1"/>
              </a:buClr>
              <a:buSzPct val="120000"/>
              <a:buFont typeface="Monotype Sorts" pitchFamily="2" charset="2"/>
              <a:buNone/>
            </a:pPr>
            <a:r>
              <a:rPr lang="en-US" sz="2000" dirty="0" smtClean="0"/>
              <a:t>For what elements of a house, and in which clauses, do the NCC energy efficiency Deemed-to-Satisfy Provisions prescribe minimum Total R-Values?</a:t>
            </a:r>
          </a:p>
        </p:txBody>
      </p:sp>
      <p:sp>
        <p:nvSpPr>
          <p:cNvPr id="53252" name="Rectangle 4"/>
          <p:cNvSpPr>
            <a:spLocks noChangeArrowheads="1"/>
          </p:cNvSpPr>
          <p:nvPr/>
        </p:nvSpPr>
        <p:spPr bwMode="auto">
          <a:xfrm>
            <a:off x="1331640" y="3200400"/>
            <a:ext cx="689796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3.12.1.2  Roofs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3.12.1.4  External walls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3.12.1.5  Floors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014708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1331640" y="1752600"/>
            <a:ext cx="6897960" cy="1143000"/>
          </a:xfrm>
        </p:spPr>
        <p:txBody>
          <a:bodyPr>
            <a:noAutofit/>
          </a:bodyPr>
          <a:lstStyle/>
          <a:p>
            <a:pPr marL="0" indent="0" eaLnBrk="1" hangingPunct="1">
              <a:buClr>
                <a:schemeClr val="tx1"/>
              </a:buClr>
              <a:buSzPct val="120000"/>
              <a:buFont typeface="Monotype Sorts" pitchFamily="2" charset="2"/>
              <a:buNone/>
            </a:pPr>
            <a:r>
              <a:rPr lang="en-US" sz="2000" dirty="0" smtClean="0"/>
              <a:t>QUESTION 4:</a:t>
            </a:r>
          </a:p>
          <a:p>
            <a:pPr marL="0" indent="0" eaLnBrk="1" hangingPunct="1">
              <a:buClr>
                <a:schemeClr val="tx1"/>
              </a:buClr>
              <a:buSzPct val="120000"/>
              <a:buFont typeface="Monotype Sorts" pitchFamily="2" charset="2"/>
              <a:buNone/>
            </a:pPr>
            <a:r>
              <a:rPr lang="en-US" sz="2000" dirty="0" smtClean="0"/>
              <a:t>What is the minimum Total R-Value that a roof and ceiling in climate zone 1 is required to achieve?</a:t>
            </a:r>
          </a:p>
        </p:txBody>
      </p:sp>
      <p:sp>
        <p:nvSpPr>
          <p:cNvPr id="57348" name="Rectangle 4"/>
          <p:cNvSpPr>
            <a:spLocks noChangeArrowheads="1"/>
          </p:cNvSpPr>
          <p:nvPr/>
        </p:nvSpPr>
        <p:spPr bwMode="auto">
          <a:xfrm>
            <a:off x="1331639" y="3200400"/>
            <a:ext cx="7560841"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ANSWERS:</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R3.1 downwards </a:t>
            </a:r>
            <a:r>
              <a:rPr lang="en-US" sz="2000" dirty="0">
                <a:latin typeface="Arial Narrow" pitchFamily="34" charset="0"/>
              </a:rPr>
              <a:t>if a very light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no more than 0.4)</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R4.1 downwards </a:t>
            </a:r>
            <a:r>
              <a:rPr lang="en-US" sz="2000" dirty="0">
                <a:latin typeface="Arial Narrow" pitchFamily="34" charset="0"/>
              </a:rPr>
              <a:t>if a medium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between 0.4 </a:t>
            </a:r>
            <a:r>
              <a:rPr lang="en-US" sz="2000" dirty="0" smtClean="0">
                <a:latin typeface="Arial Narrow" pitchFamily="34" charset="0"/>
              </a:rPr>
              <a:t>&amp; 0.6</a:t>
            </a:r>
            <a:r>
              <a:rPr lang="en-US" sz="2000" dirty="0">
                <a:latin typeface="Arial Narrow" pitchFamily="34" charset="0"/>
              </a:rPr>
              <a:t>)</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a:t>
            </a:r>
            <a:r>
              <a:rPr lang="en-US" sz="2000" dirty="0" smtClean="0">
                <a:latin typeface="Arial Narrow" pitchFamily="34" charset="0"/>
              </a:rPr>
              <a:t>R5.1 downwards </a:t>
            </a:r>
            <a:r>
              <a:rPr lang="en-US" sz="2000" dirty="0">
                <a:latin typeface="Arial Narrow" pitchFamily="34" charset="0"/>
              </a:rPr>
              <a:t>if a dark </a:t>
            </a:r>
            <a:r>
              <a:rPr lang="en-US" sz="2000" dirty="0" err="1">
                <a:latin typeface="Arial Narrow" pitchFamily="34" charset="0"/>
              </a:rPr>
              <a:t>colour</a:t>
            </a:r>
            <a:r>
              <a:rPr lang="en-US" sz="2000" dirty="0">
                <a:latin typeface="Arial Narrow" pitchFamily="34" charset="0"/>
              </a:rPr>
              <a:t> (solar </a:t>
            </a:r>
            <a:r>
              <a:rPr lang="en-US" sz="2000" dirty="0" err="1">
                <a:latin typeface="Arial Narrow" pitchFamily="34" charset="0"/>
              </a:rPr>
              <a:t>absorptance</a:t>
            </a:r>
            <a:r>
              <a:rPr lang="en-US" sz="2000" dirty="0">
                <a:latin typeface="Arial Narrow" pitchFamily="34" charset="0"/>
              </a:rPr>
              <a:t> more than 0.6)</a:t>
            </a:r>
          </a:p>
          <a:p>
            <a:pPr algn="l" eaLnBrk="1" hangingPunct="1">
              <a:spcBef>
                <a:spcPct val="30000"/>
              </a:spcBef>
              <a:buClr>
                <a:schemeClr val="tx1"/>
              </a:buClr>
              <a:buSzPct val="120000"/>
              <a:buFont typeface="Monotype Sorts" pitchFamily="2" charset="2"/>
              <a:buNone/>
            </a:pPr>
            <a:endParaRPr lang="en-US" sz="1600" dirty="0" smtClean="0">
              <a:latin typeface="Arial Narrow" pitchFamily="34" charset="0"/>
            </a:endParaRPr>
          </a:p>
          <a:p>
            <a:pPr algn="l" eaLnBrk="1" hangingPunct="1">
              <a:spcBef>
                <a:spcPct val="30000"/>
              </a:spcBef>
              <a:buClr>
                <a:schemeClr val="tx1"/>
              </a:buClr>
              <a:buSzPct val="120000"/>
              <a:buFont typeface="Monotype Sorts" pitchFamily="2" charset="2"/>
              <a:buNone/>
            </a:pPr>
            <a:r>
              <a:rPr lang="en-US" sz="1600" dirty="0" smtClean="0">
                <a:latin typeface="Arial Narrow" pitchFamily="34" charset="0"/>
              </a:rPr>
              <a:t>Note</a:t>
            </a:r>
            <a:r>
              <a:rPr lang="en-US" sz="1600" dirty="0">
                <a:latin typeface="Arial Narrow" pitchFamily="34" charset="0"/>
              </a:rPr>
              <a:t>: The </a:t>
            </a:r>
            <a:r>
              <a:rPr lang="en-US" sz="1600" dirty="0" err="1">
                <a:latin typeface="Arial Narrow" pitchFamily="34" charset="0"/>
              </a:rPr>
              <a:t>colour</a:t>
            </a:r>
            <a:r>
              <a:rPr lang="en-US" sz="1600" dirty="0">
                <a:latin typeface="Arial Narrow" pitchFamily="34" charset="0"/>
              </a:rPr>
              <a:t> is only indicative of the solar absorption.  See manufacturer’s data for solar </a:t>
            </a:r>
            <a:r>
              <a:rPr lang="en-US" sz="1600" dirty="0" err="1">
                <a:latin typeface="Arial Narrow" pitchFamily="34" charset="0"/>
              </a:rPr>
              <a:t>absorptance</a:t>
            </a:r>
            <a:r>
              <a:rPr lang="en-US" sz="1600" dirty="0">
                <a:latin typeface="Arial Narrow" pitchFamily="34" charset="0"/>
              </a:rPr>
              <a:t> values.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073003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4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1331640" y="1752600"/>
            <a:ext cx="7416824" cy="1600200"/>
          </a:xfrm>
        </p:spPr>
        <p:txBody>
          <a:bodyPr/>
          <a:lstStyle/>
          <a:p>
            <a:pPr marL="0" indent="0" eaLnBrk="1" hangingPunct="1">
              <a:buClr>
                <a:schemeClr val="tx1"/>
              </a:buClr>
              <a:buSzPct val="120000"/>
              <a:buFont typeface="Monotype Sorts" pitchFamily="2" charset="2"/>
              <a:buNone/>
            </a:pPr>
            <a:r>
              <a:rPr lang="en-US" sz="2000" dirty="0" smtClean="0"/>
              <a:t>QUESTION 5:</a:t>
            </a:r>
          </a:p>
          <a:p>
            <a:pPr marL="0" indent="0" eaLnBrk="1" hangingPunct="1">
              <a:buClr>
                <a:schemeClr val="tx1"/>
              </a:buClr>
              <a:buSzPct val="120000"/>
              <a:buFont typeface="Monotype Sorts" pitchFamily="2" charset="2"/>
              <a:buNone/>
            </a:pPr>
            <a:r>
              <a:rPr lang="en-US" sz="2000" dirty="0" smtClean="0"/>
              <a:t>What is the minimum Total R-Value required for a roof with a flat ceiling in climate zone 2 (below 300 m altitude) and a roof solar </a:t>
            </a:r>
            <a:r>
              <a:rPr lang="en-US" sz="2000" dirty="0" err="1" smtClean="0"/>
              <a:t>absorptance</a:t>
            </a:r>
            <a:r>
              <a:rPr lang="en-US" sz="2000" dirty="0" smtClean="0"/>
              <a:t> of 0.55?</a:t>
            </a:r>
          </a:p>
        </p:txBody>
      </p:sp>
      <p:sp>
        <p:nvSpPr>
          <p:cNvPr id="59396" name="Rectangle 4"/>
          <p:cNvSpPr>
            <a:spLocks noChangeArrowheads="1"/>
          </p:cNvSpPr>
          <p:nvPr/>
        </p:nvSpPr>
        <p:spPr bwMode="auto">
          <a:xfrm>
            <a:off x="1331640" y="3505200"/>
            <a:ext cx="689796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0850" indent="-450850"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50850" indent="-450850" algn="l" eaLnBrk="1" hangingPunct="1">
              <a:spcBef>
                <a:spcPct val="30000"/>
              </a:spcBef>
              <a:buClr>
                <a:schemeClr val="tx1"/>
              </a:buClr>
              <a:buSzPct val="120000"/>
              <a:buFont typeface="Monotype Sorts" pitchFamily="2" charset="2"/>
              <a:buChar char="r"/>
            </a:pPr>
            <a:r>
              <a:rPr lang="en-US" sz="2000" dirty="0">
                <a:latin typeface="Arial Narrow" pitchFamily="34" charset="0"/>
              </a:rPr>
              <a:t>R4.6 downwards; or</a:t>
            </a:r>
          </a:p>
          <a:p>
            <a:pPr marL="450850" indent="-450850" algn="l" eaLnBrk="1" hangingPunct="1">
              <a:spcBef>
                <a:spcPct val="30000"/>
              </a:spcBef>
              <a:buClr>
                <a:schemeClr val="tx1"/>
              </a:buClr>
              <a:buSzPct val="120000"/>
              <a:buFont typeface="Monotype Sorts" pitchFamily="2" charset="2"/>
              <a:buChar char="r"/>
            </a:pPr>
            <a:r>
              <a:rPr lang="en-US" sz="2000" dirty="0">
                <a:latin typeface="Arial Narrow" pitchFamily="34" charset="0"/>
              </a:rPr>
              <a:t>R4.1 downwards if the roof space is also ventilated and has the required insulation laid on the ceiling.</a:t>
            </a:r>
          </a:p>
          <a:p>
            <a:pPr marL="450850" indent="-450850" algn="l" eaLnBrk="1" hangingPunct="1">
              <a:spcBef>
                <a:spcPct val="30000"/>
              </a:spcBef>
              <a:buClr>
                <a:schemeClr val="tx1"/>
              </a:buClr>
              <a:buSzPct val="120000"/>
              <a:buFont typeface="Monotype Sorts" pitchFamily="2" charset="2"/>
              <a:buChar char="r"/>
            </a:pP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6163978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P spid="5939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1331640" y="1752600"/>
            <a:ext cx="7202760" cy="1143000"/>
          </a:xfrm>
        </p:spPr>
        <p:txBody>
          <a:bodyPr/>
          <a:lstStyle/>
          <a:p>
            <a:pPr marL="0" indent="0" eaLnBrk="1" hangingPunct="1">
              <a:buClr>
                <a:schemeClr val="tx1"/>
              </a:buClr>
              <a:buSzPct val="120000"/>
              <a:buFont typeface="Monotype Sorts" pitchFamily="2" charset="2"/>
              <a:buNone/>
              <a:tabLst>
                <a:tab pos="361950" algn="l"/>
              </a:tabLst>
            </a:pPr>
            <a:r>
              <a:rPr lang="en-US" sz="2000" dirty="0" smtClean="0"/>
              <a:t>QUESTION 6:</a:t>
            </a:r>
          </a:p>
          <a:p>
            <a:pPr marL="0" indent="0" eaLnBrk="1" hangingPunct="1">
              <a:buClr>
                <a:schemeClr val="tx1"/>
              </a:buClr>
              <a:buSzPct val="120000"/>
              <a:buFont typeface="Monotype Sorts" pitchFamily="2" charset="2"/>
              <a:buNone/>
              <a:tabLst>
                <a:tab pos="361950" algn="l"/>
              </a:tabLst>
            </a:pPr>
            <a:r>
              <a:rPr lang="en-US" sz="2000" dirty="0" smtClean="0"/>
              <a:t>What is the inherent Total R-Value of an un-insulated pitched metal roof with a flat ceiling in climate zone 2 (below 300 m altitude), and in climate zone 6?</a:t>
            </a:r>
          </a:p>
        </p:txBody>
      </p:sp>
      <p:sp>
        <p:nvSpPr>
          <p:cNvPr id="55300" name="Rectangle 4"/>
          <p:cNvSpPr>
            <a:spLocks noChangeArrowheads="1"/>
          </p:cNvSpPr>
          <p:nvPr/>
        </p:nvSpPr>
        <p:spPr bwMode="auto">
          <a:xfrm>
            <a:off x="1403648" y="3200400"/>
            <a:ext cx="7130752"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58775" indent="-358775" algn="l" eaLnBrk="1" hangingPunct="1">
              <a:spcBef>
                <a:spcPct val="30000"/>
              </a:spcBef>
              <a:buClr>
                <a:schemeClr val="tx1"/>
              </a:buClr>
              <a:buSzPct val="120000"/>
              <a:buFont typeface="Monotype Sorts" pitchFamily="2" charset="2"/>
              <a:buNone/>
              <a:tabLst>
                <a:tab pos="361950" algn="l"/>
              </a:tabLst>
            </a:pPr>
            <a:r>
              <a:rPr lang="en-US" sz="2000" dirty="0">
                <a:latin typeface="Arial Narrow" pitchFamily="34" charset="0"/>
              </a:rPr>
              <a:t>ANSWER:</a:t>
            </a:r>
          </a:p>
          <a:p>
            <a:pPr marL="358775" indent="-3587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In climate zone 2 (below 300m altitude), R0.54 downwards if the roof space is unventilated or R0.72 downwards if the roof space is ventilated.</a:t>
            </a:r>
          </a:p>
          <a:p>
            <a:pPr marL="358775" indent="-358775" algn="l" eaLnBrk="1" hangingPunct="1">
              <a:spcBef>
                <a:spcPct val="30000"/>
              </a:spcBef>
              <a:buClr>
                <a:schemeClr val="tx1"/>
              </a:buClr>
              <a:buSzPct val="120000"/>
              <a:buFont typeface="Monotype Sorts" pitchFamily="2" charset="2"/>
              <a:buChar char="r"/>
              <a:tabLst>
                <a:tab pos="361950" algn="l"/>
              </a:tabLst>
            </a:pPr>
            <a:r>
              <a:rPr lang="en-US" sz="2000" dirty="0">
                <a:latin typeface="Arial Narrow" pitchFamily="34" charset="0"/>
              </a:rPr>
              <a:t>In climate zone 6, R0.39 upwards if the roof space is unventilated or R0.21 upwards if the roof space is ventilated.</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6006812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5530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a:xfrm>
            <a:off x="1331640" y="1752600"/>
            <a:ext cx="7507560" cy="1295400"/>
          </a:xfrm>
        </p:spPr>
        <p:txBody>
          <a:bodyPr/>
          <a:lstStyle/>
          <a:p>
            <a:pPr marL="0" indent="0" eaLnBrk="1" hangingPunct="1">
              <a:buClr>
                <a:schemeClr val="tx1"/>
              </a:buClr>
              <a:buSzPct val="120000"/>
              <a:buFont typeface="Monotype Sorts" pitchFamily="2" charset="2"/>
              <a:buNone/>
            </a:pPr>
            <a:r>
              <a:rPr lang="en-US" sz="2000" dirty="0" smtClean="0"/>
              <a:t>QUESTION 7:</a:t>
            </a:r>
          </a:p>
          <a:p>
            <a:pPr marL="0" indent="0" eaLnBrk="1" hangingPunct="1">
              <a:buClr>
                <a:schemeClr val="tx1"/>
              </a:buClr>
              <a:buSzPct val="120000"/>
              <a:buFont typeface="Monotype Sorts" pitchFamily="2" charset="2"/>
              <a:buNone/>
            </a:pPr>
            <a:r>
              <a:rPr lang="en-US" sz="2000" dirty="0" smtClean="0"/>
              <a:t>How much insulation is required to be added to a pitched dark tiled roof with a flat ceiling in climate zone 6?</a:t>
            </a:r>
          </a:p>
        </p:txBody>
      </p:sp>
      <p:sp>
        <p:nvSpPr>
          <p:cNvPr id="61444" name="Rectangle 4"/>
          <p:cNvSpPr>
            <a:spLocks noChangeArrowheads="1"/>
          </p:cNvSpPr>
          <p:nvPr/>
        </p:nvSpPr>
        <p:spPr bwMode="auto">
          <a:xfrm>
            <a:off x="1331640" y="3200400"/>
            <a:ext cx="750756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pPr>
            <a:r>
              <a:rPr lang="en-US" sz="2000" dirty="0">
                <a:latin typeface="Arial Narrow" pitchFamily="34" charset="0"/>
              </a:rPr>
              <a:t>   R4.87 upwards (R5.1-R0.23) if ventilated, </a:t>
            </a:r>
            <a:endParaRPr lang="en-US" sz="2000" dirty="0" smtClean="0">
              <a:latin typeface="Arial Narrow" pitchFamily="34" charset="0"/>
            </a:endParaRPr>
          </a:p>
          <a:p>
            <a:pPr lvl="1">
              <a:spcBef>
                <a:spcPct val="30000"/>
              </a:spcBef>
              <a:buClr>
                <a:schemeClr val="tx1"/>
              </a:buClr>
              <a:buSzPct val="120000"/>
            </a:pPr>
            <a:r>
              <a:rPr lang="en-US" sz="2000" dirty="0" smtClean="0">
                <a:latin typeface="Arial Narrow" pitchFamily="34" charset="0"/>
              </a:rPr>
              <a:t>R4.69 </a:t>
            </a:r>
            <a:r>
              <a:rPr lang="en-US" sz="2000" dirty="0">
                <a:latin typeface="Arial Narrow" pitchFamily="34" charset="0"/>
              </a:rPr>
              <a:t>(R5.1-R0.41) if </a:t>
            </a:r>
            <a:r>
              <a:rPr lang="en-US" sz="2000" dirty="0" smtClean="0">
                <a:latin typeface="Arial Narrow" pitchFamily="34" charset="0"/>
              </a:rPr>
              <a:t>not ventilated.</a:t>
            </a: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167642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614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a:xfrm>
            <a:off x="1331640" y="1752600"/>
            <a:ext cx="7488832" cy="1295400"/>
          </a:xfrm>
        </p:spPr>
        <p:txBody>
          <a:bodyPr>
            <a:normAutofit/>
          </a:bodyPr>
          <a:lstStyle/>
          <a:p>
            <a:pPr marL="0" indent="0" eaLnBrk="1" hangingPunct="1">
              <a:buClr>
                <a:schemeClr val="tx1"/>
              </a:buClr>
              <a:buSzPct val="120000"/>
              <a:buFont typeface="Monotype Sorts" pitchFamily="2" charset="2"/>
              <a:buNone/>
              <a:tabLst>
                <a:tab pos="266700" algn="l"/>
              </a:tabLst>
            </a:pPr>
            <a:r>
              <a:rPr lang="en-US" sz="2000" dirty="0" smtClean="0"/>
              <a:t>QUESTION 8:</a:t>
            </a:r>
          </a:p>
          <a:p>
            <a:pPr marL="0" indent="0" eaLnBrk="1" hangingPunct="1">
              <a:buClr>
                <a:schemeClr val="tx1"/>
              </a:buClr>
              <a:buSzPct val="120000"/>
              <a:buFont typeface="Monotype Sorts" pitchFamily="2" charset="2"/>
              <a:buNone/>
              <a:tabLst>
                <a:tab pos="266700" algn="l"/>
              </a:tabLst>
            </a:pPr>
            <a:r>
              <a:rPr lang="en-US" sz="2000" dirty="0" smtClean="0"/>
              <a:t>How much insulation is required to be added to a pitched metal roof with a flat ceiling and ventilated roof space in climate zone 2 (below 300 m altitude)?</a:t>
            </a:r>
          </a:p>
        </p:txBody>
      </p:sp>
      <p:sp>
        <p:nvSpPr>
          <p:cNvPr id="67588" name="Rectangle 4"/>
          <p:cNvSpPr>
            <a:spLocks noChangeArrowheads="1"/>
          </p:cNvSpPr>
          <p:nvPr/>
        </p:nvSpPr>
        <p:spPr bwMode="auto">
          <a:xfrm>
            <a:off x="1331639" y="3200400"/>
            <a:ext cx="7322407" cy="274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spcBef>
                <a:spcPct val="30000"/>
              </a:spcBef>
              <a:buClr>
                <a:schemeClr val="tx1"/>
              </a:buClr>
              <a:buSzPct val="120000"/>
              <a:buFont typeface="Monotype Sorts" pitchFamily="2" charset="2"/>
              <a:buNone/>
              <a:tabLst>
                <a:tab pos="266700" algn="l"/>
              </a:tabLst>
            </a:pPr>
            <a:r>
              <a:rPr lang="en-US" sz="2000" dirty="0">
                <a:latin typeface="Arial Narrow" pitchFamily="34" charset="0"/>
              </a:rPr>
              <a:t>ANSWER:</a:t>
            </a: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R3.38 (R4.1-R0.72) downwards if a very light </a:t>
            </a:r>
            <a:r>
              <a:rPr lang="en-US" sz="2000" dirty="0" err="1">
                <a:latin typeface="Arial Narrow" pitchFamily="34" charset="0"/>
              </a:rPr>
              <a:t>colour</a:t>
            </a:r>
            <a:r>
              <a:rPr lang="en-US" sz="2000" dirty="0">
                <a:latin typeface="Arial Narrow" pitchFamily="34" charset="0"/>
              </a:rPr>
              <a:t> (no more than </a:t>
            </a:r>
            <a:r>
              <a:rPr lang="en-US" sz="2000" dirty="0" smtClean="0">
                <a:latin typeface="Arial Narrow" pitchFamily="34" charset="0"/>
              </a:rPr>
              <a:t>0.4)</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R3.88 (R4.6-R0.72) downwards if a medium </a:t>
            </a:r>
            <a:r>
              <a:rPr lang="en-US" sz="2000" dirty="0" err="1">
                <a:latin typeface="Arial Narrow" pitchFamily="34" charset="0"/>
              </a:rPr>
              <a:t>colour</a:t>
            </a:r>
            <a:r>
              <a:rPr lang="en-US" sz="2000" dirty="0">
                <a:latin typeface="Arial Narrow" pitchFamily="34" charset="0"/>
              </a:rPr>
              <a:t> (0.4 to </a:t>
            </a:r>
            <a:r>
              <a:rPr lang="en-US" sz="2000" dirty="0" smtClean="0">
                <a:latin typeface="Arial Narrow" pitchFamily="34" charset="0"/>
              </a:rPr>
              <a:t>0.6)</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   R4.38 (R5.1-R0.72) downwards if a dark </a:t>
            </a:r>
            <a:r>
              <a:rPr lang="en-US" sz="2000" dirty="0" err="1">
                <a:latin typeface="Arial Narrow" pitchFamily="34" charset="0"/>
              </a:rPr>
              <a:t>colour</a:t>
            </a:r>
            <a:r>
              <a:rPr lang="en-US" sz="2000" dirty="0">
                <a:latin typeface="Arial Narrow" pitchFamily="34" charset="0"/>
              </a:rPr>
              <a:t> (more than </a:t>
            </a:r>
            <a:r>
              <a:rPr lang="en-US" sz="2000" dirty="0" smtClean="0">
                <a:latin typeface="Arial Narrow" pitchFamily="34" charset="0"/>
              </a:rPr>
              <a:t>0.6)</a:t>
            </a:r>
            <a:endParaRPr lang="en-US" sz="2000" dirty="0">
              <a:latin typeface="Arial Narrow" pitchFamily="34" charset="0"/>
            </a:endParaRPr>
          </a:p>
          <a:p>
            <a:pPr algn="l" eaLnBrk="1" hangingPunct="1">
              <a:spcBef>
                <a:spcPct val="30000"/>
              </a:spcBef>
              <a:buClr>
                <a:schemeClr val="tx1"/>
              </a:buClr>
              <a:buSzPct val="120000"/>
              <a:buFont typeface="Monotype Sorts" pitchFamily="2" charset="2"/>
              <a:buNone/>
              <a:tabLst>
                <a:tab pos="266700" algn="l"/>
              </a:tabLst>
            </a:pPr>
            <a:endParaRPr lang="en-US" sz="1600" dirty="0" smtClean="0">
              <a:latin typeface="Arial Narrow" pitchFamily="34" charset="0"/>
            </a:endParaRPr>
          </a:p>
          <a:p>
            <a:pPr algn="l" eaLnBrk="1" hangingPunct="1">
              <a:spcBef>
                <a:spcPct val="30000"/>
              </a:spcBef>
              <a:buClr>
                <a:schemeClr val="tx1"/>
              </a:buClr>
              <a:buSzPct val="120000"/>
              <a:buFont typeface="Monotype Sorts" pitchFamily="2" charset="2"/>
              <a:buNone/>
              <a:tabLst>
                <a:tab pos="266700" algn="l"/>
              </a:tabLst>
            </a:pPr>
            <a:r>
              <a:rPr lang="en-US" sz="1600" dirty="0" smtClean="0">
                <a:latin typeface="Arial Narrow" pitchFamily="34" charset="0"/>
              </a:rPr>
              <a:t>Note</a:t>
            </a:r>
            <a:r>
              <a:rPr lang="en-US" sz="1600" dirty="0">
                <a:latin typeface="Arial Narrow" pitchFamily="34" charset="0"/>
              </a:rPr>
              <a:t>: The </a:t>
            </a:r>
            <a:r>
              <a:rPr lang="en-US" sz="1600" dirty="0" err="1">
                <a:latin typeface="Arial Narrow" pitchFamily="34" charset="0"/>
              </a:rPr>
              <a:t>colour</a:t>
            </a:r>
            <a:r>
              <a:rPr lang="en-US" sz="1600" dirty="0">
                <a:latin typeface="Arial Narrow" pitchFamily="34" charset="0"/>
              </a:rPr>
              <a:t> is only indicative of the solar absorption.  See manufacturer’s data for solar </a:t>
            </a:r>
            <a:r>
              <a:rPr lang="en-US" sz="1600" dirty="0" err="1">
                <a:latin typeface="Arial Narrow" pitchFamily="34" charset="0"/>
              </a:rPr>
              <a:t>absorptance</a:t>
            </a:r>
            <a:r>
              <a:rPr lang="en-US" sz="1600" dirty="0">
                <a:latin typeface="Arial Narrow" pitchFamily="34" charset="0"/>
              </a:rPr>
              <a:t> values.</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51235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7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675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1331640" y="1752600"/>
            <a:ext cx="6897960" cy="914400"/>
          </a:xfrm>
        </p:spPr>
        <p:txBody>
          <a:bodyPr/>
          <a:lstStyle/>
          <a:p>
            <a:pPr marL="361950" indent="-361950" eaLnBrk="1" hangingPunct="1">
              <a:buClr>
                <a:schemeClr val="tx1"/>
              </a:buClr>
              <a:buSzPct val="120000"/>
              <a:buFont typeface="Monotype Sorts" pitchFamily="2" charset="2"/>
              <a:buNone/>
            </a:pPr>
            <a:r>
              <a:rPr lang="en-US" sz="2000" dirty="0" smtClean="0"/>
              <a:t>QUESTION 9:</a:t>
            </a:r>
          </a:p>
          <a:p>
            <a:pPr marL="361950" indent="-361950" eaLnBrk="1" hangingPunct="1">
              <a:buClr>
                <a:schemeClr val="tx1"/>
              </a:buClr>
              <a:buSzPct val="120000"/>
              <a:buFont typeface="Monotype Sorts" pitchFamily="2" charset="2"/>
              <a:buNone/>
            </a:pPr>
            <a:r>
              <a:rPr lang="en-US" sz="2000" dirty="0" smtClean="0"/>
              <a:t>What needs to be considered when </a:t>
            </a:r>
            <a:r>
              <a:rPr lang="en-US" sz="2000" b="1" u="sng" dirty="0" smtClean="0"/>
              <a:t>selecting</a:t>
            </a:r>
            <a:r>
              <a:rPr lang="en-US" sz="2000" dirty="0" smtClean="0"/>
              <a:t> insulation?</a:t>
            </a:r>
          </a:p>
        </p:txBody>
      </p:sp>
      <p:sp>
        <p:nvSpPr>
          <p:cNvPr id="65540" name="Rectangle 4"/>
          <p:cNvSpPr>
            <a:spLocks noChangeArrowheads="1"/>
          </p:cNvSpPr>
          <p:nvPr/>
        </p:nvSpPr>
        <p:spPr bwMode="auto">
          <a:xfrm>
            <a:off x="1331640" y="2895600"/>
            <a:ext cx="689796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1950" indent="-361950"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Whether its R-Value has been determined in accordance with AS/NZS 4859.1.</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Whether it achieves the required R-Value in the specified direction of heat flow.</a:t>
            </a:r>
          </a:p>
          <a:p>
            <a:pPr marL="361950" indent="-361950" algn="l" eaLnBrk="1" hangingPunct="1">
              <a:spcBef>
                <a:spcPct val="30000"/>
              </a:spcBef>
              <a:buClr>
                <a:schemeClr val="tx1"/>
              </a:buClr>
              <a:buSzPct val="120000"/>
              <a:buFont typeface="Monotype Sorts" pitchFamily="2" charset="2"/>
              <a:buChar char="r"/>
            </a:pPr>
            <a:r>
              <a:rPr lang="en-US" sz="2000" dirty="0">
                <a:latin typeface="Arial Narrow" pitchFamily="34" charset="0"/>
              </a:rPr>
              <a:t>Location of the insulation, i.e. under the roof or on the ceiling.</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211138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5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655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1331640" y="1752600"/>
            <a:ext cx="7431360" cy="990600"/>
          </a:xfrm>
        </p:spPr>
        <p:txBody>
          <a:bodyPr/>
          <a:lstStyle/>
          <a:p>
            <a:pPr marL="447675" indent="-447675" eaLnBrk="1" hangingPunct="1">
              <a:buClr>
                <a:schemeClr val="tx1"/>
              </a:buClr>
              <a:buSzPct val="120000"/>
              <a:buFont typeface="Monotype Sorts" pitchFamily="2" charset="2"/>
              <a:buNone/>
            </a:pPr>
            <a:r>
              <a:rPr lang="en-US" sz="2000" dirty="0" smtClean="0"/>
              <a:t>QUESTION 10:</a:t>
            </a:r>
          </a:p>
          <a:p>
            <a:pPr marL="447675" indent="-447675" eaLnBrk="1" hangingPunct="1">
              <a:buClr>
                <a:schemeClr val="tx1"/>
              </a:buClr>
              <a:buSzPct val="120000"/>
              <a:buFont typeface="Monotype Sorts" pitchFamily="2" charset="2"/>
              <a:buNone/>
            </a:pPr>
            <a:r>
              <a:rPr lang="en-US" sz="2000" dirty="0" smtClean="0"/>
              <a:t>What needs to be considered when </a:t>
            </a:r>
            <a:r>
              <a:rPr lang="en-US" sz="2000" b="1" u="sng" dirty="0" smtClean="0"/>
              <a:t>installing</a:t>
            </a:r>
            <a:r>
              <a:rPr lang="en-US" sz="2000" dirty="0" smtClean="0"/>
              <a:t> insulation?</a:t>
            </a:r>
          </a:p>
        </p:txBody>
      </p:sp>
      <p:sp>
        <p:nvSpPr>
          <p:cNvPr id="69636" name="Rectangle 4"/>
          <p:cNvSpPr>
            <a:spLocks noChangeArrowheads="1"/>
          </p:cNvSpPr>
          <p:nvPr/>
        </p:nvSpPr>
        <p:spPr bwMode="auto">
          <a:xfrm>
            <a:off x="1331640" y="2895600"/>
            <a:ext cx="7431360" cy="334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Insulation </a:t>
            </a:r>
            <a:r>
              <a:rPr lang="en-US" sz="2000" dirty="0" smtClean="0">
                <a:latin typeface="Arial Narrow" pitchFamily="34" charset="0"/>
              </a:rPr>
              <a:t>must–</a:t>
            </a:r>
            <a:endParaRPr lang="en-US" sz="2000" dirty="0">
              <a:latin typeface="Arial Narrow" pitchFamily="34" charset="0"/>
            </a:endParaRP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abut or overlap adjoining insulation except where there are framing members.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create a continues barrier with other elements.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not affect the safe operation of fans, lights, fittings, etc.</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for bulk insulation, maintain its position &amp; thickness.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a:t>
            </a:r>
            <a:r>
              <a:rPr lang="en-US" sz="2000" dirty="0" smtClean="0">
                <a:latin typeface="Arial Narrow" pitchFamily="34" charset="0"/>
              </a:rPr>
              <a:t>e located to suit </a:t>
            </a:r>
            <a:r>
              <a:rPr lang="en-US" sz="2000" smtClean="0">
                <a:latin typeface="Arial Narrow" pitchFamily="34" charset="0"/>
              </a:rPr>
              <a:t>the climate zone.</a:t>
            </a: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8641670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P spid="696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1"/>
          </p:nvPr>
        </p:nvSpPr>
        <p:spPr>
          <a:xfrm>
            <a:off x="1331640" y="1752600"/>
            <a:ext cx="6897960" cy="914400"/>
          </a:xfrm>
        </p:spPr>
        <p:txBody>
          <a:bodyPr/>
          <a:lstStyle/>
          <a:p>
            <a:pPr marL="447675" indent="-447675" eaLnBrk="1" hangingPunct="1">
              <a:buClr>
                <a:schemeClr val="tx1"/>
              </a:buClr>
              <a:buSzPct val="120000"/>
              <a:buFont typeface="Monotype Sorts" pitchFamily="2" charset="2"/>
              <a:buNone/>
            </a:pPr>
            <a:r>
              <a:rPr lang="en-US" sz="2000" dirty="0" smtClean="0"/>
              <a:t>QUESTION 11:</a:t>
            </a:r>
          </a:p>
          <a:p>
            <a:pPr marL="447675" indent="-447675" eaLnBrk="1" hangingPunct="1">
              <a:buClr>
                <a:schemeClr val="tx1"/>
              </a:buClr>
              <a:buSzPct val="120000"/>
              <a:buFont typeface="Monotype Sorts" pitchFamily="2" charset="2"/>
              <a:buNone/>
            </a:pPr>
            <a:r>
              <a:rPr lang="en-US" sz="2000" dirty="0" smtClean="0"/>
              <a:t>What also needs to be considered when installing reflective insulation?</a:t>
            </a:r>
          </a:p>
        </p:txBody>
      </p:sp>
      <p:sp>
        <p:nvSpPr>
          <p:cNvPr id="71684" name="Rectangle 4"/>
          <p:cNvSpPr>
            <a:spLocks noChangeArrowheads="1"/>
          </p:cNvSpPr>
          <p:nvPr/>
        </p:nvSpPr>
        <p:spPr bwMode="auto">
          <a:xfrm>
            <a:off x="1331640" y="2895600"/>
            <a:ext cx="682595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Reflective insulation </a:t>
            </a:r>
            <a:r>
              <a:rPr lang="en-US" sz="2000" dirty="0" smtClean="0">
                <a:latin typeface="Arial Narrow" pitchFamily="34" charset="0"/>
              </a:rPr>
              <a:t>must–</a:t>
            </a:r>
            <a:endParaRPr lang="en-US" sz="2000" dirty="0">
              <a:latin typeface="Arial Narrow" pitchFamily="34" charset="0"/>
            </a:endParaRP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have an adjoining airspace.</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be adequately supported by framing members.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be overlapped or taped.</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8747101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P spid="7168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Worked Example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1663" t="9692" r="16225" b="10931"/>
          <a:stretch/>
        </p:blipFill>
        <p:spPr>
          <a:xfrm>
            <a:off x="1691680" y="1628800"/>
            <a:ext cx="7160603" cy="4482981"/>
          </a:xfrm>
          <a:prstGeom prst="rect">
            <a:avLst/>
          </a:prstGeom>
        </p:spPr>
      </p:pic>
    </p:spTree>
    <p:extLst>
      <p:ext uri="{BB962C8B-B14F-4D97-AF65-F5344CB8AC3E}">
        <p14:creationId xmlns:p14="http://schemas.microsoft.com/office/powerpoint/2010/main" val="7934517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Simple Checklist </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21" name="Rounded Rectangle 20"/>
          <p:cNvSpPr/>
          <p:nvPr/>
        </p:nvSpPr>
        <p:spPr>
          <a:xfrm>
            <a:off x="2411760" y="213285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Climate Zone</a:t>
            </a:r>
            <a:endParaRPr lang="en-US" dirty="0"/>
          </a:p>
        </p:txBody>
      </p:sp>
      <p:sp>
        <p:nvSpPr>
          <p:cNvPr id="22" name="Rounded Rectangle 21"/>
          <p:cNvSpPr/>
          <p:nvPr/>
        </p:nvSpPr>
        <p:spPr>
          <a:xfrm>
            <a:off x="2411760" y="285293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Direction of Heat Flow</a:t>
            </a:r>
            <a:endParaRPr lang="en-US" dirty="0"/>
          </a:p>
        </p:txBody>
      </p:sp>
      <p:sp>
        <p:nvSpPr>
          <p:cNvPr id="30" name="Rounded Rectangle 29"/>
          <p:cNvSpPr/>
          <p:nvPr/>
        </p:nvSpPr>
        <p:spPr>
          <a:xfrm>
            <a:off x="2411760" y="357301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Roof Solar </a:t>
            </a:r>
            <a:r>
              <a:rPr lang="en-US" dirty="0" err="1" smtClean="0"/>
              <a:t>Absorptance</a:t>
            </a:r>
            <a:endParaRPr lang="en-US" dirty="0"/>
          </a:p>
        </p:txBody>
      </p:sp>
      <p:sp>
        <p:nvSpPr>
          <p:cNvPr id="31" name="Rounded Rectangle 30"/>
          <p:cNvSpPr/>
          <p:nvPr/>
        </p:nvSpPr>
        <p:spPr>
          <a:xfrm>
            <a:off x="5364088" y="213285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Minimum Total R-Value Requirement</a:t>
            </a:r>
            <a:endParaRPr lang="en-US" dirty="0"/>
          </a:p>
        </p:txBody>
      </p:sp>
      <p:sp>
        <p:nvSpPr>
          <p:cNvPr id="32" name="Rounded Rectangle 31"/>
          <p:cNvSpPr/>
          <p:nvPr/>
        </p:nvSpPr>
        <p:spPr>
          <a:xfrm>
            <a:off x="5364088" y="285293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Roof Space Ventilation</a:t>
            </a:r>
            <a:endParaRPr lang="en-US" dirty="0"/>
          </a:p>
        </p:txBody>
      </p:sp>
      <p:sp>
        <p:nvSpPr>
          <p:cNvPr id="33" name="Rounded Rectangle 32"/>
          <p:cNvSpPr/>
          <p:nvPr/>
        </p:nvSpPr>
        <p:spPr>
          <a:xfrm>
            <a:off x="5364088" y="3573016"/>
            <a:ext cx="2448272" cy="576064"/>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Adjustment for loss of Insulation (penetrations)</a:t>
            </a:r>
            <a:endParaRPr lang="en-US" dirty="0"/>
          </a:p>
        </p:txBody>
      </p:sp>
      <p:sp>
        <p:nvSpPr>
          <p:cNvPr id="34" name="Rounded Rectangle 33"/>
          <p:cNvSpPr/>
          <p:nvPr/>
        </p:nvSpPr>
        <p:spPr>
          <a:xfrm>
            <a:off x="3851920" y="4293096"/>
            <a:ext cx="2448272" cy="864096"/>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Typical R-Values of </a:t>
            </a:r>
          </a:p>
          <a:p>
            <a:pPr algn="ctr"/>
            <a:r>
              <a:rPr lang="en-US" dirty="0" smtClean="0"/>
              <a:t>Roof and Ceiling Construction</a:t>
            </a:r>
            <a:endParaRPr lang="en-US" dirty="0"/>
          </a:p>
        </p:txBody>
      </p:sp>
    </p:spTree>
    <p:extLst>
      <p:ext uri="{BB962C8B-B14F-4D97-AF65-F5344CB8AC3E}">
        <p14:creationId xmlns:p14="http://schemas.microsoft.com/office/powerpoint/2010/main" val="24142421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8" name="Rectangle 7"/>
          <p:cNvSpPr/>
          <p:nvPr/>
        </p:nvSpPr>
        <p:spPr>
          <a:xfrm>
            <a:off x="3779912" y="1412776"/>
            <a:ext cx="2771049" cy="923330"/>
          </a:xfrm>
          <a:prstGeom prst="rect">
            <a:avLst/>
          </a:prstGeom>
          <a:noFill/>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Key stats</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8" name="Rectangle 17"/>
          <p:cNvSpPr/>
          <p:nvPr/>
        </p:nvSpPr>
        <p:spPr>
          <a:xfrm>
            <a:off x="2051720" y="2265834"/>
            <a:ext cx="6876256" cy="3539430"/>
          </a:xfrm>
          <a:prstGeom prst="rect">
            <a:avLst/>
          </a:prstGeom>
          <a:solidFill>
            <a:schemeClr val="bg1"/>
          </a:solidFill>
        </p:spPr>
        <p:txBody>
          <a:bodyPr wrap="square" lIns="91440" tIns="45720" rIns="91440" bIns="45720">
            <a:spAutoFit/>
          </a:bodyPr>
          <a:lstStyle/>
          <a:p>
            <a:pPr marL="261938" indent="-261938">
              <a:buFont typeface="Arial"/>
              <a:buChar char="•"/>
            </a:pPr>
            <a:r>
              <a:rPr lang="en-US" sz="2800" b="1" dirty="0" smtClean="0">
                <a:ln w="12700" cap="rnd" cmpd="sng">
                  <a:solidFill>
                    <a:srgbClr val="FFFFFF"/>
                  </a:solidFill>
                  <a:prstDash val="solid"/>
                  <a:round/>
                </a:ln>
                <a:solidFill>
                  <a:sysClr val="windowText" lastClr="000000"/>
                </a:solidFill>
              </a:rPr>
              <a:t>Climate Zone 3</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Direction of heat flow downwards &amp; upwards</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Red roof – Solar </a:t>
            </a:r>
            <a:r>
              <a:rPr lang="en-US" sz="2800" b="1" dirty="0" err="1" smtClean="0">
                <a:ln w="12700" cap="rnd" cmpd="sng">
                  <a:solidFill>
                    <a:srgbClr val="FFFFFF"/>
                  </a:solidFill>
                  <a:prstDash val="solid"/>
                  <a:round/>
                </a:ln>
                <a:solidFill>
                  <a:sysClr val="windowText" lastClr="000000"/>
                </a:solidFill>
              </a:rPr>
              <a:t>absorptance</a:t>
            </a:r>
            <a:r>
              <a:rPr lang="en-US" sz="2800" b="1" dirty="0" smtClean="0">
                <a:ln w="12700" cap="rnd" cmpd="sng">
                  <a:solidFill>
                    <a:srgbClr val="FFFFFF"/>
                  </a:solidFill>
                  <a:prstDash val="solid"/>
                  <a:round/>
                </a:ln>
                <a:solidFill>
                  <a:sysClr val="windowText" lastClr="000000"/>
                </a:solidFill>
              </a:rPr>
              <a:t> 0.75</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Non-Ventilated metal roof</a:t>
            </a:r>
          </a:p>
          <a:p>
            <a:pPr marL="261938" indent="-261938">
              <a:buFont typeface="Arial"/>
              <a:buChar char="•"/>
            </a:pPr>
            <a:r>
              <a:rPr lang="en-US" sz="2800" b="1" dirty="0" smtClean="0">
                <a:ln w="12700" cap="rnd" cmpd="sng">
                  <a:solidFill>
                    <a:srgbClr val="FFFFFF"/>
                  </a:solidFill>
                  <a:prstDash val="solid"/>
                  <a:round/>
                </a:ln>
                <a:solidFill>
                  <a:sysClr val="windowText" lastClr="000000"/>
                </a:solidFill>
              </a:rPr>
              <a:t>1 service opening in insulation = 1 m</a:t>
            </a:r>
            <a:r>
              <a:rPr lang="en-US" sz="2800" b="1" baseline="30000" dirty="0" smtClean="0">
                <a:ln w="12700" cap="rnd" cmpd="sng">
                  <a:solidFill>
                    <a:srgbClr val="FFFFFF"/>
                  </a:solidFill>
                  <a:prstDash val="solid"/>
                  <a:round/>
                </a:ln>
                <a:solidFill>
                  <a:sysClr val="windowText" lastClr="000000"/>
                </a:solidFill>
              </a:rPr>
              <a:t>2</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11 lighting openings in insulation for lights</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Assume each light is 100 mm in diameter</a:t>
            </a:r>
          </a:p>
          <a:p>
            <a:pPr marL="261938" indent="-261938">
              <a:buFont typeface="Arial"/>
              <a:buChar char="•"/>
              <a:tabLst>
                <a:tab pos="261938" algn="l"/>
              </a:tabLst>
            </a:pPr>
            <a:r>
              <a:rPr lang="en-US" sz="2800" b="1" dirty="0" smtClean="0">
                <a:ln w="12700" cap="rnd" cmpd="sng">
                  <a:solidFill>
                    <a:srgbClr val="FFFFFF"/>
                  </a:solidFill>
                  <a:prstDash val="solid"/>
                  <a:round/>
                </a:ln>
                <a:solidFill>
                  <a:sysClr val="windowText" lastClr="000000"/>
                </a:solidFill>
              </a:rPr>
              <a:t>Floor area = 100m</a:t>
            </a:r>
            <a:r>
              <a:rPr lang="en-US" sz="2800" b="1" baseline="30000" dirty="0" smtClean="0">
                <a:ln w="12700" cap="rnd" cmpd="sng">
                  <a:solidFill>
                    <a:srgbClr val="FFFFFF"/>
                  </a:solidFill>
                  <a:prstDash val="solid"/>
                  <a:round/>
                </a:ln>
                <a:solidFill>
                  <a:sysClr val="windowText" lastClr="000000"/>
                </a:solidFill>
              </a:rPr>
              <a:t>2</a:t>
            </a:r>
            <a:endParaRPr lang="en-US" sz="2800" b="1" baseline="30000" dirty="0">
              <a:ln w="12700" cap="rnd" cmpd="sng">
                <a:solidFill>
                  <a:srgbClr val="FFFFFF"/>
                </a:solidFill>
                <a:prstDash val="solid"/>
                <a:round/>
              </a:ln>
              <a:solidFill>
                <a:sysClr val="windowText" lastClr="000000"/>
              </a:solidFill>
            </a:endParaRPr>
          </a:p>
        </p:txBody>
      </p:sp>
      <p:sp>
        <p:nvSpPr>
          <p:cNvPr id="10" name="Rectangle 9"/>
          <p:cNvSpPr/>
          <p:nvPr/>
        </p:nvSpPr>
        <p:spPr>
          <a:xfrm>
            <a:off x="1835696" y="1628800"/>
            <a:ext cx="6912768" cy="4464496"/>
          </a:xfrm>
          <a:prstGeom prst="rect">
            <a:avLst/>
          </a:prstGeom>
          <a:blipFill dpi="0" rotWithShape="1">
            <a:blip r:embed="rId3">
              <a:alphaModFix amt="3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392456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1835696" y="1628800"/>
            <a:ext cx="6912768" cy="4464496"/>
          </a:xfrm>
          <a:prstGeom prst="rect">
            <a:avLst/>
          </a:prstGeom>
          <a:blipFill dpi="0" rotWithShape="1">
            <a:blip r:embed="rId3">
              <a:alphaModFix amt="3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 </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NCC &amp; Standards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21" name="Rounded Rectangle 20">
            <a:hlinkClick r:id="" action="ppaction://noaction"/>
          </p:cNvPr>
          <p:cNvSpPr/>
          <p:nvPr/>
        </p:nvSpPr>
        <p:spPr>
          <a:xfrm>
            <a:off x="3923928" y="1988840"/>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Minimum Total R-Value</a:t>
            </a:r>
          </a:p>
          <a:p>
            <a:pPr algn="ctr"/>
            <a:r>
              <a:rPr lang="en-US" dirty="0" smtClean="0"/>
              <a:t>Table 3.12.1.1a</a:t>
            </a:r>
            <a:endParaRPr lang="en-US" dirty="0"/>
          </a:p>
        </p:txBody>
      </p:sp>
      <p:sp>
        <p:nvSpPr>
          <p:cNvPr id="22" name="Rounded Rectangle 21">
            <a:hlinkClick r:id="" action="ppaction://noaction"/>
          </p:cNvPr>
          <p:cNvSpPr/>
          <p:nvPr/>
        </p:nvSpPr>
        <p:spPr>
          <a:xfrm>
            <a:off x="3923928" y="2996952"/>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Compensation of Insulation </a:t>
            </a:r>
          </a:p>
          <a:p>
            <a:pPr algn="ctr"/>
            <a:r>
              <a:rPr lang="en-US" dirty="0" smtClean="0"/>
              <a:t>Table 3.12.1.1b</a:t>
            </a:r>
            <a:endParaRPr lang="en-US" dirty="0"/>
          </a:p>
        </p:txBody>
      </p:sp>
      <p:sp>
        <p:nvSpPr>
          <p:cNvPr id="23" name="Rounded Rectangle 22">
            <a:hlinkClick r:id="" action="ppaction://noaction"/>
          </p:cNvPr>
          <p:cNvSpPr/>
          <p:nvPr/>
        </p:nvSpPr>
        <p:spPr>
          <a:xfrm>
            <a:off x="3923928" y="4077072"/>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Insulation Clearance</a:t>
            </a:r>
          </a:p>
          <a:p>
            <a:pPr algn="ctr"/>
            <a:r>
              <a:rPr lang="en-US" dirty="0" smtClean="0"/>
              <a:t>AS/NZS 3000 – </a:t>
            </a:r>
          </a:p>
          <a:p>
            <a:pPr algn="ctr"/>
            <a:r>
              <a:rPr lang="en-US" dirty="0" smtClean="0"/>
              <a:t>Figure 4.7</a:t>
            </a:r>
            <a:endParaRPr lang="en-US" dirty="0"/>
          </a:p>
        </p:txBody>
      </p:sp>
      <p:sp>
        <p:nvSpPr>
          <p:cNvPr id="24" name="Rounded Rectangle 23">
            <a:hlinkClick r:id="" action="ppaction://noaction"/>
          </p:cNvPr>
          <p:cNvSpPr/>
          <p:nvPr/>
        </p:nvSpPr>
        <p:spPr>
          <a:xfrm>
            <a:off x="3923928" y="5085184"/>
            <a:ext cx="2448272" cy="792088"/>
          </a:xfrm>
          <a:prstGeom prst="roundRect">
            <a:avLst/>
          </a:prstGeom>
          <a:solidFill>
            <a:srgbClr val="1DA323">
              <a:alpha val="75000"/>
            </a:srgbClr>
          </a:solidFill>
          <a:ln>
            <a:solidFill>
              <a:srgbClr val="1B8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Typical Construction</a:t>
            </a:r>
          </a:p>
          <a:p>
            <a:pPr algn="ctr"/>
            <a:r>
              <a:rPr lang="en-US" dirty="0" smtClean="0"/>
              <a:t>Figure 3.12.1.1</a:t>
            </a:r>
            <a:endParaRPr lang="en-US" dirty="0"/>
          </a:p>
        </p:txBody>
      </p:sp>
    </p:spTree>
    <p:extLst>
      <p:ext uri="{BB962C8B-B14F-4D97-AF65-F5344CB8AC3E}">
        <p14:creationId xmlns:p14="http://schemas.microsoft.com/office/powerpoint/2010/main" val="27388830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Minimum Total R-Value Table 3.12.1.1a</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487478"/>
            <a:ext cx="4905375" cy="325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1284" y="4745028"/>
            <a:ext cx="4886325" cy="134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4499992" y="4653136"/>
            <a:ext cx="1296144" cy="1152128"/>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4521696" y="2348880"/>
            <a:ext cx="1296144" cy="432048"/>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5220072" y="1916832"/>
            <a:ext cx="360040" cy="288032"/>
          </a:xfrm>
          <a:prstGeom prst="rect">
            <a:avLst/>
          </a:prstGeom>
          <a:noFill/>
          <a:ln w="508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14594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Compensation of Insulation Table 3.12.1.1b</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10" name="Picture 9" descr="Screen Shot 2012-10-30 at 2.30.28 PM.png"/>
          <p:cNvPicPr>
            <a:picLocks noChangeAspect="1"/>
          </p:cNvPicPr>
          <p:nvPr/>
        </p:nvPicPr>
        <p:blipFill rotWithShape="1">
          <a:blip r:embed="rId3">
            <a:extLst>
              <a:ext uri="{28A0092B-C50C-407E-A947-70E740481C1C}">
                <a14:useLocalDpi xmlns:a14="http://schemas.microsoft.com/office/drawing/2010/main" val="0"/>
              </a:ext>
            </a:extLst>
          </a:blip>
          <a:srcRect b="329"/>
          <a:stretch/>
        </p:blipFill>
        <p:spPr>
          <a:xfrm>
            <a:off x="1763689" y="1556792"/>
            <a:ext cx="6840760" cy="4730851"/>
          </a:xfrm>
          <a:prstGeom prst="rect">
            <a:avLst/>
          </a:prstGeom>
        </p:spPr>
      </p:pic>
      <p:sp>
        <p:nvSpPr>
          <p:cNvPr id="4" name="Rectangle 3"/>
          <p:cNvSpPr/>
          <p:nvPr/>
        </p:nvSpPr>
        <p:spPr>
          <a:xfrm>
            <a:off x="6496620" y="3428999"/>
            <a:ext cx="1080120" cy="493217"/>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36586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Insulation clearances</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AS/NZS 3000</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1282" y="2170180"/>
            <a:ext cx="7002765" cy="3741776"/>
          </a:xfrm>
          <a:prstGeom prst="rect">
            <a:avLst/>
          </a:prstGeom>
        </p:spPr>
      </p:pic>
      <p:sp>
        <p:nvSpPr>
          <p:cNvPr id="20" name="TextBox 19"/>
          <p:cNvSpPr txBox="1"/>
          <p:nvPr/>
        </p:nvSpPr>
        <p:spPr>
          <a:xfrm>
            <a:off x="1763688" y="2478916"/>
            <a:ext cx="1552566" cy="369332"/>
          </a:xfrm>
          <a:prstGeom prst="rect">
            <a:avLst/>
          </a:prstGeom>
          <a:noFill/>
        </p:spPr>
        <p:txBody>
          <a:bodyPr wrap="square" rtlCol="0">
            <a:spAutoFit/>
          </a:bodyPr>
          <a:lstStyle/>
          <a:p>
            <a:r>
              <a:rPr lang="en-AU" b="1" dirty="0" smtClean="0"/>
              <a:t>A = 200 mm </a:t>
            </a:r>
          </a:p>
        </p:txBody>
      </p:sp>
      <p:sp>
        <p:nvSpPr>
          <p:cNvPr id="21" name="TextBox 20"/>
          <p:cNvSpPr txBox="1"/>
          <p:nvPr/>
        </p:nvSpPr>
        <p:spPr>
          <a:xfrm>
            <a:off x="1763688" y="2771636"/>
            <a:ext cx="1552566" cy="369332"/>
          </a:xfrm>
          <a:prstGeom prst="rect">
            <a:avLst/>
          </a:prstGeom>
          <a:noFill/>
        </p:spPr>
        <p:txBody>
          <a:bodyPr wrap="square" rtlCol="0">
            <a:spAutoFit/>
          </a:bodyPr>
          <a:lstStyle/>
          <a:p>
            <a:r>
              <a:rPr lang="en-AU" b="1" dirty="0"/>
              <a:t>B</a:t>
            </a:r>
            <a:r>
              <a:rPr lang="en-AU" b="1" dirty="0" smtClean="0"/>
              <a:t> = 200 mm </a:t>
            </a:r>
          </a:p>
        </p:txBody>
      </p:sp>
      <p:sp>
        <p:nvSpPr>
          <p:cNvPr id="22" name="TextBox 21"/>
          <p:cNvSpPr txBox="1"/>
          <p:nvPr/>
        </p:nvSpPr>
        <p:spPr>
          <a:xfrm>
            <a:off x="1763688" y="3059668"/>
            <a:ext cx="1552566" cy="369332"/>
          </a:xfrm>
          <a:prstGeom prst="rect">
            <a:avLst/>
          </a:prstGeom>
          <a:noFill/>
        </p:spPr>
        <p:txBody>
          <a:bodyPr wrap="square" rtlCol="0">
            <a:spAutoFit/>
          </a:bodyPr>
          <a:lstStyle/>
          <a:p>
            <a:r>
              <a:rPr lang="en-AU" b="1" dirty="0"/>
              <a:t>C</a:t>
            </a:r>
            <a:r>
              <a:rPr lang="en-AU" b="1" dirty="0" smtClean="0"/>
              <a:t> = 50 mm </a:t>
            </a:r>
          </a:p>
        </p:txBody>
      </p:sp>
      <p:sp>
        <p:nvSpPr>
          <p:cNvPr id="23" name="TextBox 22"/>
          <p:cNvSpPr txBox="1"/>
          <p:nvPr/>
        </p:nvSpPr>
        <p:spPr>
          <a:xfrm>
            <a:off x="1763688" y="3356992"/>
            <a:ext cx="1552566" cy="369332"/>
          </a:xfrm>
          <a:prstGeom prst="rect">
            <a:avLst/>
          </a:prstGeom>
          <a:noFill/>
        </p:spPr>
        <p:txBody>
          <a:bodyPr wrap="square" rtlCol="0">
            <a:spAutoFit/>
          </a:bodyPr>
          <a:lstStyle/>
          <a:p>
            <a:r>
              <a:rPr lang="en-AU" b="1" dirty="0"/>
              <a:t>D</a:t>
            </a:r>
            <a:r>
              <a:rPr lang="en-AU" b="1" dirty="0" smtClean="0"/>
              <a:t> = 50 mm </a:t>
            </a:r>
          </a:p>
        </p:txBody>
      </p:sp>
    </p:spTree>
    <p:extLst>
      <p:ext uri="{BB962C8B-B14F-4D97-AF65-F5344CB8AC3E}">
        <p14:creationId xmlns:p14="http://schemas.microsoft.com/office/powerpoint/2010/main" val="2911171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Typical Construction </a:t>
            </a:r>
          </a:p>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Figure 3.12.1.1</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graphicFrame>
        <p:nvGraphicFramePr>
          <p:cNvPr id="18" name="Group 391"/>
          <p:cNvGraphicFramePr>
            <a:graphicFrameLocks noGrp="1"/>
          </p:cNvGraphicFramePr>
          <p:nvPr>
            <p:extLst>
              <p:ext uri="{D42A27DB-BD31-4B8C-83A1-F6EECF244321}">
                <p14:modId xmlns:p14="http://schemas.microsoft.com/office/powerpoint/2010/main" val="3994925487"/>
              </p:ext>
            </p:extLst>
          </p:nvPr>
        </p:nvGraphicFramePr>
        <p:xfrm>
          <a:off x="2051720" y="2132856"/>
          <a:ext cx="6840761" cy="3505944"/>
        </p:xfrm>
        <a:graphic>
          <a:graphicData uri="http://schemas.openxmlformats.org/drawingml/2006/table">
            <a:tbl>
              <a:tblPr/>
              <a:tblGrid>
                <a:gridCol w="4143335"/>
                <a:gridCol w="1132630"/>
                <a:gridCol w="739021"/>
                <a:gridCol w="825775"/>
              </a:tblGrid>
              <a:tr h="500849">
                <a:tc grid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a:ln>
                            <a:noFill/>
                          </a:ln>
                          <a:solidFill>
                            <a:schemeClr val="tx1"/>
                          </a:solidFill>
                          <a:effectLst/>
                          <a:latin typeface="Arial" charset="0"/>
                          <a:ea typeface="Times New Roman" charset="0"/>
                          <a:cs typeface="Arial" charset="0"/>
                        </a:rPr>
                        <a:t>Figure 3.12.1.1 TOTAL R-VALUE FOR TYPICAL ROOF AND CEILING CONSTRUCTION</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429299">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Roof construction detail</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1" u="none" strike="noStrike" cap="none" normalizeH="0" baseline="0" dirty="0">
                          <a:ln>
                            <a:noFill/>
                          </a:ln>
                          <a:solidFill>
                            <a:schemeClr val="tx1"/>
                          </a:solidFill>
                          <a:effectLst/>
                          <a:latin typeface="Arial" charset="0"/>
                          <a:ea typeface="Times New Roman" charset="0"/>
                          <a:cs typeface="Arial" charset="0"/>
                        </a:rPr>
                        <a:t>Total R-Value</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r>
              <a:tr h="584324">
                <a:tc rowSpan="4">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AU" sz="2000" b="0" i="0" u="none" strike="noStrike" cap="none" normalizeH="0" baseline="0" dirty="0">
                        <a:ln>
                          <a:noFill/>
                        </a:ln>
                        <a:solidFill>
                          <a:schemeClr val="tx1"/>
                        </a:solidFill>
                        <a:effectLst/>
                        <a:latin typeface="Arial" charset="0"/>
                        <a:ea typeface="ＭＳ Ｐゴシック"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Ventilated</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Up</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0.72</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84324">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Down</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0.21</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84324">
                <a:tc vMerge="1">
                  <a:txBody>
                    <a:bodyPr/>
                    <a:lstStyle/>
                    <a:p>
                      <a:endParaRPr 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a:ln>
                            <a:noFill/>
                          </a:ln>
                          <a:solidFill>
                            <a:schemeClr val="tx1"/>
                          </a:solidFill>
                          <a:effectLst/>
                          <a:latin typeface="Arial" charset="0"/>
                          <a:ea typeface="Times New Roman" charset="0"/>
                          <a:cs typeface="Arial" charset="0"/>
                        </a:rPr>
                        <a:t>Unventilated</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Up</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0.54</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822824">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a:ln>
                            <a:noFill/>
                          </a:ln>
                          <a:solidFill>
                            <a:schemeClr val="tx1"/>
                          </a:solidFill>
                          <a:effectLst/>
                          <a:latin typeface="Arial" charset="0"/>
                          <a:ea typeface="Times New Roman" charset="0"/>
                          <a:cs typeface="Arial" charset="0"/>
                        </a:rPr>
                        <a:t>Down</a:t>
                      </a:r>
                      <a:endParaRPr kumimoji="0" lang="en-AU" sz="1800" b="0" i="0" u="none" strike="noStrike" cap="none" normalizeH="0" baseline="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200" b="1" i="0" u="none" strike="noStrike" cap="none" normalizeH="0" baseline="0" dirty="0" smtClean="0">
                          <a:ln>
                            <a:noFill/>
                          </a:ln>
                          <a:solidFill>
                            <a:schemeClr val="tx1"/>
                          </a:solidFill>
                          <a:effectLst/>
                          <a:latin typeface="Arial" charset="0"/>
                          <a:ea typeface="Times New Roman" charset="0"/>
                          <a:cs typeface="Arial" charset="0"/>
                        </a:rPr>
                        <a:t>0.39</a:t>
                      </a:r>
                      <a:endParaRPr kumimoji="0" lang="en-AU" sz="1800" b="0" i="0" u="none" strike="noStrike" cap="none" normalizeH="0" baseline="0" dirty="0">
                        <a:ln>
                          <a:noFill/>
                        </a:ln>
                        <a:solidFill>
                          <a:schemeClr val="tx1"/>
                        </a:solidFill>
                        <a:effectLst/>
                        <a:latin typeface="Arial" charset="0"/>
                        <a:ea typeface="Times New Roman"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pic>
        <p:nvPicPr>
          <p:cNvPr id="7" name="Picture 6" descr="Screen Shot 2012-10-30 at 3.55.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3356992"/>
            <a:ext cx="4029771" cy="2088232"/>
          </a:xfrm>
          <a:prstGeom prst="rect">
            <a:avLst/>
          </a:prstGeom>
        </p:spPr>
      </p:pic>
      <p:sp>
        <p:nvSpPr>
          <p:cNvPr id="5" name="Rectangle 4"/>
          <p:cNvSpPr/>
          <p:nvPr/>
        </p:nvSpPr>
        <p:spPr>
          <a:xfrm>
            <a:off x="7357902" y="4185084"/>
            <a:ext cx="1534577" cy="1404156"/>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2108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8" y="1628800"/>
            <a:ext cx="7250398" cy="923330"/>
          </a:xfrm>
          <a:prstGeom prst="rect">
            <a:avLst/>
          </a:prstGeom>
          <a:noFill/>
        </p:spPr>
        <p:txBody>
          <a:bodyPr wrap="square" rtlCol="0">
            <a:spAutoFit/>
          </a:bodyPr>
          <a:lstStyle/>
          <a:p>
            <a:r>
              <a:rPr lang="en-AU" dirty="0" smtClean="0"/>
              <a:t>QUESTION 12:</a:t>
            </a:r>
          </a:p>
          <a:p>
            <a:r>
              <a:rPr lang="en-AU" dirty="0" smtClean="0"/>
              <a:t>What is the uninsulated R-Value of the roof and the minimum added insulation required?</a:t>
            </a:r>
            <a:endParaRPr lang="en-AU" dirty="0"/>
          </a:p>
        </p:txBody>
      </p:sp>
      <p:sp>
        <p:nvSpPr>
          <p:cNvPr id="5" name="TextBox 4"/>
          <p:cNvSpPr txBox="1"/>
          <p:nvPr/>
        </p:nvSpPr>
        <p:spPr>
          <a:xfrm>
            <a:off x="1403647" y="2889810"/>
            <a:ext cx="7250399" cy="1754326"/>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Uninsulated roof construct R 0.54 (downward) &amp; R 0.39 (upward)</a:t>
            </a:r>
          </a:p>
          <a:p>
            <a:pPr marL="285750" indent="-285750">
              <a:buFont typeface="Wingdings" panose="05000000000000000000" pitchFamily="2" charset="2"/>
              <a:buChar char="q"/>
            </a:pPr>
            <a:r>
              <a:rPr lang="en-AU" dirty="0" smtClean="0"/>
              <a:t>Minimum added insulation in the </a:t>
            </a:r>
            <a:r>
              <a:rPr lang="en-AU" u="sng" dirty="0" smtClean="0"/>
              <a:t>downward</a:t>
            </a:r>
            <a:r>
              <a:rPr lang="en-AU" dirty="0" smtClean="0"/>
              <a:t> direction R 4.56 (Minimum total R-Value required 5.1 </a:t>
            </a:r>
            <a:r>
              <a:rPr lang="en-AU" u="sng" dirty="0" smtClean="0"/>
              <a:t>minus</a:t>
            </a:r>
            <a:r>
              <a:rPr lang="en-AU" dirty="0" smtClean="0"/>
              <a:t> uninsulated roof construct R-Value of 0.54)</a:t>
            </a:r>
          </a:p>
          <a:p>
            <a:pPr marL="285750" indent="-285750">
              <a:buFont typeface="Wingdings" panose="05000000000000000000" pitchFamily="2" charset="2"/>
              <a:buChar char="q"/>
            </a:pPr>
            <a:r>
              <a:rPr lang="en-AU" dirty="0" smtClean="0"/>
              <a:t>Minimum added insulation in the </a:t>
            </a:r>
            <a:r>
              <a:rPr lang="en-AU" u="sng" dirty="0" smtClean="0"/>
              <a:t>upward</a:t>
            </a:r>
            <a:r>
              <a:rPr lang="en-AU" dirty="0" smtClean="0"/>
              <a:t> direction R </a:t>
            </a:r>
            <a:r>
              <a:rPr lang="en-AU" dirty="0"/>
              <a:t>4.71 (Minimum total R-Value required 5.1 </a:t>
            </a:r>
            <a:r>
              <a:rPr lang="en-AU" u="sng" dirty="0"/>
              <a:t>minus</a:t>
            </a:r>
            <a:r>
              <a:rPr lang="en-AU" dirty="0"/>
              <a:t> uninsulated roof construct R-Value of </a:t>
            </a:r>
            <a:r>
              <a:rPr lang="en-AU" dirty="0" smtClean="0"/>
              <a:t>0.39)</a:t>
            </a:r>
            <a:endParaRPr lang="en-AU" dirty="0"/>
          </a:p>
        </p:txBody>
      </p:sp>
    </p:spTree>
    <p:extLst>
      <p:ext uri="{BB962C8B-B14F-4D97-AF65-F5344CB8AC3E}">
        <p14:creationId xmlns:p14="http://schemas.microsoft.com/office/powerpoint/2010/main" val="22044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7" y="1628800"/>
            <a:ext cx="7250399" cy="923330"/>
          </a:xfrm>
          <a:prstGeom prst="rect">
            <a:avLst/>
          </a:prstGeom>
          <a:noFill/>
        </p:spPr>
        <p:txBody>
          <a:bodyPr wrap="square" rtlCol="0">
            <a:spAutoFit/>
          </a:bodyPr>
          <a:lstStyle/>
          <a:p>
            <a:r>
              <a:rPr lang="en-AU" dirty="0" smtClean="0"/>
              <a:t>QUESTION 13:</a:t>
            </a:r>
          </a:p>
          <a:p>
            <a:r>
              <a:rPr lang="en-AU" dirty="0" smtClean="0"/>
              <a:t>What is the percentage of insulation lost from the service opening and light installations?</a:t>
            </a:r>
            <a:endParaRPr lang="en-AU" dirty="0"/>
          </a:p>
        </p:txBody>
      </p:sp>
      <p:sp>
        <p:nvSpPr>
          <p:cNvPr id="4" name="TextBox 3"/>
          <p:cNvSpPr txBox="1"/>
          <p:nvPr/>
        </p:nvSpPr>
        <p:spPr>
          <a:xfrm>
            <a:off x="1403647" y="2889810"/>
            <a:ext cx="7250399" cy="923330"/>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1.341% of the 100m</a:t>
            </a:r>
            <a:r>
              <a:rPr lang="en-AU" baseline="30000" dirty="0" smtClean="0"/>
              <a:t>2</a:t>
            </a:r>
            <a:r>
              <a:rPr lang="en-AU" dirty="0" smtClean="0"/>
              <a:t> floor area</a:t>
            </a:r>
          </a:p>
          <a:p>
            <a:pPr marL="285750" indent="-285750">
              <a:buFont typeface="Wingdings" panose="05000000000000000000" pitchFamily="2" charset="2"/>
              <a:buChar char="q"/>
            </a:pPr>
            <a:endParaRPr lang="en-AU" dirty="0" smtClean="0"/>
          </a:p>
        </p:txBody>
      </p:sp>
    </p:spTree>
    <p:extLst>
      <p:ext uri="{BB962C8B-B14F-4D97-AF65-F5344CB8AC3E}">
        <p14:creationId xmlns:p14="http://schemas.microsoft.com/office/powerpoint/2010/main" val="21882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Group Activity</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
        <p:nvSpPr>
          <p:cNvPr id="3" name="TextBox 2"/>
          <p:cNvSpPr txBox="1"/>
          <p:nvPr/>
        </p:nvSpPr>
        <p:spPr>
          <a:xfrm>
            <a:off x="1403648" y="1628800"/>
            <a:ext cx="5112568" cy="923330"/>
          </a:xfrm>
          <a:prstGeom prst="rect">
            <a:avLst/>
          </a:prstGeom>
          <a:noFill/>
        </p:spPr>
        <p:txBody>
          <a:bodyPr wrap="square" rtlCol="0">
            <a:spAutoFit/>
          </a:bodyPr>
          <a:lstStyle/>
          <a:p>
            <a:r>
              <a:rPr lang="en-AU" dirty="0" smtClean="0"/>
              <a:t>QUESTION 14:</a:t>
            </a:r>
          </a:p>
          <a:p>
            <a:r>
              <a:rPr lang="en-AU" dirty="0" smtClean="0"/>
              <a:t>What is the adjusted minimum R-Value of ceiling insulation required to compensate for the loss of ceiling insulation?</a:t>
            </a:r>
            <a:endParaRPr lang="en-AU" dirty="0"/>
          </a:p>
        </p:txBody>
      </p:sp>
      <p:sp>
        <p:nvSpPr>
          <p:cNvPr id="4" name="TextBox 3"/>
          <p:cNvSpPr txBox="1"/>
          <p:nvPr/>
        </p:nvSpPr>
        <p:spPr>
          <a:xfrm>
            <a:off x="1403647" y="2889810"/>
            <a:ext cx="7250399" cy="1200329"/>
          </a:xfrm>
          <a:prstGeom prst="rect">
            <a:avLst/>
          </a:prstGeom>
          <a:noFill/>
        </p:spPr>
        <p:txBody>
          <a:bodyPr wrap="square" rtlCol="0">
            <a:spAutoFit/>
          </a:bodyPr>
          <a:lstStyle/>
          <a:p>
            <a:r>
              <a:rPr lang="en-AU" dirty="0" smtClean="0"/>
              <a:t>ANSWER:</a:t>
            </a:r>
          </a:p>
          <a:p>
            <a:pPr marL="285750" indent="-285750">
              <a:buFont typeface="Wingdings" panose="05000000000000000000" pitchFamily="2" charset="2"/>
              <a:buChar char="q"/>
            </a:pPr>
            <a:r>
              <a:rPr lang="en-AU" dirty="0" smtClean="0"/>
              <a:t>Adjusted minimum R-Value is 6.2 in the </a:t>
            </a:r>
            <a:r>
              <a:rPr lang="en-AU" u="sng" dirty="0" smtClean="0"/>
              <a:t>downward</a:t>
            </a:r>
            <a:r>
              <a:rPr lang="en-AU" dirty="0" smtClean="0"/>
              <a:t> direction</a:t>
            </a:r>
          </a:p>
          <a:p>
            <a:pPr marL="285750" indent="-285750">
              <a:buFont typeface="Wingdings" panose="05000000000000000000" pitchFamily="2" charset="2"/>
              <a:buChar char="q"/>
            </a:pPr>
            <a:r>
              <a:rPr lang="en-AU" dirty="0" smtClean="0"/>
              <a:t>Adjusted minimum R-Value is 6.5 in the </a:t>
            </a:r>
            <a:r>
              <a:rPr lang="en-AU" u="sng" dirty="0" smtClean="0"/>
              <a:t>upward</a:t>
            </a:r>
            <a:r>
              <a:rPr lang="en-AU" dirty="0" smtClean="0"/>
              <a:t> direction</a:t>
            </a:r>
          </a:p>
          <a:p>
            <a:pPr marL="285750" indent="-285750">
              <a:buFont typeface="Wingdings" panose="05000000000000000000" pitchFamily="2" charset="2"/>
              <a:buChar char="q"/>
            </a:pPr>
            <a:endParaRPr lang="en-AU" dirty="0" smtClean="0"/>
          </a:p>
        </p:txBody>
      </p:sp>
    </p:spTree>
    <p:extLst>
      <p:ext uri="{BB962C8B-B14F-4D97-AF65-F5344CB8AC3E}">
        <p14:creationId xmlns:p14="http://schemas.microsoft.com/office/powerpoint/2010/main" val="140432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hlinkClick r:id="" action="ppaction://noaction"/>
          </p:cNvPr>
          <p:cNvSpPr/>
          <p:nvPr/>
        </p:nvSpPr>
        <p:spPr>
          <a:xfrm>
            <a:off x="3059832" y="2204864"/>
            <a:ext cx="3497952" cy="857632"/>
          </a:xfrm>
          <a:prstGeom prst="rect">
            <a:avLst/>
          </a:prstGeom>
          <a:solidFill>
            <a:srgbClr val="1B8B2B"/>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Building Fabric</a:t>
            </a:r>
            <a:endParaRPr lang="en-AU" sz="2000" b="1" dirty="0">
              <a:solidFill>
                <a:prstClr val="white"/>
              </a:solidFill>
            </a:endParaRPr>
          </a:p>
        </p:txBody>
      </p:sp>
      <p:sp>
        <p:nvSpPr>
          <p:cNvPr id="5" name="Rectangle 4">
            <a:hlinkClick r:id="" action="ppaction://noaction"/>
          </p:cNvPr>
          <p:cNvSpPr/>
          <p:nvPr/>
        </p:nvSpPr>
        <p:spPr>
          <a:xfrm>
            <a:off x="3059832" y="3395856"/>
            <a:ext cx="3528392" cy="864096"/>
          </a:xfrm>
          <a:prstGeom prst="rect">
            <a:avLst/>
          </a:prstGeom>
          <a:solidFill>
            <a:srgbClr val="1B8B2B">
              <a:alpha val="50000"/>
            </a:srgbClr>
          </a:solidFill>
          <a:ln>
            <a:solidFill>
              <a:srgbClr val="1B8B2B"/>
            </a:solidFill>
          </a:ln>
          <a:effectLst>
            <a:outerShdw blurRad="76200" dist="12700" dir="2700000" sy="-23000" kx="-800400" algn="bl" rotWithShape="0">
              <a:prstClr val="black">
                <a:alpha val="20000"/>
              </a:prstClr>
            </a:out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ts val="2000"/>
              </a:lnSpc>
              <a:spcBef>
                <a:spcPts val="0"/>
              </a:spcBef>
              <a:spcAft>
                <a:spcPts val="0"/>
              </a:spcAft>
              <a:defRPr/>
            </a:pPr>
            <a:r>
              <a:rPr lang="en-AU" sz="2000" b="1" dirty="0" smtClean="0">
                <a:solidFill>
                  <a:prstClr val="white"/>
                </a:solidFill>
              </a:rPr>
              <a:t>Glazing</a:t>
            </a:r>
            <a:endParaRPr lang="en-AU" sz="2000" b="1" dirty="0">
              <a:solidFill>
                <a:prstClr val="white"/>
              </a:solidFill>
            </a:endParaRPr>
          </a:p>
        </p:txBody>
      </p:sp>
      <p:sp>
        <p:nvSpPr>
          <p:cNvPr id="16" name="Rectangle 15"/>
          <p:cNvSpPr/>
          <p:nvPr/>
        </p:nvSpPr>
        <p:spPr>
          <a:xfrm>
            <a:off x="1403648" y="262389"/>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rPr>
              <a:t>Table of Contents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0000" endA="300" endPos="50000" dist="29997"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84038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1331640" y="2116832"/>
            <a:ext cx="7355160" cy="28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marL="457200" indent="-457200" algn="l" eaLnBrk="1" hangingPunct="1">
              <a:spcBef>
                <a:spcPct val="30000"/>
              </a:spcBef>
              <a:buClr>
                <a:schemeClr val="tx1"/>
              </a:buClr>
              <a:buSzPct val="120000"/>
              <a:buFont typeface="Arial" pitchFamily="34" charset="0"/>
              <a:buChar char="•"/>
            </a:pPr>
            <a:r>
              <a:rPr lang="en-US" sz="3200" dirty="0">
                <a:latin typeface="Arial Narrow" pitchFamily="34" charset="0"/>
              </a:rPr>
              <a:t>The purpose of this exercise is to teach participants how to correctly interpret and apply the elemental energy efficiency Deemed-to-Satisfy Provisions for the external glazing of houses.</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 – Objective</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56043939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1331640" y="1851025"/>
            <a:ext cx="7355160" cy="4386287"/>
          </a:xfrm>
          <a:noFill/>
          <a:extLst>
            <a:ext uri="{91240B29-F687-4F45-9708-019B960494DF}">
              <a14:hiddenLine xmlns:a14="http://schemas.microsoft.com/office/drawing/2010/main" w="12699">
                <a:solidFill>
                  <a:schemeClr val="tx1"/>
                </a:solidFill>
                <a:miter lim="800000"/>
                <a:headEnd/>
                <a:tailEnd/>
              </a14:hiddenLine>
            </a:ext>
          </a:extLst>
        </p:spPr>
        <p:txBody>
          <a:bodyPr lIns="90488" tIns="44450" rIns="90488" bIns="44450">
            <a:noAutofit/>
          </a:bodyPr>
          <a:lstStyle/>
          <a:p>
            <a:pPr marL="0" indent="0">
              <a:buClr>
                <a:schemeClr val="tx1"/>
              </a:buClr>
              <a:buSzPct val="120000"/>
              <a:buNone/>
            </a:pPr>
            <a:r>
              <a:rPr lang="en-US" sz="2400" dirty="0" smtClean="0"/>
              <a:t>On completion of this exercise, participants should:</a:t>
            </a:r>
          </a:p>
          <a:p>
            <a:pPr>
              <a:buClr>
                <a:schemeClr val="tx1"/>
              </a:buClr>
              <a:buSzPct val="120000"/>
            </a:pPr>
            <a:r>
              <a:rPr lang="en-US" sz="2400" dirty="0" smtClean="0"/>
              <a:t>Appreciate the importance of glazing to the thermal performance of a house.</a:t>
            </a:r>
          </a:p>
          <a:p>
            <a:pPr>
              <a:buClr>
                <a:schemeClr val="tx1"/>
              </a:buClr>
              <a:buSzPct val="120000"/>
            </a:pPr>
            <a:r>
              <a:rPr lang="en-US" sz="2400" dirty="0"/>
              <a:t>U</a:t>
            </a:r>
            <a:r>
              <a:rPr lang="en-US" sz="2400" dirty="0" smtClean="0"/>
              <a:t>nderstand the meaning of external glazing.</a:t>
            </a:r>
          </a:p>
          <a:p>
            <a:pPr>
              <a:buClr>
                <a:schemeClr val="tx1"/>
              </a:buClr>
              <a:buSzPct val="120000"/>
            </a:pPr>
            <a:r>
              <a:rPr lang="en-US" sz="2400" dirty="0" smtClean="0"/>
              <a:t>Understand the meaning of Total System U-Value.</a:t>
            </a:r>
          </a:p>
          <a:p>
            <a:pPr>
              <a:buClr>
                <a:schemeClr val="tx1"/>
              </a:buClr>
              <a:buSzPct val="120000"/>
            </a:pPr>
            <a:r>
              <a:rPr lang="en-US" sz="2400" dirty="0"/>
              <a:t>U</a:t>
            </a:r>
            <a:r>
              <a:rPr lang="en-US" sz="2400" dirty="0" smtClean="0"/>
              <a:t>nderstand the meaning of Total System Solar Heat Gain Coefficient (SHGC). </a:t>
            </a:r>
          </a:p>
          <a:p>
            <a:pPr>
              <a:buClr>
                <a:schemeClr val="tx1"/>
              </a:buClr>
              <a:buSzPct val="120000"/>
            </a:pPr>
            <a:r>
              <a:rPr lang="en-US" sz="2400" dirty="0"/>
              <a:t>U</a:t>
            </a:r>
            <a:r>
              <a:rPr lang="en-US" sz="2400" dirty="0" smtClean="0"/>
              <a:t>nderstand the basic principles of the glazing formulae in the elemental Deemed-to-Satisfy Provisions.</a:t>
            </a:r>
          </a:p>
          <a:p>
            <a:pPr>
              <a:buClr>
                <a:schemeClr val="tx1"/>
              </a:buClr>
              <a:buSzPct val="120000"/>
            </a:pPr>
            <a:r>
              <a:rPr lang="en-US" sz="2400" dirty="0"/>
              <a:t>K</a:t>
            </a:r>
            <a:r>
              <a:rPr lang="en-US" sz="2400" dirty="0" smtClean="0"/>
              <a:t>now how to use the ABCB's glazing calculator.</a:t>
            </a:r>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 – Learning Outcomes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58674859"/>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body" idx="1"/>
          </p:nvPr>
        </p:nvSpPr>
        <p:spPr>
          <a:xfrm>
            <a:off x="1331640" y="1752600"/>
            <a:ext cx="7202760" cy="990600"/>
          </a:xfrm>
        </p:spPr>
        <p:txBody>
          <a:bodyPr/>
          <a:lstStyle/>
          <a:p>
            <a:pPr marL="447675" indent="-447675" eaLnBrk="1" hangingPunct="1">
              <a:buClr>
                <a:schemeClr val="tx1"/>
              </a:buClr>
              <a:buSzPct val="120000"/>
              <a:buFont typeface="Monotype Sorts" pitchFamily="2" charset="2"/>
              <a:buNone/>
            </a:pPr>
            <a:r>
              <a:rPr lang="en-US" sz="2000" dirty="0" smtClean="0"/>
              <a:t>QUESTION 1:</a:t>
            </a:r>
          </a:p>
          <a:p>
            <a:pPr marL="447675" indent="-447675" eaLnBrk="1" hangingPunct="1">
              <a:buClr>
                <a:schemeClr val="tx1"/>
              </a:buClr>
              <a:buSzPct val="120000"/>
              <a:buFont typeface="Monotype Sorts" pitchFamily="2" charset="2"/>
              <a:buNone/>
            </a:pPr>
            <a:r>
              <a:rPr lang="en-US" sz="2000" dirty="0" smtClean="0"/>
              <a:t>In your own words, what constitutes the external glazing of a house?</a:t>
            </a:r>
          </a:p>
        </p:txBody>
      </p:sp>
      <p:sp>
        <p:nvSpPr>
          <p:cNvPr id="83972" name="Rectangle 4"/>
          <p:cNvSpPr>
            <a:spLocks noChangeArrowheads="1"/>
          </p:cNvSpPr>
          <p:nvPr/>
        </p:nvSpPr>
        <p:spPr bwMode="auto">
          <a:xfrm>
            <a:off x="1331640" y="2895600"/>
            <a:ext cx="720276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External glazing includes windows and glazed doors.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It excludes roof lights and opaque panels.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Glazing includes both the glass and frame.</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3542067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P spid="839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1331640" y="1752600"/>
            <a:ext cx="6897960" cy="990600"/>
          </a:xfrm>
        </p:spPr>
        <p:txBody>
          <a:bodyPr/>
          <a:lstStyle/>
          <a:p>
            <a:pPr marL="447675" indent="-447675" eaLnBrk="1" hangingPunct="1">
              <a:buClr>
                <a:schemeClr val="tx1"/>
              </a:buClr>
              <a:buSzPct val="120000"/>
              <a:buFont typeface="Monotype Sorts" pitchFamily="2" charset="2"/>
              <a:buNone/>
            </a:pPr>
            <a:r>
              <a:rPr lang="en-US" sz="2000" dirty="0" smtClean="0"/>
              <a:t>QUESTION 2:</a:t>
            </a:r>
          </a:p>
          <a:p>
            <a:pPr marL="447675" indent="-447675" eaLnBrk="1" hangingPunct="1">
              <a:buClr>
                <a:schemeClr val="tx1"/>
              </a:buClr>
              <a:buSzPct val="120000"/>
              <a:buFont typeface="Monotype Sorts" pitchFamily="2" charset="2"/>
              <a:buNone/>
            </a:pPr>
            <a:r>
              <a:rPr lang="en-US" sz="2000" dirty="0" smtClean="0"/>
              <a:t>In your own words, describe the meaning of Total System U-Value?</a:t>
            </a:r>
          </a:p>
        </p:txBody>
      </p:sp>
      <p:sp>
        <p:nvSpPr>
          <p:cNvPr id="86020" name="Rectangle 4"/>
          <p:cNvSpPr>
            <a:spLocks noChangeArrowheads="1"/>
          </p:cNvSpPr>
          <p:nvPr/>
        </p:nvSpPr>
        <p:spPr bwMode="auto">
          <a:xfrm>
            <a:off x="1331640" y="2895600"/>
            <a:ext cx="689796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degree to which a material allows heat to conduct through it.</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Total </a:t>
            </a:r>
            <a:r>
              <a:rPr lang="en-US" sz="2000" dirty="0" smtClean="0">
                <a:latin typeface="Arial Narrow" pitchFamily="34" charset="0"/>
              </a:rPr>
              <a:t>System U-Value </a:t>
            </a:r>
            <a:r>
              <a:rPr lang="en-US" sz="2000" dirty="0">
                <a:latin typeface="Arial Narrow" pitchFamily="34" charset="0"/>
              </a:rPr>
              <a:t>of glazing includes the glass, frame, airspace (for double glazing) and surface resistances.</a:t>
            </a:r>
          </a:p>
          <a:p>
            <a:pPr marL="447675" indent="-447675" algn="l" eaLnBrk="1" hangingPunct="1">
              <a:spcBef>
                <a:spcPct val="30000"/>
              </a:spcBef>
              <a:buClr>
                <a:schemeClr val="tx1"/>
              </a:buClr>
              <a:buSzPct val="120000"/>
              <a:buFont typeface="Monotype Sorts" pitchFamily="2" charset="2"/>
              <a:buChar char="r"/>
            </a:pPr>
            <a:r>
              <a:rPr lang="en-US" sz="2000" dirty="0">
                <a:latin typeface="Arial Narrow" pitchFamily="34" charset="0"/>
              </a:rPr>
              <a:t>The higher the Total </a:t>
            </a:r>
            <a:r>
              <a:rPr lang="en-US" sz="2000" dirty="0" smtClean="0">
                <a:latin typeface="Arial Narrow" pitchFamily="34" charset="0"/>
              </a:rPr>
              <a:t>System U-Value </a:t>
            </a:r>
            <a:r>
              <a:rPr lang="en-US" sz="2000" dirty="0">
                <a:latin typeface="Arial Narrow" pitchFamily="34" charset="0"/>
              </a:rPr>
              <a:t>the more easily a material allows heat to pass through.</a:t>
            </a:r>
          </a:p>
          <a:p>
            <a:pPr marL="447675" indent="-447675" algn="l" eaLnBrk="1" hangingPunct="1">
              <a:spcBef>
                <a:spcPct val="30000"/>
              </a:spcBef>
              <a:buClr>
                <a:schemeClr val="tx1"/>
              </a:buClr>
              <a:buSzPct val="120000"/>
              <a:buFont typeface="Monotype Sorts" pitchFamily="2" charset="2"/>
              <a:buNone/>
            </a:pPr>
            <a:endParaRPr lang="en-US" sz="2000" dirty="0">
              <a:latin typeface="Arial Narrow" pitchFamily="34" charset="0"/>
            </a:endParaRP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4274176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0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P spid="860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body" idx="1"/>
          </p:nvPr>
        </p:nvSpPr>
        <p:spPr>
          <a:xfrm>
            <a:off x="1331640" y="1752600"/>
            <a:ext cx="7583760" cy="914400"/>
          </a:xfrm>
        </p:spPr>
        <p:txBody>
          <a:bodyPr>
            <a:normAutofit fontScale="92500" lnSpcReduction="20000"/>
          </a:bodyPr>
          <a:lstStyle/>
          <a:p>
            <a:pPr marL="447675" indent="-447675" eaLnBrk="1" hangingPunct="1">
              <a:buClr>
                <a:schemeClr val="tx1"/>
              </a:buClr>
              <a:buSzPct val="120000"/>
              <a:buFont typeface="Monotype Sorts" pitchFamily="2" charset="2"/>
              <a:buNone/>
              <a:tabLst>
                <a:tab pos="266700" algn="l"/>
              </a:tabLst>
            </a:pPr>
            <a:r>
              <a:rPr lang="en-US" sz="2000" dirty="0" smtClean="0"/>
              <a:t>QUESTION 3:</a:t>
            </a:r>
          </a:p>
          <a:p>
            <a:pPr marL="0" indent="0" eaLnBrk="1" hangingPunct="1">
              <a:buClr>
                <a:schemeClr val="tx1"/>
              </a:buClr>
              <a:buSzPct val="120000"/>
              <a:buFont typeface="Monotype Sorts" pitchFamily="2" charset="2"/>
              <a:buNone/>
              <a:tabLst>
                <a:tab pos="266700" algn="l"/>
              </a:tabLst>
            </a:pPr>
            <a:r>
              <a:rPr lang="en-US" sz="2000" dirty="0" smtClean="0"/>
              <a:t>In your own words, describe the meaning of Total System Solar Heat Gain Coefficient (SHGC)?</a:t>
            </a:r>
          </a:p>
        </p:txBody>
      </p:sp>
      <p:sp>
        <p:nvSpPr>
          <p:cNvPr id="88068" name="Rectangle 4"/>
          <p:cNvSpPr>
            <a:spLocks noChangeArrowheads="1"/>
          </p:cNvSpPr>
          <p:nvPr/>
        </p:nvSpPr>
        <p:spPr bwMode="auto">
          <a:xfrm>
            <a:off x="1331640" y="2895600"/>
            <a:ext cx="758376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7675" indent="-447675" algn="l" eaLnBrk="1" hangingPunct="1">
              <a:spcBef>
                <a:spcPct val="30000"/>
              </a:spcBef>
              <a:buClr>
                <a:schemeClr val="tx1"/>
              </a:buClr>
              <a:buSzPct val="120000"/>
              <a:buFont typeface="Monotype Sorts" pitchFamily="2" charset="2"/>
              <a:buNone/>
              <a:tabLst>
                <a:tab pos="266700" algn="l"/>
              </a:tabLst>
            </a:pPr>
            <a:r>
              <a:rPr lang="en-US" sz="2000" dirty="0">
                <a:latin typeface="Arial Narrow" pitchFamily="34" charset="0"/>
              </a:rPr>
              <a:t>ANSWER:</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percentage of solar radiation that passes through the glazing.</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SHGC of glazing includes the glass and frame.</a:t>
            </a:r>
          </a:p>
          <a:p>
            <a:pPr marL="447675" indent="-447675" algn="l" eaLnBrk="1" hangingPunct="1">
              <a:spcBef>
                <a:spcPct val="30000"/>
              </a:spcBef>
              <a:buClr>
                <a:schemeClr val="tx1"/>
              </a:buClr>
              <a:buSzPct val="120000"/>
              <a:buFont typeface="Monotype Sorts" pitchFamily="2" charset="2"/>
              <a:buChar char="r"/>
              <a:tabLst>
                <a:tab pos="266700" algn="l"/>
              </a:tabLst>
            </a:pPr>
            <a:r>
              <a:rPr lang="en-US" sz="2000" dirty="0">
                <a:latin typeface="Arial Narrow" pitchFamily="34" charset="0"/>
              </a:rPr>
              <a:t>The higher the SHGC the greater amount of solar radiation that passes through the glazing.</a:t>
            </a:r>
          </a:p>
        </p:txBody>
      </p:sp>
      <p:sp>
        <p:nvSpPr>
          <p:cNvPr id="6" name="Rectangle 5"/>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507656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80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8806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1403648" y="1752600"/>
            <a:ext cx="6825952" cy="4038600"/>
          </a:xfrm>
        </p:spPr>
        <p:txBody>
          <a:bodyPr>
            <a:normAutofit fontScale="92500" lnSpcReduction="20000"/>
          </a:bodyPr>
          <a:lstStyle/>
          <a:p>
            <a:pPr marL="0" indent="0" eaLnBrk="1" hangingPunct="1">
              <a:buClr>
                <a:schemeClr val="tx1"/>
              </a:buClr>
              <a:buSzPct val="120000"/>
              <a:buFont typeface="Monotype Sorts" pitchFamily="2" charset="2"/>
              <a:buNone/>
            </a:pPr>
            <a:r>
              <a:rPr lang="en-US" sz="2000" dirty="0" smtClean="0"/>
              <a:t>QUESTION 4:</a:t>
            </a:r>
          </a:p>
          <a:p>
            <a:pPr marL="0" indent="0" eaLnBrk="1" hangingPunct="1">
              <a:buClr>
                <a:schemeClr val="tx1"/>
              </a:buClr>
              <a:buSzPct val="120000"/>
              <a:buFont typeface="Monotype Sorts" pitchFamily="2" charset="2"/>
              <a:buNone/>
            </a:pPr>
            <a:r>
              <a:rPr lang="en-US" sz="2000" dirty="0" smtClean="0"/>
              <a:t>Using 3.12.2.1(a), determine whether the external glazing for the house described below is compliant. </a:t>
            </a:r>
            <a:endParaRPr lang="en-US" sz="800" dirty="0" smtClean="0"/>
          </a:p>
          <a:p>
            <a:pPr marL="0" indent="0" eaLnBrk="1" hangingPunct="1">
              <a:buClr>
                <a:schemeClr val="tx1"/>
              </a:buClr>
              <a:buSzPct val="120000"/>
              <a:buFont typeface="Monotype Sorts" pitchFamily="2" charset="2"/>
              <a:buNone/>
            </a:pPr>
            <a:endParaRPr lang="en-US" sz="2000" dirty="0" smtClean="0"/>
          </a:p>
          <a:p>
            <a:pPr marL="0" indent="0" eaLnBrk="1" hangingPunct="1">
              <a:buClr>
                <a:schemeClr val="tx1"/>
              </a:buClr>
              <a:buSzPct val="120000"/>
              <a:buFont typeface="Monotype Sorts" pitchFamily="2" charset="2"/>
              <a:buChar char="r"/>
            </a:pPr>
            <a:r>
              <a:rPr lang="en-US" sz="2000" dirty="0" smtClean="0"/>
              <a:t>   House is located in climate zone 5.  </a:t>
            </a:r>
          </a:p>
          <a:p>
            <a:pPr marL="0" indent="0" eaLnBrk="1" hangingPunct="1">
              <a:buClr>
                <a:schemeClr val="tx1"/>
              </a:buClr>
              <a:buSzPct val="120000"/>
              <a:buFont typeface="Monotype Sorts" pitchFamily="2" charset="2"/>
              <a:buChar char="r"/>
            </a:pPr>
            <a:r>
              <a:rPr lang="en-US" sz="2000" dirty="0" smtClean="0"/>
              <a:t>   Single </a:t>
            </a:r>
            <a:r>
              <a:rPr lang="en-US" sz="2000" dirty="0" err="1" smtClean="0"/>
              <a:t>storey</a:t>
            </a:r>
            <a:r>
              <a:rPr lang="en-US" sz="2000" dirty="0" smtClean="0"/>
              <a:t> concrete slab-on-ground floor.</a:t>
            </a:r>
          </a:p>
          <a:p>
            <a:pPr marL="0" indent="0" eaLnBrk="1" hangingPunct="1">
              <a:buClr>
                <a:schemeClr val="tx1"/>
              </a:buClr>
              <a:buSzPct val="120000"/>
              <a:buFont typeface="Monotype Sorts" pitchFamily="2" charset="2"/>
              <a:buChar char="r"/>
            </a:pPr>
            <a:r>
              <a:rPr lang="en-US" sz="2000" dirty="0" smtClean="0"/>
              <a:t>   100 m</a:t>
            </a:r>
            <a:r>
              <a:rPr lang="en-US" sz="2000" baseline="30000" dirty="0" smtClean="0"/>
              <a:t>2</a:t>
            </a:r>
            <a:r>
              <a:rPr lang="en-US" sz="2000" dirty="0" smtClean="0"/>
              <a:t> rectangular floor plan, long axis east - west.</a:t>
            </a:r>
          </a:p>
          <a:p>
            <a:pPr marL="0" indent="0" eaLnBrk="1" hangingPunct="1">
              <a:buClr>
                <a:schemeClr val="tx1"/>
              </a:buClr>
              <a:buSzPct val="120000"/>
              <a:buFont typeface="Monotype Sorts" pitchFamily="2" charset="2"/>
              <a:buChar char="r"/>
            </a:pPr>
            <a:r>
              <a:rPr lang="en-US" sz="2000" dirty="0" smtClean="0"/>
              <a:t>   300 mm eaves on all sides</a:t>
            </a:r>
          </a:p>
          <a:p>
            <a:pPr marL="0" indent="0" eaLnBrk="1" hangingPunct="1">
              <a:buClr>
                <a:schemeClr val="tx1"/>
              </a:buClr>
              <a:buSzPct val="120000"/>
              <a:buFont typeface="Monotype Sorts" pitchFamily="2" charset="2"/>
              <a:buChar char="r"/>
            </a:pPr>
            <a:r>
              <a:rPr lang="en-US" sz="2000" dirty="0" smtClean="0"/>
              <a:t>   Window head height 100 mm below the eaves.</a:t>
            </a:r>
          </a:p>
          <a:p>
            <a:pPr marL="0" indent="0" eaLnBrk="1" hangingPunct="1">
              <a:buClr>
                <a:schemeClr val="tx1"/>
              </a:buClr>
              <a:buSzPct val="120000"/>
              <a:buFont typeface="Monotype Sorts" pitchFamily="2" charset="2"/>
              <a:buChar char="r"/>
            </a:pPr>
            <a:r>
              <a:rPr lang="en-US" sz="2000" dirty="0" smtClean="0"/>
              <a:t>   Standard ventilation.</a:t>
            </a:r>
          </a:p>
          <a:p>
            <a:pPr marL="0" indent="0" eaLnBrk="1" hangingPunct="1">
              <a:buClr>
                <a:schemeClr val="tx1"/>
              </a:buClr>
              <a:buSzPct val="120000"/>
              <a:buFont typeface="Monotype Sorts" pitchFamily="2" charset="2"/>
              <a:buChar char="r"/>
              <a:tabLst>
                <a:tab pos="444500" algn="l"/>
              </a:tabLst>
            </a:pPr>
            <a:r>
              <a:rPr lang="en-US" sz="2000" dirty="0" smtClean="0"/>
              <a:t>   Single glazed clear aluminum windows </a:t>
            </a:r>
          </a:p>
          <a:p>
            <a:pPr marL="0" indent="0" eaLnBrk="1" hangingPunct="1">
              <a:buClr>
                <a:schemeClr val="tx1"/>
              </a:buClr>
              <a:buSzPct val="120000"/>
              <a:buNone/>
              <a:tabLst>
                <a:tab pos="444500" algn="l"/>
              </a:tabLst>
            </a:pPr>
            <a:r>
              <a:rPr lang="en-US" sz="2000" dirty="0"/>
              <a:t>	</a:t>
            </a:r>
            <a:r>
              <a:rPr lang="en-US" sz="2000" dirty="0" smtClean="0"/>
              <a:t>(Total System U-Value of 7.9 W/m</a:t>
            </a:r>
            <a:r>
              <a:rPr lang="en-US" sz="2000" baseline="30000" dirty="0" smtClean="0"/>
              <a:t>2</a:t>
            </a:r>
            <a:r>
              <a:rPr lang="en-US" sz="2000" dirty="0" smtClean="0"/>
              <a:t>.K and SHGC of 0.81).</a:t>
            </a:r>
          </a:p>
          <a:p>
            <a:pPr marL="0" indent="0" eaLnBrk="1" hangingPunct="1">
              <a:buClr>
                <a:schemeClr val="tx1"/>
              </a:buClr>
              <a:buSzPct val="120000"/>
              <a:buFont typeface="Monotype Sorts" pitchFamily="2" charset="2"/>
              <a:buChar char="r"/>
              <a:tabLst>
                <a:tab pos="444500" algn="l"/>
              </a:tabLst>
            </a:pPr>
            <a:endParaRPr lang="en-US" sz="2000" dirty="0" smtClean="0"/>
          </a:p>
          <a:p>
            <a:pPr marL="0" indent="0" eaLnBrk="1" hangingPunct="1">
              <a:buClr>
                <a:schemeClr val="tx1"/>
              </a:buClr>
              <a:buSzPct val="120000"/>
              <a:buFont typeface="Monotype Sorts" pitchFamily="2" charset="2"/>
              <a:buNone/>
            </a:pPr>
            <a:r>
              <a:rPr lang="en-US" sz="2000" dirty="0" smtClean="0"/>
              <a:t>See plan and glazing schedule on next slide</a:t>
            </a:r>
          </a:p>
          <a:p>
            <a:pPr marL="0" indent="0" eaLnBrk="1" hangingPunct="1">
              <a:buClr>
                <a:schemeClr val="tx1"/>
              </a:buClr>
              <a:buSzPct val="120000"/>
              <a:buFont typeface="Monotype Sorts" pitchFamily="2" charset="2"/>
              <a:buNone/>
            </a:pPr>
            <a:endParaRPr lang="en-US" sz="2000" dirty="0" smtClean="0"/>
          </a:p>
        </p:txBody>
      </p:sp>
      <p:sp>
        <p:nvSpPr>
          <p:cNvPr id="5" name="Rectangle 4"/>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95279090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722" name="Rectangle 5" descr="Large grid"/>
          <p:cNvSpPr>
            <a:spLocks noChangeArrowheads="1"/>
          </p:cNvSpPr>
          <p:nvPr/>
        </p:nvSpPr>
        <p:spPr bwMode="auto">
          <a:xfrm>
            <a:off x="1921321" y="2492523"/>
            <a:ext cx="900113" cy="1655763"/>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23" name="Rectangle 6" descr="Large grid"/>
          <p:cNvSpPr>
            <a:spLocks noChangeArrowheads="1"/>
          </p:cNvSpPr>
          <p:nvPr/>
        </p:nvSpPr>
        <p:spPr bwMode="auto">
          <a:xfrm>
            <a:off x="3542159" y="3464073"/>
            <a:ext cx="611187" cy="539750"/>
          </a:xfrm>
          <a:prstGeom prst="rect">
            <a:avLst/>
          </a:prstGeom>
          <a:pattFill prst="lgGri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724" name="Picture 7"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45800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8"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47959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9"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3000821" y="5011886"/>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10" descr="BD1818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71708">
            <a:off x="2900809" y="2679848"/>
            <a:ext cx="173038"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Rectangle 11"/>
          <p:cNvSpPr>
            <a:spLocks noChangeArrowheads="1"/>
          </p:cNvSpPr>
          <p:nvPr/>
        </p:nvSpPr>
        <p:spPr bwMode="auto">
          <a:xfrm>
            <a:off x="1776859" y="5011886"/>
            <a:ext cx="1079500" cy="2159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29" name="Rectangle 12"/>
          <p:cNvSpPr>
            <a:spLocks noChangeArrowheads="1"/>
          </p:cNvSpPr>
          <p:nvPr/>
        </p:nvSpPr>
        <p:spPr bwMode="auto">
          <a:xfrm>
            <a:off x="697359" y="2492523"/>
            <a:ext cx="4318000" cy="2735263"/>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AU">
              <a:latin typeface="Arial" charset="0"/>
            </a:endParaRPr>
          </a:p>
        </p:txBody>
      </p:sp>
      <p:sp>
        <p:nvSpPr>
          <p:cNvPr id="30730" name="Rectangle 13"/>
          <p:cNvSpPr>
            <a:spLocks noChangeArrowheads="1"/>
          </p:cNvSpPr>
          <p:nvPr/>
        </p:nvSpPr>
        <p:spPr bwMode="auto">
          <a:xfrm>
            <a:off x="625921" y="2419498"/>
            <a:ext cx="4464050" cy="2879725"/>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1" name="AutoShape 14"/>
          <p:cNvSpPr>
            <a:spLocks noChangeArrowheads="1"/>
          </p:cNvSpPr>
          <p:nvPr/>
        </p:nvSpPr>
        <p:spPr bwMode="auto">
          <a:xfrm>
            <a:off x="841821"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2" name="AutoShape 15"/>
          <p:cNvSpPr>
            <a:spLocks noChangeArrowheads="1"/>
          </p:cNvSpPr>
          <p:nvPr/>
        </p:nvSpPr>
        <p:spPr bwMode="auto">
          <a:xfrm>
            <a:off x="1921321"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AU">
              <a:latin typeface="Arial" charset="0"/>
            </a:endParaRPr>
          </a:p>
        </p:txBody>
      </p:sp>
      <p:sp>
        <p:nvSpPr>
          <p:cNvPr id="30733" name="AutoShape 16"/>
          <p:cNvSpPr>
            <a:spLocks noChangeArrowheads="1"/>
          </p:cNvSpPr>
          <p:nvPr/>
        </p:nvSpPr>
        <p:spPr bwMode="auto">
          <a:xfrm>
            <a:off x="2929384" y="5227786"/>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4" name="AutoShape 17"/>
          <p:cNvSpPr>
            <a:spLocks noChangeArrowheads="1"/>
          </p:cNvSpPr>
          <p:nvPr/>
        </p:nvSpPr>
        <p:spPr bwMode="auto">
          <a:xfrm>
            <a:off x="401047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5" name="AutoShape 18"/>
          <p:cNvSpPr>
            <a:spLocks noChangeArrowheads="1"/>
          </p:cNvSpPr>
          <p:nvPr/>
        </p:nvSpPr>
        <p:spPr bwMode="auto">
          <a:xfrm>
            <a:off x="192132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6" name="AutoShape 19"/>
          <p:cNvSpPr>
            <a:spLocks noChangeArrowheads="1"/>
          </p:cNvSpPr>
          <p:nvPr/>
        </p:nvSpPr>
        <p:spPr bwMode="auto">
          <a:xfrm>
            <a:off x="841821"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7" name="AutoShape 20"/>
          <p:cNvSpPr>
            <a:spLocks noChangeArrowheads="1"/>
          </p:cNvSpPr>
          <p:nvPr/>
        </p:nvSpPr>
        <p:spPr bwMode="auto">
          <a:xfrm>
            <a:off x="2929384" y="2384573"/>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8" name="Line 21"/>
          <p:cNvSpPr>
            <a:spLocks noChangeShapeType="1"/>
          </p:cNvSpPr>
          <p:nvPr/>
        </p:nvSpPr>
        <p:spPr bwMode="auto">
          <a:xfrm>
            <a:off x="3434209" y="1671786"/>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39" name="Line 22"/>
          <p:cNvSpPr>
            <a:spLocks noChangeShapeType="1"/>
          </p:cNvSpPr>
          <p:nvPr/>
        </p:nvSpPr>
        <p:spPr bwMode="auto">
          <a:xfrm flipH="1" flipV="1">
            <a:off x="3145284" y="1670198"/>
            <a:ext cx="288925"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0" name="Arc 23"/>
          <p:cNvSpPr>
            <a:spLocks/>
          </p:cNvSpPr>
          <p:nvPr/>
        </p:nvSpPr>
        <p:spPr bwMode="auto">
          <a:xfrm flipH="1">
            <a:off x="3216721" y="1741636"/>
            <a:ext cx="287338" cy="217487"/>
          </a:xfrm>
          <a:custGeom>
            <a:avLst/>
            <a:gdLst>
              <a:gd name="T0" fmla="*/ 0 w 21600"/>
              <a:gd name="T1" fmla="*/ 0 h 21600"/>
              <a:gd name="T2" fmla="*/ 287338 w 21600"/>
              <a:gd name="T3" fmla="*/ 217487 h 21600"/>
              <a:gd name="T4" fmla="*/ 0 w 21600"/>
              <a:gd name="T5" fmla="*/ 21748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41" name="Text Box 24"/>
          <p:cNvSpPr txBox="1">
            <a:spLocks noChangeArrowheads="1"/>
          </p:cNvSpPr>
          <p:nvPr/>
        </p:nvSpPr>
        <p:spPr bwMode="auto">
          <a:xfrm>
            <a:off x="2102296" y="1746398"/>
            <a:ext cx="9366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l" eaLnBrk="1" hangingPunct="1">
              <a:spcBef>
                <a:spcPct val="50000"/>
              </a:spcBef>
            </a:pPr>
            <a:r>
              <a:rPr lang="en-AU" sz="1000">
                <a:latin typeface="Arial" charset="0"/>
              </a:rPr>
              <a:t>True North</a:t>
            </a:r>
          </a:p>
        </p:txBody>
      </p:sp>
      <p:sp>
        <p:nvSpPr>
          <p:cNvPr id="30742" name="Line 25"/>
          <p:cNvSpPr>
            <a:spLocks noChangeShapeType="1"/>
          </p:cNvSpPr>
          <p:nvPr/>
        </p:nvSpPr>
        <p:spPr bwMode="auto">
          <a:xfrm>
            <a:off x="410021" y="5516711"/>
            <a:ext cx="4894263" cy="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3" name="Line 26"/>
          <p:cNvSpPr>
            <a:spLocks noChangeShapeType="1"/>
          </p:cNvSpPr>
          <p:nvPr/>
        </p:nvSpPr>
        <p:spPr bwMode="auto">
          <a:xfrm>
            <a:off x="410021" y="2203598"/>
            <a:ext cx="4894263" cy="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4" name="Line 27"/>
          <p:cNvSpPr>
            <a:spLocks noChangeShapeType="1"/>
          </p:cNvSpPr>
          <p:nvPr/>
        </p:nvSpPr>
        <p:spPr bwMode="auto">
          <a:xfrm>
            <a:off x="408434" y="2203598"/>
            <a:ext cx="0" cy="3311525"/>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5" name="Line 28"/>
          <p:cNvSpPr>
            <a:spLocks noChangeShapeType="1"/>
          </p:cNvSpPr>
          <p:nvPr/>
        </p:nvSpPr>
        <p:spPr bwMode="auto">
          <a:xfrm>
            <a:off x="5305871" y="2203598"/>
            <a:ext cx="0" cy="3311525"/>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6" name="Line 29"/>
          <p:cNvSpPr>
            <a:spLocks noChangeShapeType="1"/>
          </p:cNvSpPr>
          <p:nvPr/>
        </p:nvSpPr>
        <p:spPr bwMode="auto">
          <a:xfrm>
            <a:off x="841821" y="2438548"/>
            <a:ext cx="863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7" name="Line 30"/>
          <p:cNvSpPr>
            <a:spLocks noChangeShapeType="1"/>
          </p:cNvSpPr>
          <p:nvPr/>
        </p:nvSpPr>
        <p:spPr bwMode="auto">
          <a:xfrm>
            <a:off x="8418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8" name="Line 31"/>
          <p:cNvSpPr>
            <a:spLocks noChangeShapeType="1"/>
          </p:cNvSpPr>
          <p:nvPr/>
        </p:nvSpPr>
        <p:spPr bwMode="auto">
          <a:xfrm>
            <a:off x="17054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49" name="Line 32"/>
          <p:cNvSpPr>
            <a:spLocks noChangeShapeType="1"/>
          </p:cNvSpPr>
          <p:nvPr/>
        </p:nvSpPr>
        <p:spPr bwMode="auto">
          <a:xfrm>
            <a:off x="19213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0" name="Line 33"/>
          <p:cNvSpPr>
            <a:spLocks noChangeShapeType="1"/>
          </p:cNvSpPr>
          <p:nvPr/>
        </p:nvSpPr>
        <p:spPr bwMode="auto">
          <a:xfrm>
            <a:off x="3792984"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1" name="Line 34"/>
          <p:cNvSpPr>
            <a:spLocks noChangeShapeType="1"/>
          </p:cNvSpPr>
          <p:nvPr/>
        </p:nvSpPr>
        <p:spPr bwMode="auto">
          <a:xfrm>
            <a:off x="278492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2" name="Line 35"/>
          <p:cNvSpPr>
            <a:spLocks noChangeShapeType="1"/>
          </p:cNvSpPr>
          <p:nvPr/>
        </p:nvSpPr>
        <p:spPr bwMode="auto">
          <a:xfrm>
            <a:off x="2929384"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3" name="Line 36"/>
          <p:cNvSpPr>
            <a:spLocks noChangeShapeType="1"/>
          </p:cNvSpPr>
          <p:nvPr/>
        </p:nvSpPr>
        <p:spPr bwMode="auto">
          <a:xfrm>
            <a:off x="487407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4" name="Line 37"/>
          <p:cNvSpPr>
            <a:spLocks noChangeShapeType="1"/>
          </p:cNvSpPr>
          <p:nvPr/>
        </p:nvSpPr>
        <p:spPr bwMode="auto">
          <a:xfrm>
            <a:off x="4010471" y="2419498"/>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5" name="Line 38"/>
          <p:cNvSpPr>
            <a:spLocks noChangeShapeType="1"/>
          </p:cNvSpPr>
          <p:nvPr/>
        </p:nvSpPr>
        <p:spPr bwMode="auto">
          <a:xfrm>
            <a:off x="17054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6" name="Line 39"/>
          <p:cNvSpPr>
            <a:spLocks noChangeShapeType="1"/>
          </p:cNvSpPr>
          <p:nvPr/>
        </p:nvSpPr>
        <p:spPr bwMode="auto">
          <a:xfrm>
            <a:off x="487407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7" name="Line 40"/>
          <p:cNvSpPr>
            <a:spLocks noChangeShapeType="1"/>
          </p:cNvSpPr>
          <p:nvPr/>
        </p:nvSpPr>
        <p:spPr bwMode="auto">
          <a:xfrm>
            <a:off x="401047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8" name="Line 41"/>
          <p:cNvSpPr>
            <a:spLocks noChangeShapeType="1"/>
          </p:cNvSpPr>
          <p:nvPr/>
        </p:nvSpPr>
        <p:spPr bwMode="auto">
          <a:xfrm>
            <a:off x="3792984"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59" name="Line 42"/>
          <p:cNvSpPr>
            <a:spLocks noChangeShapeType="1"/>
          </p:cNvSpPr>
          <p:nvPr/>
        </p:nvSpPr>
        <p:spPr bwMode="auto">
          <a:xfrm>
            <a:off x="2929384"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0" name="Line 43"/>
          <p:cNvSpPr>
            <a:spLocks noChangeShapeType="1"/>
          </p:cNvSpPr>
          <p:nvPr/>
        </p:nvSpPr>
        <p:spPr bwMode="auto">
          <a:xfrm>
            <a:off x="27849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1" name="Line 44"/>
          <p:cNvSpPr>
            <a:spLocks noChangeShapeType="1"/>
          </p:cNvSpPr>
          <p:nvPr/>
        </p:nvSpPr>
        <p:spPr bwMode="auto">
          <a:xfrm>
            <a:off x="19213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2" name="Line 45"/>
          <p:cNvSpPr>
            <a:spLocks noChangeShapeType="1"/>
          </p:cNvSpPr>
          <p:nvPr/>
        </p:nvSpPr>
        <p:spPr bwMode="auto">
          <a:xfrm>
            <a:off x="841821" y="5227786"/>
            <a:ext cx="0" cy="73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3" name="Line 46"/>
          <p:cNvSpPr>
            <a:spLocks noChangeShapeType="1"/>
          </p:cNvSpPr>
          <p:nvPr/>
        </p:nvSpPr>
        <p:spPr bwMode="auto">
          <a:xfrm>
            <a:off x="1921321"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4" name="Line 47"/>
          <p:cNvSpPr>
            <a:spLocks noChangeShapeType="1"/>
          </p:cNvSpPr>
          <p:nvPr/>
        </p:nvSpPr>
        <p:spPr bwMode="auto">
          <a:xfrm>
            <a:off x="2929384"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5" name="Line 48"/>
          <p:cNvSpPr>
            <a:spLocks noChangeShapeType="1"/>
          </p:cNvSpPr>
          <p:nvPr/>
        </p:nvSpPr>
        <p:spPr bwMode="auto">
          <a:xfrm>
            <a:off x="4010471" y="243854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6" name="Line 49"/>
          <p:cNvSpPr>
            <a:spLocks noChangeShapeType="1"/>
          </p:cNvSpPr>
          <p:nvPr/>
        </p:nvSpPr>
        <p:spPr bwMode="auto">
          <a:xfrm>
            <a:off x="1921321"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7" name="Line 50"/>
          <p:cNvSpPr>
            <a:spLocks noChangeShapeType="1"/>
          </p:cNvSpPr>
          <p:nvPr/>
        </p:nvSpPr>
        <p:spPr bwMode="auto">
          <a:xfrm>
            <a:off x="2929384"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8" name="Line 51"/>
          <p:cNvSpPr>
            <a:spLocks noChangeShapeType="1"/>
          </p:cNvSpPr>
          <p:nvPr/>
        </p:nvSpPr>
        <p:spPr bwMode="auto">
          <a:xfrm>
            <a:off x="625921" y="3572023"/>
            <a:ext cx="3603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69" name="Arc 52"/>
          <p:cNvSpPr>
            <a:spLocks/>
          </p:cNvSpPr>
          <p:nvPr/>
        </p:nvSpPr>
        <p:spPr bwMode="auto">
          <a:xfrm rot="10632780" flipH="1">
            <a:off x="625921" y="3572023"/>
            <a:ext cx="358775" cy="360363"/>
          </a:xfrm>
          <a:custGeom>
            <a:avLst/>
            <a:gdLst>
              <a:gd name="T0" fmla="*/ 0 w 21600"/>
              <a:gd name="T1" fmla="*/ 0 h 21600"/>
              <a:gd name="T2" fmla="*/ 358775 w 21600"/>
              <a:gd name="T3" fmla="*/ 360363 h 21600"/>
              <a:gd name="T4" fmla="*/ 0 w 21600"/>
              <a:gd name="T5" fmla="*/ 36036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0" name="Line 53"/>
          <p:cNvSpPr>
            <a:spLocks noChangeShapeType="1"/>
          </p:cNvSpPr>
          <p:nvPr/>
        </p:nvSpPr>
        <p:spPr bwMode="auto">
          <a:xfrm>
            <a:off x="121096" y="6019948"/>
            <a:ext cx="5473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1" name="Line 54"/>
          <p:cNvSpPr>
            <a:spLocks noChangeShapeType="1"/>
          </p:cNvSpPr>
          <p:nvPr/>
        </p:nvSpPr>
        <p:spPr bwMode="auto">
          <a:xfrm>
            <a:off x="41002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2" name="Line 55"/>
          <p:cNvSpPr>
            <a:spLocks noChangeShapeType="1"/>
          </p:cNvSpPr>
          <p:nvPr/>
        </p:nvSpPr>
        <p:spPr bwMode="auto">
          <a:xfrm>
            <a:off x="841821" y="5281761"/>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3" name="Rectangle 56"/>
          <p:cNvSpPr>
            <a:spLocks noChangeArrowheads="1"/>
          </p:cNvSpPr>
          <p:nvPr/>
        </p:nvSpPr>
        <p:spPr bwMode="auto">
          <a:xfrm>
            <a:off x="1884809" y="2492523"/>
            <a:ext cx="36512" cy="165576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4" name="Rectangle 57"/>
          <p:cNvSpPr>
            <a:spLocks noChangeArrowheads="1"/>
          </p:cNvSpPr>
          <p:nvPr/>
        </p:nvSpPr>
        <p:spPr bwMode="auto">
          <a:xfrm>
            <a:off x="697359" y="3467248"/>
            <a:ext cx="852487"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5" name="Rectangle 59"/>
          <p:cNvSpPr>
            <a:spLocks noChangeArrowheads="1"/>
          </p:cNvSpPr>
          <p:nvPr/>
        </p:nvSpPr>
        <p:spPr bwMode="auto">
          <a:xfrm>
            <a:off x="2784921" y="2492523"/>
            <a:ext cx="36513" cy="100806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6" name="Line 60"/>
          <p:cNvSpPr>
            <a:spLocks noChangeShapeType="1"/>
          </p:cNvSpPr>
          <p:nvPr/>
        </p:nvSpPr>
        <p:spPr bwMode="auto">
          <a:xfrm flipV="1">
            <a:off x="1865759"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7" name="Arc 61"/>
          <p:cNvSpPr>
            <a:spLocks/>
          </p:cNvSpPr>
          <p:nvPr/>
        </p:nvSpPr>
        <p:spPr bwMode="auto">
          <a:xfrm flipH="1">
            <a:off x="1560959"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8" name="Line 62"/>
          <p:cNvSpPr>
            <a:spLocks noChangeShapeType="1"/>
          </p:cNvSpPr>
          <p:nvPr/>
        </p:nvSpPr>
        <p:spPr bwMode="auto">
          <a:xfrm flipV="1">
            <a:off x="2765871"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79" name="Arc 63"/>
          <p:cNvSpPr>
            <a:spLocks/>
          </p:cNvSpPr>
          <p:nvPr/>
        </p:nvSpPr>
        <p:spPr bwMode="auto">
          <a:xfrm flipH="1">
            <a:off x="2476946"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0" name="Rectangle 64"/>
          <p:cNvSpPr>
            <a:spLocks noChangeArrowheads="1"/>
          </p:cNvSpPr>
          <p:nvPr/>
        </p:nvSpPr>
        <p:spPr bwMode="auto">
          <a:xfrm rot="-5400000">
            <a:off x="2334072" y="3695848"/>
            <a:ext cx="36512" cy="93503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1" name="Rectangle 65"/>
          <p:cNvSpPr>
            <a:spLocks noChangeArrowheads="1"/>
          </p:cNvSpPr>
          <p:nvPr/>
        </p:nvSpPr>
        <p:spPr bwMode="auto">
          <a:xfrm>
            <a:off x="697359" y="4148286"/>
            <a:ext cx="852487" cy="36512"/>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2" name="Rectangle 66"/>
          <p:cNvSpPr>
            <a:spLocks noChangeArrowheads="1"/>
          </p:cNvSpPr>
          <p:nvPr/>
        </p:nvSpPr>
        <p:spPr bwMode="auto">
          <a:xfrm>
            <a:off x="697359" y="4003823"/>
            <a:ext cx="849312"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3" name="Line 67"/>
          <p:cNvSpPr>
            <a:spLocks noChangeShapeType="1"/>
          </p:cNvSpPr>
          <p:nvPr/>
        </p:nvSpPr>
        <p:spPr bwMode="auto">
          <a:xfrm flipV="1">
            <a:off x="697359" y="4003823"/>
            <a:ext cx="846137"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4" name="Line 68"/>
          <p:cNvSpPr>
            <a:spLocks noChangeShapeType="1"/>
          </p:cNvSpPr>
          <p:nvPr/>
        </p:nvSpPr>
        <p:spPr bwMode="auto">
          <a:xfrm>
            <a:off x="697359" y="4003823"/>
            <a:ext cx="846137"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5" name="Line 69"/>
          <p:cNvSpPr>
            <a:spLocks noChangeShapeType="1"/>
          </p:cNvSpPr>
          <p:nvPr/>
        </p:nvSpPr>
        <p:spPr bwMode="auto">
          <a:xfrm flipV="1">
            <a:off x="2845246" y="3211661"/>
            <a:ext cx="0" cy="2873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786" name="Arc 70"/>
          <p:cNvSpPr>
            <a:spLocks/>
          </p:cNvSpPr>
          <p:nvPr/>
        </p:nvSpPr>
        <p:spPr bwMode="auto">
          <a:xfrm rot="5400000" flipH="1">
            <a:off x="2845246" y="3211661"/>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7" name="plant"/>
          <p:cNvSpPr>
            <a:spLocks noEditPoints="1" noChangeArrowheads="1"/>
          </p:cNvSpPr>
          <p:nvPr/>
        </p:nvSpPr>
        <p:spPr bwMode="auto">
          <a:xfrm>
            <a:off x="1921321"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788" name="plant"/>
          <p:cNvSpPr>
            <a:spLocks noEditPoints="1" noChangeArrowheads="1"/>
          </p:cNvSpPr>
          <p:nvPr/>
        </p:nvSpPr>
        <p:spPr bwMode="auto">
          <a:xfrm>
            <a:off x="697359"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789" name="Picture 73" descr="BD18251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1943546" y="2902098"/>
            <a:ext cx="17303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0" name="Picture 74" descr="BD18184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757870">
            <a:off x="4340671" y="4897586"/>
            <a:ext cx="273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1" name="Picture 75" descr="BD18193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5400000">
            <a:off x="3452465" y="4706292"/>
            <a:ext cx="665163"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2" name="Picture 76" descr="BD18184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4005701">
            <a:off x="4340671" y="4464198"/>
            <a:ext cx="273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3" name="Picture 7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81909" y="4580086"/>
            <a:ext cx="207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4" name="plant"/>
          <p:cNvSpPr>
            <a:spLocks noEditPoints="1" noChangeArrowheads="1"/>
          </p:cNvSpPr>
          <p:nvPr/>
        </p:nvSpPr>
        <p:spPr bwMode="auto">
          <a:xfrm>
            <a:off x="697359" y="49404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795" name="plant"/>
          <p:cNvSpPr>
            <a:spLocks noEditPoints="1" noChangeArrowheads="1"/>
          </p:cNvSpPr>
          <p:nvPr/>
        </p:nvSpPr>
        <p:spPr bwMode="auto">
          <a:xfrm>
            <a:off x="2210246"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796" name="Picture 8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821" y="4659461"/>
            <a:ext cx="5651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7" name="Picture 81" descr="BD18247_"/>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5400000">
            <a:off x="2577753" y="2917179"/>
            <a:ext cx="277812"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98" name="Picture 8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0471" y="2779861"/>
            <a:ext cx="517525"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9" name="Picture 8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7221" y="5011886"/>
            <a:ext cx="366713"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0" name="Rectangle 84"/>
          <p:cNvSpPr>
            <a:spLocks noChangeArrowheads="1"/>
          </p:cNvSpPr>
          <p:nvPr/>
        </p:nvSpPr>
        <p:spPr bwMode="auto">
          <a:xfrm>
            <a:off x="2857946" y="4580086"/>
            <a:ext cx="2159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01" name="Picture 8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4525626">
            <a:off x="1069627" y="4928542"/>
            <a:ext cx="173038"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2" name="Picture 8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6101268">
            <a:off x="1069627" y="4539605"/>
            <a:ext cx="173037"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3" name="Rectangle 87"/>
          <p:cNvSpPr>
            <a:spLocks noChangeArrowheads="1"/>
          </p:cNvSpPr>
          <p:nvPr/>
        </p:nvSpPr>
        <p:spPr bwMode="auto">
          <a:xfrm rot="5400000">
            <a:off x="4460528" y="2906066"/>
            <a:ext cx="971550"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04" name="Picture 8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1646" y="2698898"/>
            <a:ext cx="633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5" name="Rectangle 89"/>
          <p:cNvSpPr>
            <a:spLocks noChangeArrowheads="1"/>
          </p:cNvSpPr>
          <p:nvPr/>
        </p:nvSpPr>
        <p:spPr bwMode="auto">
          <a:xfrm rot="5400000">
            <a:off x="1524447" y="2722710"/>
            <a:ext cx="576262"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06" name="Line 90"/>
          <p:cNvSpPr>
            <a:spLocks noChangeShapeType="1"/>
          </p:cNvSpPr>
          <p:nvPr/>
        </p:nvSpPr>
        <p:spPr bwMode="auto">
          <a:xfrm flipH="1">
            <a:off x="1740346" y="2492523"/>
            <a:ext cx="144463"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07" name="Line 91"/>
          <p:cNvSpPr>
            <a:spLocks noChangeShapeType="1"/>
          </p:cNvSpPr>
          <p:nvPr/>
        </p:nvSpPr>
        <p:spPr bwMode="auto">
          <a:xfrm>
            <a:off x="1740346" y="2492523"/>
            <a:ext cx="144463"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08" name="Rectangle 92"/>
          <p:cNvSpPr>
            <a:spLocks noChangeArrowheads="1"/>
          </p:cNvSpPr>
          <p:nvPr/>
        </p:nvSpPr>
        <p:spPr bwMode="auto">
          <a:xfrm>
            <a:off x="4513709" y="3284686"/>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09" name="Rectangle 93"/>
          <p:cNvSpPr>
            <a:spLocks noChangeArrowheads="1"/>
          </p:cNvSpPr>
          <p:nvPr/>
        </p:nvSpPr>
        <p:spPr bwMode="auto">
          <a:xfrm>
            <a:off x="3866009" y="3284686"/>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0" name="plant"/>
          <p:cNvSpPr>
            <a:spLocks noEditPoints="1" noChangeArrowheads="1"/>
          </p:cNvSpPr>
          <p:nvPr/>
        </p:nvSpPr>
        <p:spPr bwMode="auto">
          <a:xfrm>
            <a:off x="1345059"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11" name="plant"/>
          <p:cNvSpPr>
            <a:spLocks noEditPoints="1" noChangeArrowheads="1"/>
          </p:cNvSpPr>
          <p:nvPr/>
        </p:nvSpPr>
        <p:spPr bwMode="auto">
          <a:xfrm>
            <a:off x="2497584" y="42197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12" name="Rectangle 96"/>
          <p:cNvSpPr>
            <a:spLocks noChangeArrowheads="1"/>
          </p:cNvSpPr>
          <p:nvPr/>
        </p:nvSpPr>
        <p:spPr bwMode="auto">
          <a:xfrm>
            <a:off x="732284" y="3211661"/>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3" name="Rectangle 97"/>
          <p:cNvSpPr>
            <a:spLocks noChangeArrowheads="1"/>
          </p:cNvSpPr>
          <p:nvPr/>
        </p:nvSpPr>
        <p:spPr bwMode="auto">
          <a:xfrm>
            <a:off x="732284" y="2563961"/>
            <a:ext cx="144462" cy="1444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14" name="Picture 9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27684" y="2492523"/>
            <a:ext cx="6445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5" name="Picture 9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21321" y="3500586"/>
            <a:ext cx="190500" cy="19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6" name="Picture 10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1321" y="3787923"/>
            <a:ext cx="125413" cy="13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17" name="Rectangle 101"/>
          <p:cNvSpPr>
            <a:spLocks noChangeArrowheads="1"/>
          </p:cNvSpPr>
          <p:nvPr/>
        </p:nvSpPr>
        <p:spPr bwMode="auto">
          <a:xfrm>
            <a:off x="2784921" y="3821261"/>
            <a:ext cx="36513" cy="32385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18" name="Line 102"/>
          <p:cNvSpPr>
            <a:spLocks noChangeShapeType="1"/>
          </p:cNvSpPr>
          <p:nvPr/>
        </p:nvSpPr>
        <p:spPr bwMode="auto">
          <a:xfrm rot="5400000" flipV="1">
            <a:off x="2655540" y="3668067"/>
            <a:ext cx="1587" cy="269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19" name="Arc 103"/>
          <p:cNvSpPr>
            <a:spLocks/>
          </p:cNvSpPr>
          <p:nvPr/>
        </p:nvSpPr>
        <p:spPr bwMode="auto">
          <a:xfrm rot="21350947" flipH="1">
            <a:off x="2513459" y="3525986"/>
            <a:ext cx="288925" cy="269875"/>
          </a:xfrm>
          <a:custGeom>
            <a:avLst/>
            <a:gdLst>
              <a:gd name="T0" fmla="*/ 0 w 21600"/>
              <a:gd name="T1" fmla="*/ 0 h 21600"/>
              <a:gd name="T2" fmla="*/ 288925 w 21600"/>
              <a:gd name="T3" fmla="*/ 269875 h 21600"/>
              <a:gd name="T4" fmla="*/ 0 w 21600"/>
              <a:gd name="T5" fmla="*/ 2698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0" name="Rectangle 104"/>
          <p:cNvSpPr>
            <a:spLocks noChangeArrowheads="1"/>
          </p:cNvSpPr>
          <p:nvPr/>
        </p:nvSpPr>
        <p:spPr bwMode="auto">
          <a:xfrm>
            <a:off x="1921321" y="3310086"/>
            <a:ext cx="360363" cy="1444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1" name="Line 105"/>
          <p:cNvSpPr>
            <a:spLocks noChangeShapeType="1"/>
          </p:cNvSpPr>
          <p:nvPr/>
        </p:nvSpPr>
        <p:spPr bwMode="auto">
          <a:xfrm flipV="1">
            <a:off x="1921321" y="3310086"/>
            <a:ext cx="360363"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2" name="Line 106"/>
          <p:cNvSpPr>
            <a:spLocks noChangeShapeType="1"/>
          </p:cNvSpPr>
          <p:nvPr/>
        </p:nvSpPr>
        <p:spPr bwMode="auto">
          <a:xfrm>
            <a:off x="1921321" y="3310086"/>
            <a:ext cx="360363"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3" name="Rectangle 107"/>
          <p:cNvSpPr>
            <a:spLocks noChangeArrowheads="1"/>
          </p:cNvSpPr>
          <p:nvPr/>
        </p:nvSpPr>
        <p:spPr bwMode="auto">
          <a:xfrm>
            <a:off x="1921321" y="3467248"/>
            <a:ext cx="542925"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4" name="Rectangle 108"/>
          <p:cNvSpPr>
            <a:spLocks noChangeArrowheads="1"/>
          </p:cNvSpPr>
          <p:nvPr/>
        </p:nvSpPr>
        <p:spPr bwMode="auto">
          <a:xfrm>
            <a:off x="1921321" y="3992711"/>
            <a:ext cx="849313" cy="1444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5" name="Line 109"/>
          <p:cNvSpPr>
            <a:spLocks noChangeShapeType="1"/>
          </p:cNvSpPr>
          <p:nvPr/>
        </p:nvSpPr>
        <p:spPr bwMode="auto">
          <a:xfrm flipV="1">
            <a:off x="1921321" y="3992711"/>
            <a:ext cx="846138"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6" name="Line 110"/>
          <p:cNvSpPr>
            <a:spLocks noChangeShapeType="1"/>
          </p:cNvSpPr>
          <p:nvPr/>
        </p:nvSpPr>
        <p:spPr bwMode="auto">
          <a:xfrm>
            <a:off x="1921321" y="3992711"/>
            <a:ext cx="846138"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7" name="Rectangle 111"/>
          <p:cNvSpPr>
            <a:spLocks noChangeArrowheads="1"/>
          </p:cNvSpPr>
          <p:nvPr/>
        </p:nvSpPr>
        <p:spPr bwMode="auto">
          <a:xfrm>
            <a:off x="3505646" y="3500586"/>
            <a:ext cx="36513" cy="82708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8" name="Rectangle 112"/>
          <p:cNvSpPr>
            <a:spLocks noChangeArrowheads="1"/>
          </p:cNvSpPr>
          <p:nvPr/>
        </p:nvSpPr>
        <p:spPr bwMode="auto">
          <a:xfrm>
            <a:off x="4153346" y="3500586"/>
            <a:ext cx="36513" cy="827087"/>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29" name="Rectangle 113"/>
          <p:cNvSpPr>
            <a:spLocks noChangeArrowheads="1"/>
          </p:cNvSpPr>
          <p:nvPr/>
        </p:nvSpPr>
        <p:spPr bwMode="auto">
          <a:xfrm rot="-5400000">
            <a:off x="3829496" y="3968898"/>
            <a:ext cx="36513" cy="6842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0" name="Line 114"/>
          <p:cNvSpPr>
            <a:spLocks noChangeShapeType="1"/>
          </p:cNvSpPr>
          <p:nvPr/>
        </p:nvSpPr>
        <p:spPr bwMode="auto">
          <a:xfrm flipV="1">
            <a:off x="3558034" y="3464073"/>
            <a:ext cx="0" cy="2873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31" name="Rectangle 115"/>
          <p:cNvSpPr>
            <a:spLocks noChangeArrowheads="1"/>
          </p:cNvSpPr>
          <p:nvPr/>
        </p:nvSpPr>
        <p:spPr bwMode="auto">
          <a:xfrm>
            <a:off x="3856484" y="3464073"/>
            <a:ext cx="1162050"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2" name="Arc 116"/>
          <p:cNvSpPr>
            <a:spLocks/>
          </p:cNvSpPr>
          <p:nvPr/>
        </p:nvSpPr>
        <p:spPr bwMode="auto">
          <a:xfrm rot="10800000" flipH="1">
            <a:off x="3558034" y="3464073"/>
            <a:ext cx="288925" cy="288925"/>
          </a:xfrm>
          <a:custGeom>
            <a:avLst/>
            <a:gdLst>
              <a:gd name="T0" fmla="*/ 0 w 21600"/>
              <a:gd name="T1" fmla="*/ 0 h 21600"/>
              <a:gd name="T2" fmla="*/ 288925 w 21600"/>
              <a:gd name="T3" fmla="*/ 288925 h 21600"/>
              <a:gd name="T4" fmla="*/ 0 w 21600"/>
              <a:gd name="T5" fmla="*/ 2889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3" name="Rectangle 117"/>
          <p:cNvSpPr>
            <a:spLocks noChangeArrowheads="1"/>
          </p:cNvSpPr>
          <p:nvPr/>
        </p:nvSpPr>
        <p:spPr bwMode="auto">
          <a:xfrm>
            <a:off x="3145284" y="3464073"/>
            <a:ext cx="395287" cy="365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30834" name="Picture 1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48509" y="4003823"/>
            <a:ext cx="60483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5" name="Picture 119" descr="BD18251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66009" y="3498998"/>
            <a:ext cx="173037"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6" name="Picture 120" descr="BD18247_"/>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rot="5400000">
            <a:off x="3939828" y="3780779"/>
            <a:ext cx="277812"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0837" name="plant"/>
          <p:cNvSpPr>
            <a:spLocks noEditPoints="1" noChangeArrowheads="1"/>
          </p:cNvSpPr>
          <p:nvPr/>
        </p:nvSpPr>
        <p:spPr bwMode="auto">
          <a:xfrm>
            <a:off x="3289746" y="40768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38" name="plant"/>
          <p:cNvSpPr>
            <a:spLocks noEditPoints="1" noChangeArrowheads="1"/>
          </p:cNvSpPr>
          <p:nvPr/>
        </p:nvSpPr>
        <p:spPr bwMode="auto">
          <a:xfrm>
            <a:off x="3289746" y="37879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39" name="plant"/>
          <p:cNvSpPr>
            <a:spLocks noEditPoints="1" noChangeArrowheads="1"/>
          </p:cNvSpPr>
          <p:nvPr/>
        </p:nvSpPr>
        <p:spPr bwMode="auto">
          <a:xfrm>
            <a:off x="3289746"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0" name="plant"/>
          <p:cNvSpPr>
            <a:spLocks noEditPoints="1" noChangeArrowheads="1"/>
          </p:cNvSpPr>
          <p:nvPr/>
        </p:nvSpPr>
        <p:spPr bwMode="auto">
          <a:xfrm>
            <a:off x="4226371" y="35005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pic>
        <p:nvPicPr>
          <p:cNvPr id="30841" name="Picture 125" descr="BD18196_"/>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397821" y="3500586"/>
            <a:ext cx="403225"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42" name="chair"/>
          <p:cNvSpPr>
            <a:spLocks noEditPoints="1" noChangeArrowheads="1"/>
          </p:cNvSpPr>
          <p:nvPr/>
        </p:nvSpPr>
        <p:spPr bwMode="auto">
          <a:xfrm rot="10800000">
            <a:off x="4513709" y="3716486"/>
            <a:ext cx="179387" cy="136525"/>
          </a:xfrm>
          <a:custGeom>
            <a:avLst/>
            <a:gdLst>
              <a:gd name="T0" fmla="*/ 89694 w 21600"/>
              <a:gd name="T1" fmla="*/ 0 h 21600"/>
              <a:gd name="T2" fmla="*/ 179387 w 21600"/>
              <a:gd name="T3" fmla="*/ 68263 h 21600"/>
              <a:gd name="T4" fmla="*/ 89694 w 21600"/>
              <a:gd name="T5" fmla="*/ 136525 h 21600"/>
              <a:gd name="T6" fmla="*/ 0 w 21600"/>
              <a:gd name="T7" fmla="*/ 68263 h 21600"/>
              <a:gd name="T8" fmla="*/ 0 60000 65536"/>
              <a:gd name="T9" fmla="*/ 0 60000 65536"/>
              <a:gd name="T10" fmla="*/ 0 60000 65536"/>
              <a:gd name="T11" fmla="*/ 0 60000 65536"/>
              <a:gd name="T12" fmla="*/ 5400 w 21600"/>
              <a:gd name="T13" fmla="*/ 7265 h 21600"/>
              <a:gd name="T14" fmla="*/ 16200 w 21600"/>
              <a:gd name="T15" fmla="*/ 17869 h 21600"/>
            </a:gdLst>
            <a:ahLst/>
            <a:cxnLst>
              <a:cxn ang="T8">
                <a:pos x="T0" y="T1"/>
              </a:cxn>
              <a:cxn ang="T9">
                <a:pos x="T2" y="T3"/>
              </a:cxn>
              <a:cxn ang="T10">
                <a:pos x="T4" y="T5"/>
              </a:cxn>
              <a:cxn ang="T11">
                <a:pos x="T6" y="T7"/>
              </a:cxn>
            </a:cxnLst>
            <a:rect l="T12" t="T13" r="T14" b="T15"/>
            <a:pathLst>
              <a:path w="21600" h="21600" extrusionOk="0">
                <a:moveTo>
                  <a:pt x="12960" y="3927"/>
                </a:moveTo>
                <a:lnTo>
                  <a:pt x="14760" y="3927"/>
                </a:lnTo>
                <a:cubicBezTo>
                  <a:pt x="17640" y="4713"/>
                  <a:pt x="18000" y="3535"/>
                  <a:pt x="18000" y="2356"/>
                </a:cubicBezTo>
                <a:cubicBezTo>
                  <a:pt x="18000" y="785"/>
                  <a:pt x="15840" y="0"/>
                  <a:pt x="10800" y="0"/>
                </a:cubicBezTo>
                <a:cubicBezTo>
                  <a:pt x="6120" y="0"/>
                  <a:pt x="3600" y="785"/>
                  <a:pt x="3600" y="2356"/>
                </a:cubicBezTo>
                <a:cubicBezTo>
                  <a:pt x="3600" y="3535"/>
                  <a:pt x="4320" y="4713"/>
                  <a:pt x="6840" y="3927"/>
                </a:cubicBezTo>
                <a:lnTo>
                  <a:pt x="8640" y="3927"/>
                </a:lnTo>
                <a:lnTo>
                  <a:pt x="8640" y="5891"/>
                </a:lnTo>
                <a:lnTo>
                  <a:pt x="6840" y="5891"/>
                </a:lnTo>
                <a:cubicBezTo>
                  <a:pt x="5400" y="5891"/>
                  <a:pt x="4320" y="7069"/>
                  <a:pt x="4320" y="8640"/>
                </a:cubicBezTo>
                <a:lnTo>
                  <a:pt x="4320" y="10996"/>
                </a:lnTo>
                <a:lnTo>
                  <a:pt x="2880" y="10996"/>
                </a:lnTo>
                <a:lnTo>
                  <a:pt x="2880" y="8640"/>
                </a:lnTo>
                <a:cubicBezTo>
                  <a:pt x="2880" y="7855"/>
                  <a:pt x="2520" y="7069"/>
                  <a:pt x="1440" y="7069"/>
                </a:cubicBezTo>
                <a:cubicBezTo>
                  <a:pt x="720" y="7069"/>
                  <a:pt x="0" y="7855"/>
                  <a:pt x="0" y="8640"/>
                </a:cubicBezTo>
                <a:lnTo>
                  <a:pt x="0" y="10604"/>
                </a:lnTo>
                <a:lnTo>
                  <a:pt x="0" y="17280"/>
                </a:lnTo>
                <a:cubicBezTo>
                  <a:pt x="0" y="18065"/>
                  <a:pt x="720" y="18851"/>
                  <a:pt x="1440" y="18851"/>
                </a:cubicBezTo>
                <a:cubicBezTo>
                  <a:pt x="2520" y="18851"/>
                  <a:pt x="2880" y="18065"/>
                  <a:pt x="2880" y="17280"/>
                </a:cubicBezTo>
                <a:lnTo>
                  <a:pt x="2880" y="14531"/>
                </a:lnTo>
                <a:lnTo>
                  <a:pt x="4320" y="14531"/>
                </a:lnTo>
                <a:lnTo>
                  <a:pt x="4320" y="15709"/>
                </a:lnTo>
                <a:cubicBezTo>
                  <a:pt x="4320" y="18458"/>
                  <a:pt x="6840" y="21600"/>
                  <a:pt x="10800" y="21600"/>
                </a:cubicBezTo>
                <a:cubicBezTo>
                  <a:pt x="15120" y="21600"/>
                  <a:pt x="17280" y="18458"/>
                  <a:pt x="17280" y="15709"/>
                </a:cubicBezTo>
                <a:lnTo>
                  <a:pt x="17280" y="14531"/>
                </a:lnTo>
                <a:lnTo>
                  <a:pt x="18720" y="14531"/>
                </a:lnTo>
                <a:lnTo>
                  <a:pt x="18720" y="17280"/>
                </a:lnTo>
                <a:cubicBezTo>
                  <a:pt x="18720" y="18065"/>
                  <a:pt x="19440" y="18851"/>
                  <a:pt x="20160" y="18851"/>
                </a:cubicBezTo>
                <a:cubicBezTo>
                  <a:pt x="20880" y="18851"/>
                  <a:pt x="21600" y="18065"/>
                  <a:pt x="21600" y="17280"/>
                </a:cubicBezTo>
                <a:lnTo>
                  <a:pt x="21600" y="10604"/>
                </a:lnTo>
                <a:lnTo>
                  <a:pt x="21600" y="8640"/>
                </a:lnTo>
                <a:cubicBezTo>
                  <a:pt x="21600" y="7855"/>
                  <a:pt x="20880" y="7069"/>
                  <a:pt x="20160" y="7069"/>
                </a:cubicBezTo>
                <a:cubicBezTo>
                  <a:pt x="19440" y="7069"/>
                  <a:pt x="18720" y="7855"/>
                  <a:pt x="18720" y="8640"/>
                </a:cubicBezTo>
                <a:lnTo>
                  <a:pt x="18720" y="10996"/>
                </a:lnTo>
                <a:lnTo>
                  <a:pt x="17280" y="10996"/>
                </a:lnTo>
                <a:lnTo>
                  <a:pt x="17280" y="8640"/>
                </a:lnTo>
                <a:cubicBezTo>
                  <a:pt x="17280" y="7069"/>
                  <a:pt x="16200" y="5891"/>
                  <a:pt x="14760" y="5891"/>
                </a:cubicBezTo>
                <a:lnTo>
                  <a:pt x="12960" y="5891"/>
                </a:lnTo>
                <a:lnTo>
                  <a:pt x="12960" y="3927"/>
                </a:lnTo>
                <a:close/>
                <a:moveTo>
                  <a:pt x="12960" y="3927"/>
                </a:moveTo>
                <a:moveTo>
                  <a:pt x="2880" y="10996"/>
                </a:moveTo>
                <a:moveTo>
                  <a:pt x="4320" y="10996"/>
                </a:moveTo>
                <a:lnTo>
                  <a:pt x="4320" y="14531"/>
                </a:lnTo>
                <a:moveTo>
                  <a:pt x="2880" y="14531"/>
                </a:moveTo>
                <a:lnTo>
                  <a:pt x="2880" y="10996"/>
                </a:lnTo>
                <a:moveTo>
                  <a:pt x="17280" y="10996"/>
                </a:moveTo>
                <a:moveTo>
                  <a:pt x="18720" y="10996"/>
                </a:moveTo>
                <a:lnTo>
                  <a:pt x="18720" y="14531"/>
                </a:lnTo>
                <a:moveTo>
                  <a:pt x="17280" y="14531"/>
                </a:moveTo>
                <a:lnTo>
                  <a:pt x="17280" y="10996"/>
                </a:lnTo>
                <a:moveTo>
                  <a:pt x="8640" y="3927"/>
                </a:moveTo>
                <a:lnTo>
                  <a:pt x="12960" y="3927"/>
                </a:lnTo>
                <a:moveTo>
                  <a:pt x="12960" y="5891"/>
                </a:moveTo>
                <a:lnTo>
                  <a:pt x="8640" y="5891"/>
                </a:lnTo>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3" name="plant"/>
          <p:cNvSpPr>
            <a:spLocks noEditPoints="1" noChangeArrowheads="1"/>
          </p:cNvSpPr>
          <p:nvPr/>
        </p:nvSpPr>
        <p:spPr bwMode="auto">
          <a:xfrm>
            <a:off x="48010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4" name="plant"/>
          <p:cNvSpPr>
            <a:spLocks noEditPoints="1" noChangeArrowheads="1"/>
          </p:cNvSpPr>
          <p:nvPr/>
        </p:nvSpPr>
        <p:spPr bwMode="auto">
          <a:xfrm>
            <a:off x="43692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5" name="plant"/>
          <p:cNvSpPr>
            <a:spLocks noEditPoints="1" noChangeArrowheads="1"/>
          </p:cNvSpPr>
          <p:nvPr/>
        </p:nvSpPr>
        <p:spPr bwMode="auto">
          <a:xfrm>
            <a:off x="4585146" y="41482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46" name="desklamp"/>
          <p:cNvSpPr>
            <a:spLocks noEditPoints="1" noChangeArrowheads="1"/>
          </p:cNvSpPr>
          <p:nvPr/>
        </p:nvSpPr>
        <p:spPr bwMode="auto">
          <a:xfrm>
            <a:off x="4658171" y="3500586"/>
            <a:ext cx="179388" cy="179387"/>
          </a:xfrm>
          <a:custGeom>
            <a:avLst/>
            <a:gdLst>
              <a:gd name="T0" fmla="*/ 41824 w 21600"/>
              <a:gd name="T1" fmla="*/ 107134 h 21600"/>
              <a:gd name="T2" fmla="*/ 41824 w 21600"/>
              <a:gd name="T3" fmla="*/ 124441 h 21600"/>
              <a:gd name="T4" fmla="*/ 0 w 21600"/>
              <a:gd name="T5" fmla="*/ 124441 h 21600"/>
              <a:gd name="T6" fmla="*/ 0 w 21600"/>
              <a:gd name="T7" fmla="*/ 107134 h 21600"/>
              <a:gd name="T8" fmla="*/ 0 60000 65536"/>
              <a:gd name="T9" fmla="*/ 0 60000 65536"/>
              <a:gd name="T10" fmla="*/ 0 60000 65536"/>
              <a:gd name="T11" fmla="*/ 0 60000 65536"/>
              <a:gd name="T12" fmla="*/ 2186 w 21600"/>
              <a:gd name="T13" fmla="*/ 22426 h 21600"/>
              <a:gd name="T14" fmla="*/ 19435 w 21600"/>
              <a:gd name="T15" fmla="*/ 27471 h 21600"/>
            </a:gdLst>
            <a:ahLst/>
            <a:cxnLst>
              <a:cxn ang="T8">
                <a:pos x="T0" y="T1"/>
              </a:cxn>
              <a:cxn ang="T9">
                <a:pos x="T2" y="T3"/>
              </a:cxn>
              <a:cxn ang="T10">
                <a:pos x="T4" y="T5"/>
              </a:cxn>
              <a:cxn ang="T11">
                <a:pos x="T6" y="T7"/>
              </a:cxn>
            </a:cxnLst>
            <a:rect l="T12" t="T13" r="T14" b="T15"/>
            <a:pathLst>
              <a:path w="21600" h="21600" extrusionOk="0">
                <a:moveTo>
                  <a:pt x="11178" y="11842"/>
                </a:moveTo>
                <a:lnTo>
                  <a:pt x="11644" y="12206"/>
                </a:lnTo>
                <a:lnTo>
                  <a:pt x="12168" y="12702"/>
                </a:lnTo>
                <a:lnTo>
                  <a:pt x="12605" y="13000"/>
                </a:lnTo>
                <a:lnTo>
                  <a:pt x="13129" y="13330"/>
                </a:lnTo>
                <a:lnTo>
                  <a:pt x="13682" y="13529"/>
                </a:lnTo>
                <a:lnTo>
                  <a:pt x="14264" y="13694"/>
                </a:lnTo>
                <a:lnTo>
                  <a:pt x="14905" y="13794"/>
                </a:lnTo>
                <a:lnTo>
                  <a:pt x="15545" y="13794"/>
                </a:lnTo>
                <a:lnTo>
                  <a:pt x="16127" y="13794"/>
                </a:lnTo>
                <a:lnTo>
                  <a:pt x="16680" y="13694"/>
                </a:lnTo>
                <a:lnTo>
                  <a:pt x="17233" y="13529"/>
                </a:lnTo>
                <a:lnTo>
                  <a:pt x="17816" y="13330"/>
                </a:lnTo>
                <a:lnTo>
                  <a:pt x="18427" y="13033"/>
                </a:lnTo>
                <a:lnTo>
                  <a:pt x="18893" y="12702"/>
                </a:lnTo>
                <a:lnTo>
                  <a:pt x="19300" y="12305"/>
                </a:lnTo>
                <a:lnTo>
                  <a:pt x="19766" y="11842"/>
                </a:lnTo>
                <a:lnTo>
                  <a:pt x="20203" y="11379"/>
                </a:lnTo>
                <a:lnTo>
                  <a:pt x="20523" y="10817"/>
                </a:lnTo>
                <a:lnTo>
                  <a:pt x="20843" y="10287"/>
                </a:lnTo>
                <a:lnTo>
                  <a:pt x="21076" y="9626"/>
                </a:lnTo>
                <a:lnTo>
                  <a:pt x="21338" y="8997"/>
                </a:lnTo>
                <a:lnTo>
                  <a:pt x="21513" y="8336"/>
                </a:lnTo>
                <a:lnTo>
                  <a:pt x="21600" y="7608"/>
                </a:lnTo>
                <a:lnTo>
                  <a:pt x="21600" y="6913"/>
                </a:lnTo>
                <a:lnTo>
                  <a:pt x="21600" y="6219"/>
                </a:lnTo>
                <a:lnTo>
                  <a:pt x="21513" y="5590"/>
                </a:lnTo>
                <a:lnTo>
                  <a:pt x="21338" y="4896"/>
                </a:lnTo>
                <a:lnTo>
                  <a:pt x="21163" y="4300"/>
                </a:lnTo>
                <a:lnTo>
                  <a:pt x="20901" y="3705"/>
                </a:lnTo>
                <a:lnTo>
                  <a:pt x="20610" y="3175"/>
                </a:lnTo>
                <a:lnTo>
                  <a:pt x="20290" y="2613"/>
                </a:lnTo>
                <a:lnTo>
                  <a:pt x="19882" y="2117"/>
                </a:lnTo>
                <a:lnTo>
                  <a:pt x="19475" y="1687"/>
                </a:lnTo>
                <a:lnTo>
                  <a:pt x="18980" y="1224"/>
                </a:lnTo>
                <a:lnTo>
                  <a:pt x="18514" y="860"/>
                </a:lnTo>
                <a:lnTo>
                  <a:pt x="17903" y="595"/>
                </a:lnTo>
                <a:lnTo>
                  <a:pt x="17350" y="298"/>
                </a:lnTo>
                <a:lnTo>
                  <a:pt x="16768" y="99"/>
                </a:lnTo>
                <a:lnTo>
                  <a:pt x="16127" y="0"/>
                </a:lnTo>
                <a:lnTo>
                  <a:pt x="15545" y="0"/>
                </a:lnTo>
                <a:lnTo>
                  <a:pt x="14905" y="0"/>
                </a:lnTo>
                <a:lnTo>
                  <a:pt x="14264" y="99"/>
                </a:lnTo>
                <a:lnTo>
                  <a:pt x="13682" y="298"/>
                </a:lnTo>
                <a:lnTo>
                  <a:pt x="13129" y="496"/>
                </a:lnTo>
                <a:lnTo>
                  <a:pt x="12547" y="761"/>
                </a:lnTo>
                <a:lnTo>
                  <a:pt x="12081" y="1058"/>
                </a:lnTo>
                <a:lnTo>
                  <a:pt x="11586" y="1489"/>
                </a:lnTo>
                <a:lnTo>
                  <a:pt x="11178" y="1985"/>
                </a:lnTo>
                <a:lnTo>
                  <a:pt x="10800" y="2481"/>
                </a:lnTo>
                <a:lnTo>
                  <a:pt x="10480" y="2944"/>
                </a:lnTo>
                <a:lnTo>
                  <a:pt x="10130" y="3572"/>
                </a:lnTo>
                <a:lnTo>
                  <a:pt x="9868" y="4201"/>
                </a:lnTo>
                <a:lnTo>
                  <a:pt x="9723" y="4829"/>
                </a:lnTo>
                <a:lnTo>
                  <a:pt x="9548" y="5491"/>
                </a:lnTo>
                <a:lnTo>
                  <a:pt x="9461" y="6219"/>
                </a:lnTo>
                <a:lnTo>
                  <a:pt x="9461" y="6913"/>
                </a:lnTo>
                <a:lnTo>
                  <a:pt x="9461" y="7608"/>
                </a:lnTo>
                <a:lnTo>
                  <a:pt x="9548" y="8336"/>
                </a:lnTo>
                <a:lnTo>
                  <a:pt x="9723" y="8997"/>
                </a:lnTo>
                <a:lnTo>
                  <a:pt x="9868" y="9626"/>
                </a:lnTo>
                <a:lnTo>
                  <a:pt x="10130" y="10254"/>
                </a:lnTo>
                <a:lnTo>
                  <a:pt x="10422" y="10717"/>
                </a:lnTo>
                <a:lnTo>
                  <a:pt x="10858" y="11313"/>
                </a:lnTo>
                <a:lnTo>
                  <a:pt x="11178" y="11842"/>
                </a:lnTo>
                <a:close/>
              </a:path>
              <a:path w="21600" h="21600" extrusionOk="0">
                <a:moveTo>
                  <a:pt x="15545" y="10420"/>
                </a:moveTo>
                <a:lnTo>
                  <a:pt x="16127" y="10387"/>
                </a:lnTo>
                <a:lnTo>
                  <a:pt x="16680" y="10188"/>
                </a:lnTo>
                <a:lnTo>
                  <a:pt x="17292" y="9824"/>
                </a:lnTo>
                <a:lnTo>
                  <a:pt x="17757" y="9427"/>
                </a:lnTo>
                <a:lnTo>
                  <a:pt x="18078" y="8898"/>
                </a:lnTo>
                <a:lnTo>
                  <a:pt x="18427" y="8236"/>
                </a:lnTo>
                <a:lnTo>
                  <a:pt x="18602" y="7608"/>
                </a:lnTo>
                <a:lnTo>
                  <a:pt x="18631" y="6913"/>
                </a:lnTo>
                <a:lnTo>
                  <a:pt x="18602" y="6219"/>
                </a:lnTo>
                <a:lnTo>
                  <a:pt x="18427" y="5590"/>
                </a:lnTo>
                <a:lnTo>
                  <a:pt x="18078" y="4896"/>
                </a:lnTo>
                <a:lnTo>
                  <a:pt x="17670" y="4366"/>
                </a:lnTo>
                <a:lnTo>
                  <a:pt x="17292" y="4002"/>
                </a:lnTo>
                <a:lnTo>
                  <a:pt x="16680" y="3606"/>
                </a:lnTo>
                <a:lnTo>
                  <a:pt x="16127" y="3407"/>
                </a:lnTo>
                <a:lnTo>
                  <a:pt x="15545" y="3374"/>
                </a:lnTo>
                <a:lnTo>
                  <a:pt x="14905" y="3407"/>
                </a:lnTo>
                <a:lnTo>
                  <a:pt x="14351" y="3606"/>
                </a:lnTo>
                <a:lnTo>
                  <a:pt x="13769" y="4002"/>
                </a:lnTo>
                <a:lnTo>
                  <a:pt x="13304" y="4366"/>
                </a:lnTo>
                <a:lnTo>
                  <a:pt x="12954" y="4896"/>
                </a:lnTo>
                <a:lnTo>
                  <a:pt x="12634" y="5590"/>
                </a:lnTo>
                <a:lnTo>
                  <a:pt x="12459" y="6219"/>
                </a:lnTo>
                <a:lnTo>
                  <a:pt x="12430" y="6913"/>
                </a:lnTo>
                <a:lnTo>
                  <a:pt x="12459" y="7608"/>
                </a:lnTo>
                <a:lnTo>
                  <a:pt x="12634" y="8236"/>
                </a:lnTo>
                <a:lnTo>
                  <a:pt x="12954" y="8898"/>
                </a:lnTo>
                <a:lnTo>
                  <a:pt x="13304" y="9328"/>
                </a:lnTo>
                <a:lnTo>
                  <a:pt x="13769" y="9824"/>
                </a:lnTo>
                <a:lnTo>
                  <a:pt x="14351" y="10188"/>
                </a:lnTo>
                <a:lnTo>
                  <a:pt x="14905" y="10387"/>
                </a:lnTo>
                <a:lnTo>
                  <a:pt x="15545" y="10420"/>
                </a:lnTo>
                <a:close/>
              </a:path>
              <a:path w="21600" h="21600" extrusionOk="0">
                <a:moveTo>
                  <a:pt x="15545" y="8633"/>
                </a:moveTo>
                <a:lnTo>
                  <a:pt x="15836" y="8600"/>
                </a:lnTo>
                <a:lnTo>
                  <a:pt x="16098" y="8501"/>
                </a:lnTo>
                <a:lnTo>
                  <a:pt x="16389" y="8303"/>
                </a:lnTo>
                <a:lnTo>
                  <a:pt x="16622" y="8137"/>
                </a:lnTo>
                <a:lnTo>
                  <a:pt x="16768" y="7873"/>
                </a:lnTo>
                <a:lnTo>
                  <a:pt x="16942" y="7542"/>
                </a:lnTo>
                <a:lnTo>
                  <a:pt x="17001" y="7244"/>
                </a:lnTo>
                <a:lnTo>
                  <a:pt x="17030" y="6913"/>
                </a:lnTo>
                <a:lnTo>
                  <a:pt x="17001" y="6549"/>
                </a:lnTo>
                <a:lnTo>
                  <a:pt x="16942" y="6252"/>
                </a:lnTo>
                <a:lnTo>
                  <a:pt x="16768" y="5921"/>
                </a:lnTo>
                <a:lnTo>
                  <a:pt x="16564" y="5689"/>
                </a:lnTo>
                <a:lnTo>
                  <a:pt x="16389" y="5491"/>
                </a:lnTo>
                <a:lnTo>
                  <a:pt x="16098" y="5292"/>
                </a:lnTo>
                <a:lnTo>
                  <a:pt x="15836" y="5226"/>
                </a:lnTo>
                <a:lnTo>
                  <a:pt x="15545" y="5193"/>
                </a:lnTo>
                <a:lnTo>
                  <a:pt x="15225" y="5226"/>
                </a:lnTo>
                <a:lnTo>
                  <a:pt x="14963" y="5292"/>
                </a:lnTo>
                <a:lnTo>
                  <a:pt x="14672" y="5491"/>
                </a:lnTo>
                <a:lnTo>
                  <a:pt x="14439" y="5689"/>
                </a:lnTo>
                <a:lnTo>
                  <a:pt x="14293" y="5921"/>
                </a:lnTo>
                <a:lnTo>
                  <a:pt x="14119" y="6252"/>
                </a:lnTo>
                <a:lnTo>
                  <a:pt x="14031" y="6549"/>
                </a:lnTo>
                <a:lnTo>
                  <a:pt x="14002" y="6913"/>
                </a:lnTo>
                <a:lnTo>
                  <a:pt x="14031" y="7244"/>
                </a:lnTo>
                <a:lnTo>
                  <a:pt x="14119" y="7542"/>
                </a:lnTo>
                <a:lnTo>
                  <a:pt x="14293" y="7873"/>
                </a:lnTo>
                <a:lnTo>
                  <a:pt x="14439" y="8071"/>
                </a:lnTo>
                <a:lnTo>
                  <a:pt x="14672" y="8303"/>
                </a:lnTo>
                <a:lnTo>
                  <a:pt x="14963" y="8501"/>
                </a:lnTo>
                <a:lnTo>
                  <a:pt x="15225" y="8600"/>
                </a:lnTo>
                <a:lnTo>
                  <a:pt x="15545" y="8633"/>
                </a:lnTo>
                <a:close/>
              </a:path>
              <a:path w="21600" h="21600" extrusionOk="0">
                <a:moveTo>
                  <a:pt x="0" y="12900"/>
                </a:moveTo>
                <a:lnTo>
                  <a:pt x="5036" y="12900"/>
                </a:lnTo>
                <a:lnTo>
                  <a:pt x="5036" y="14984"/>
                </a:lnTo>
                <a:lnTo>
                  <a:pt x="0" y="14984"/>
                </a:lnTo>
                <a:lnTo>
                  <a:pt x="0" y="12900"/>
                </a:lnTo>
                <a:close/>
              </a:path>
              <a:path w="21600" h="21600" extrusionOk="0">
                <a:moveTo>
                  <a:pt x="7714" y="19681"/>
                </a:moveTo>
                <a:lnTo>
                  <a:pt x="8675" y="19681"/>
                </a:lnTo>
                <a:lnTo>
                  <a:pt x="12168" y="12669"/>
                </a:lnTo>
                <a:lnTo>
                  <a:pt x="13245" y="13397"/>
                </a:lnTo>
                <a:lnTo>
                  <a:pt x="9170" y="21600"/>
                </a:lnTo>
                <a:lnTo>
                  <a:pt x="7423" y="21600"/>
                </a:lnTo>
                <a:lnTo>
                  <a:pt x="1456" y="14984"/>
                </a:lnTo>
                <a:lnTo>
                  <a:pt x="3348" y="14984"/>
                </a:lnTo>
                <a:lnTo>
                  <a:pt x="7714" y="19681"/>
                </a:lnTo>
              </a:path>
            </a:pathLst>
          </a:custGeom>
          <a:solidFill>
            <a:srgbClr val="C0C0C0"/>
          </a:solidFill>
          <a:ln w="9525">
            <a:solidFill>
              <a:srgbClr val="000000"/>
            </a:solidFill>
            <a:miter lim="800000"/>
            <a:headEnd/>
            <a:tailEnd/>
          </a:ln>
        </p:spPr>
        <p:txBody>
          <a:bodyPr/>
          <a:lstStyle/>
          <a:p>
            <a:endParaRPr lang="en-AU"/>
          </a:p>
        </p:txBody>
      </p:sp>
      <p:sp>
        <p:nvSpPr>
          <p:cNvPr id="30847" name="Line 131"/>
          <p:cNvSpPr>
            <a:spLocks noChangeShapeType="1"/>
          </p:cNvSpPr>
          <p:nvPr/>
        </p:nvSpPr>
        <p:spPr bwMode="auto">
          <a:xfrm flipH="1">
            <a:off x="4874071" y="2492523"/>
            <a:ext cx="144463" cy="971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48" name="Line 132"/>
          <p:cNvSpPr>
            <a:spLocks noChangeShapeType="1"/>
          </p:cNvSpPr>
          <p:nvPr/>
        </p:nvSpPr>
        <p:spPr bwMode="auto">
          <a:xfrm>
            <a:off x="4874071" y="2492523"/>
            <a:ext cx="144463" cy="971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49" name="plant"/>
          <p:cNvSpPr>
            <a:spLocks noEditPoints="1" noChangeArrowheads="1"/>
          </p:cNvSpPr>
          <p:nvPr/>
        </p:nvSpPr>
        <p:spPr bwMode="auto">
          <a:xfrm>
            <a:off x="3792984" y="2492523"/>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0" name="plant"/>
          <p:cNvSpPr>
            <a:spLocks noEditPoints="1" noChangeArrowheads="1"/>
          </p:cNvSpPr>
          <p:nvPr/>
        </p:nvSpPr>
        <p:spPr bwMode="auto">
          <a:xfrm>
            <a:off x="3218309" y="32846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1" name="AutoShape 135"/>
          <p:cNvSpPr>
            <a:spLocks noChangeArrowheads="1"/>
          </p:cNvSpPr>
          <p:nvPr/>
        </p:nvSpPr>
        <p:spPr bwMode="auto">
          <a:xfrm rot="-5400000">
            <a:off x="2714278" y="2707629"/>
            <a:ext cx="431800" cy="144463"/>
          </a:xfrm>
          <a:prstGeom prst="flowChartOffpageConnector">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52" name="Rectangle 136"/>
          <p:cNvSpPr>
            <a:spLocks noChangeArrowheads="1"/>
          </p:cNvSpPr>
          <p:nvPr/>
        </p:nvSpPr>
        <p:spPr bwMode="auto">
          <a:xfrm>
            <a:off x="1057721" y="4219723"/>
            <a:ext cx="360363" cy="1444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53" name="Line 137"/>
          <p:cNvSpPr>
            <a:spLocks noChangeShapeType="1"/>
          </p:cNvSpPr>
          <p:nvPr/>
        </p:nvSpPr>
        <p:spPr bwMode="auto">
          <a:xfrm flipV="1">
            <a:off x="1057721" y="4219723"/>
            <a:ext cx="3603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54" name="Line 138"/>
          <p:cNvSpPr>
            <a:spLocks noChangeShapeType="1"/>
          </p:cNvSpPr>
          <p:nvPr/>
        </p:nvSpPr>
        <p:spPr bwMode="auto">
          <a:xfrm>
            <a:off x="1057721" y="4219723"/>
            <a:ext cx="3603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55" name="plant"/>
          <p:cNvSpPr>
            <a:spLocks noEditPoints="1" noChangeArrowheads="1"/>
          </p:cNvSpPr>
          <p:nvPr/>
        </p:nvSpPr>
        <p:spPr bwMode="auto">
          <a:xfrm>
            <a:off x="3289746" y="45800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6" name="plant"/>
          <p:cNvSpPr>
            <a:spLocks noEditPoints="1" noChangeArrowheads="1"/>
          </p:cNvSpPr>
          <p:nvPr/>
        </p:nvSpPr>
        <p:spPr bwMode="auto">
          <a:xfrm>
            <a:off x="3361184" y="490076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7" name="plant"/>
          <p:cNvSpPr>
            <a:spLocks noEditPoints="1" noChangeArrowheads="1"/>
          </p:cNvSpPr>
          <p:nvPr/>
        </p:nvSpPr>
        <p:spPr bwMode="auto">
          <a:xfrm>
            <a:off x="1489521" y="4940448"/>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8" name="plant"/>
          <p:cNvSpPr>
            <a:spLocks noEditPoints="1" noChangeArrowheads="1"/>
          </p:cNvSpPr>
          <p:nvPr/>
        </p:nvSpPr>
        <p:spPr bwMode="auto">
          <a:xfrm>
            <a:off x="1129159" y="324341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859" name="Line 143"/>
          <p:cNvSpPr>
            <a:spLocks noChangeShapeType="1"/>
          </p:cNvSpPr>
          <p:nvPr/>
        </p:nvSpPr>
        <p:spPr bwMode="auto">
          <a:xfrm>
            <a:off x="5305871" y="5875486"/>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0" name="Line 144"/>
          <p:cNvSpPr>
            <a:spLocks noChangeShapeType="1"/>
          </p:cNvSpPr>
          <p:nvPr/>
        </p:nvSpPr>
        <p:spPr bwMode="auto">
          <a:xfrm>
            <a:off x="62592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1" name="Line 145"/>
          <p:cNvSpPr>
            <a:spLocks noChangeShapeType="1"/>
          </p:cNvSpPr>
          <p:nvPr/>
        </p:nvSpPr>
        <p:spPr bwMode="auto">
          <a:xfrm>
            <a:off x="5089971" y="587707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2" name="Line 146"/>
          <p:cNvSpPr>
            <a:spLocks noChangeShapeType="1"/>
          </p:cNvSpPr>
          <p:nvPr/>
        </p:nvSpPr>
        <p:spPr bwMode="auto">
          <a:xfrm flipH="1">
            <a:off x="552896" y="5948511"/>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3" name="Line 147"/>
          <p:cNvSpPr>
            <a:spLocks noChangeShapeType="1"/>
          </p:cNvSpPr>
          <p:nvPr/>
        </p:nvSpPr>
        <p:spPr bwMode="auto">
          <a:xfrm flipH="1">
            <a:off x="336996" y="5948511"/>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4" name="Line 148"/>
          <p:cNvSpPr>
            <a:spLocks noChangeShapeType="1"/>
          </p:cNvSpPr>
          <p:nvPr/>
        </p:nvSpPr>
        <p:spPr bwMode="auto">
          <a:xfrm flipH="1">
            <a:off x="5018534" y="594851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5" name="Line 149"/>
          <p:cNvSpPr>
            <a:spLocks noChangeShapeType="1"/>
          </p:cNvSpPr>
          <p:nvPr/>
        </p:nvSpPr>
        <p:spPr bwMode="auto">
          <a:xfrm flipH="1">
            <a:off x="5234434" y="594851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6" name="Line 150"/>
          <p:cNvSpPr>
            <a:spLocks noChangeShapeType="1"/>
          </p:cNvSpPr>
          <p:nvPr/>
        </p:nvSpPr>
        <p:spPr bwMode="auto">
          <a:xfrm>
            <a:off x="121096" y="6308873"/>
            <a:ext cx="5473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7" name="Line 151"/>
          <p:cNvSpPr>
            <a:spLocks noChangeShapeType="1"/>
          </p:cNvSpPr>
          <p:nvPr/>
        </p:nvSpPr>
        <p:spPr bwMode="auto">
          <a:xfrm>
            <a:off x="410021" y="6165998"/>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8" name="Line 152"/>
          <p:cNvSpPr>
            <a:spLocks noChangeShapeType="1"/>
          </p:cNvSpPr>
          <p:nvPr/>
        </p:nvSpPr>
        <p:spPr bwMode="auto">
          <a:xfrm>
            <a:off x="5305871" y="6164411"/>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69" name="Line 153"/>
          <p:cNvSpPr>
            <a:spLocks noChangeShapeType="1"/>
          </p:cNvSpPr>
          <p:nvPr/>
        </p:nvSpPr>
        <p:spPr bwMode="auto">
          <a:xfrm flipH="1">
            <a:off x="336996" y="6237436"/>
            <a:ext cx="144463"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0" name="Line 154"/>
          <p:cNvSpPr>
            <a:spLocks noChangeShapeType="1"/>
          </p:cNvSpPr>
          <p:nvPr/>
        </p:nvSpPr>
        <p:spPr bwMode="auto">
          <a:xfrm flipH="1">
            <a:off x="5234434" y="623743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1" name="Line 155"/>
          <p:cNvSpPr>
            <a:spLocks noChangeShapeType="1"/>
          </p:cNvSpPr>
          <p:nvPr/>
        </p:nvSpPr>
        <p:spPr bwMode="auto">
          <a:xfrm>
            <a:off x="5964684" y="1927373"/>
            <a:ext cx="0" cy="388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2" name="Line 156"/>
          <p:cNvSpPr>
            <a:spLocks noChangeShapeType="1"/>
          </p:cNvSpPr>
          <p:nvPr/>
        </p:nvSpPr>
        <p:spPr bwMode="auto">
          <a:xfrm>
            <a:off x="5810696" y="55167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3" name="Line 157"/>
          <p:cNvSpPr>
            <a:spLocks noChangeShapeType="1"/>
          </p:cNvSpPr>
          <p:nvPr/>
        </p:nvSpPr>
        <p:spPr bwMode="auto">
          <a:xfrm>
            <a:off x="5810696" y="22035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4" name="Line 158"/>
          <p:cNvSpPr>
            <a:spLocks noChangeShapeType="1"/>
          </p:cNvSpPr>
          <p:nvPr/>
        </p:nvSpPr>
        <p:spPr bwMode="auto">
          <a:xfrm>
            <a:off x="5880546" y="2130573"/>
            <a:ext cx="146050" cy="1460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5" name="Line 159"/>
          <p:cNvSpPr>
            <a:spLocks noChangeShapeType="1"/>
          </p:cNvSpPr>
          <p:nvPr/>
        </p:nvSpPr>
        <p:spPr bwMode="auto">
          <a:xfrm>
            <a:off x="5882134" y="54436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6" name="Line 160"/>
          <p:cNvSpPr>
            <a:spLocks noChangeShapeType="1"/>
          </p:cNvSpPr>
          <p:nvPr/>
        </p:nvSpPr>
        <p:spPr bwMode="auto">
          <a:xfrm>
            <a:off x="5810696" y="24194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7" name="Line 161"/>
          <p:cNvSpPr>
            <a:spLocks noChangeShapeType="1"/>
          </p:cNvSpPr>
          <p:nvPr/>
        </p:nvSpPr>
        <p:spPr bwMode="auto">
          <a:xfrm>
            <a:off x="5810696" y="53008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8" name="Line 162"/>
          <p:cNvSpPr>
            <a:spLocks noChangeShapeType="1"/>
          </p:cNvSpPr>
          <p:nvPr/>
        </p:nvSpPr>
        <p:spPr bwMode="auto">
          <a:xfrm>
            <a:off x="5882134" y="2348061"/>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79" name="Line 163"/>
          <p:cNvSpPr>
            <a:spLocks noChangeShapeType="1"/>
          </p:cNvSpPr>
          <p:nvPr/>
        </p:nvSpPr>
        <p:spPr bwMode="auto">
          <a:xfrm>
            <a:off x="5882134" y="52277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0" name="Line 164"/>
          <p:cNvSpPr>
            <a:spLocks noChangeShapeType="1"/>
          </p:cNvSpPr>
          <p:nvPr/>
        </p:nvSpPr>
        <p:spPr bwMode="auto">
          <a:xfrm>
            <a:off x="6240909" y="1927373"/>
            <a:ext cx="0" cy="388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1" name="Line 165"/>
          <p:cNvSpPr>
            <a:spLocks noChangeShapeType="1"/>
          </p:cNvSpPr>
          <p:nvPr/>
        </p:nvSpPr>
        <p:spPr bwMode="auto">
          <a:xfrm>
            <a:off x="6099621" y="5516711"/>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2" name="Line 166"/>
          <p:cNvSpPr>
            <a:spLocks noChangeShapeType="1"/>
          </p:cNvSpPr>
          <p:nvPr/>
        </p:nvSpPr>
        <p:spPr bwMode="auto">
          <a:xfrm>
            <a:off x="6099621" y="2203598"/>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3" name="Line 167"/>
          <p:cNvSpPr>
            <a:spLocks noChangeShapeType="1"/>
          </p:cNvSpPr>
          <p:nvPr/>
        </p:nvSpPr>
        <p:spPr bwMode="auto">
          <a:xfrm>
            <a:off x="6169471" y="2130573"/>
            <a:ext cx="146050" cy="1460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4" name="Line 168"/>
          <p:cNvSpPr>
            <a:spLocks noChangeShapeType="1"/>
          </p:cNvSpPr>
          <p:nvPr/>
        </p:nvSpPr>
        <p:spPr bwMode="auto">
          <a:xfrm>
            <a:off x="6171059" y="5443686"/>
            <a:ext cx="144462" cy="14446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85" name="Rectangle 169"/>
          <p:cNvSpPr>
            <a:spLocks noChangeArrowheads="1"/>
          </p:cNvSpPr>
          <p:nvPr/>
        </p:nvSpPr>
        <p:spPr bwMode="auto">
          <a:xfrm>
            <a:off x="4801046" y="4508648"/>
            <a:ext cx="144463"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86" name="Text Box 171"/>
          <p:cNvSpPr txBox="1">
            <a:spLocks noChangeArrowheads="1"/>
          </p:cNvSpPr>
          <p:nvPr/>
        </p:nvSpPr>
        <p:spPr bwMode="auto">
          <a:xfrm>
            <a:off x="2569021" y="5775473"/>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12500</a:t>
            </a:r>
          </a:p>
        </p:txBody>
      </p:sp>
      <p:sp>
        <p:nvSpPr>
          <p:cNvPr id="30887" name="Text Box 172"/>
          <p:cNvSpPr txBox="1">
            <a:spLocks noChangeArrowheads="1"/>
          </p:cNvSpPr>
          <p:nvPr/>
        </p:nvSpPr>
        <p:spPr bwMode="auto">
          <a:xfrm>
            <a:off x="265559" y="5661173"/>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88" name="Text Box 173"/>
          <p:cNvSpPr txBox="1">
            <a:spLocks noChangeArrowheads="1"/>
          </p:cNvSpPr>
          <p:nvPr/>
        </p:nvSpPr>
        <p:spPr bwMode="auto">
          <a:xfrm>
            <a:off x="4945509" y="5661173"/>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89" name="Text Box 174"/>
          <p:cNvSpPr txBox="1">
            <a:spLocks noChangeArrowheads="1"/>
          </p:cNvSpPr>
          <p:nvPr/>
        </p:nvSpPr>
        <p:spPr bwMode="auto">
          <a:xfrm>
            <a:off x="2569021" y="6064398"/>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13700</a:t>
            </a:r>
          </a:p>
        </p:txBody>
      </p:sp>
      <p:sp>
        <p:nvSpPr>
          <p:cNvPr id="30890" name="Text Box 175"/>
          <p:cNvSpPr txBox="1">
            <a:spLocks noChangeArrowheads="1"/>
          </p:cNvSpPr>
          <p:nvPr/>
        </p:nvSpPr>
        <p:spPr bwMode="auto">
          <a:xfrm rot="-5400000">
            <a:off x="5470971" y="36656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8000</a:t>
            </a:r>
          </a:p>
        </p:txBody>
      </p:sp>
      <p:sp>
        <p:nvSpPr>
          <p:cNvPr id="30891" name="Text Box 176"/>
          <p:cNvSpPr txBox="1">
            <a:spLocks noChangeArrowheads="1"/>
          </p:cNvSpPr>
          <p:nvPr/>
        </p:nvSpPr>
        <p:spPr bwMode="auto">
          <a:xfrm rot="-5400000">
            <a:off x="5759896" y="36656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9200</a:t>
            </a:r>
          </a:p>
        </p:txBody>
      </p:sp>
      <p:sp>
        <p:nvSpPr>
          <p:cNvPr id="30892" name="Text Box 177"/>
          <p:cNvSpPr txBox="1">
            <a:spLocks noChangeArrowheads="1"/>
          </p:cNvSpPr>
          <p:nvPr/>
        </p:nvSpPr>
        <p:spPr bwMode="auto">
          <a:xfrm rot="-5400000">
            <a:off x="5355084" y="2154386"/>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93" name="Text Box 178"/>
          <p:cNvSpPr txBox="1">
            <a:spLocks noChangeArrowheads="1"/>
          </p:cNvSpPr>
          <p:nvPr/>
        </p:nvSpPr>
        <p:spPr bwMode="auto">
          <a:xfrm rot="-5400000">
            <a:off x="5355084" y="5250011"/>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1000">
                <a:latin typeface="Arial" charset="0"/>
              </a:rPr>
              <a:t>600</a:t>
            </a:r>
          </a:p>
        </p:txBody>
      </p:sp>
      <p:sp>
        <p:nvSpPr>
          <p:cNvPr id="30894" name="Text Box 179"/>
          <p:cNvSpPr txBox="1">
            <a:spLocks noChangeArrowheads="1"/>
          </p:cNvSpPr>
          <p:nvPr/>
        </p:nvSpPr>
        <p:spPr bwMode="auto">
          <a:xfrm>
            <a:off x="1272034" y="2924323"/>
            <a:ext cx="5048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BED 1</a:t>
            </a:r>
          </a:p>
        </p:txBody>
      </p:sp>
      <p:sp>
        <p:nvSpPr>
          <p:cNvPr id="30895" name="Text Box 180"/>
          <p:cNvSpPr txBox="1">
            <a:spLocks noChangeArrowheads="1"/>
          </p:cNvSpPr>
          <p:nvPr/>
        </p:nvSpPr>
        <p:spPr bwMode="auto">
          <a:xfrm>
            <a:off x="3361184" y="2924323"/>
            <a:ext cx="5048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BED 2</a:t>
            </a:r>
          </a:p>
        </p:txBody>
      </p:sp>
      <p:sp>
        <p:nvSpPr>
          <p:cNvPr id="30896" name="Text Box 181"/>
          <p:cNvSpPr txBox="1">
            <a:spLocks noChangeArrowheads="1"/>
          </p:cNvSpPr>
          <p:nvPr/>
        </p:nvSpPr>
        <p:spPr bwMode="auto">
          <a:xfrm>
            <a:off x="1129159" y="4435623"/>
            <a:ext cx="6477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DINING</a:t>
            </a:r>
          </a:p>
        </p:txBody>
      </p:sp>
      <p:sp>
        <p:nvSpPr>
          <p:cNvPr id="30897" name="Text Box 182"/>
          <p:cNvSpPr txBox="1">
            <a:spLocks noChangeArrowheads="1"/>
          </p:cNvSpPr>
          <p:nvPr/>
        </p:nvSpPr>
        <p:spPr bwMode="auto">
          <a:xfrm>
            <a:off x="3866009" y="4364186"/>
            <a:ext cx="5762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LIVING</a:t>
            </a:r>
          </a:p>
        </p:txBody>
      </p:sp>
      <p:sp>
        <p:nvSpPr>
          <p:cNvPr id="30898" name="Text Box 183"/>
          <p:cNvSpPr txBox="1">
            <a:spLocks noChangeArrowheads="1"/>
          </p:cNvSpPr>
          <p:nvPr/>
        </p:nvSpPr>
        <p:spPr bwMode="auto">
          <a:xfrm>
            <a:off x="2065784" y="4580086"/>
            <a:ext cx="64770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KITCHEN</a:t>
            </a:r>
          </a:p>
        </p:txBody>
      </p:sp>
      <p:sp>
        <p:nvSpPr>
          <p:cNvPr id="30899" name="AutoShape 555"/>
          <p:cNvSpPr>
            <a:spLocks noChangeArrowheads="1"/>
          </p:cNvSpPr>
          <p:nvPr/>
        </p:nvSpPr>
        <p:spPr bwMode="auto">
          <a:xfrm>
            <a:off x="4007296" y="5219848"/>
            <a:ext cx="863600" cy="107950"/>
          </a:xfrm>
          <a:prstGeom prst="bevel">
            <a:avLst>
              <a:gd name="adj" fmla="val 12500"/>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900" name="Text Box 184"/>
          <p:cNvSpPr txBox="1">
            <a:spLocks noChangeArrowheads="1"/>
          </p:cNvSpPr>
          <p:nvPr/>
        </p:nvSpPr>
        <p:spPr bwMode="auto">
          <a:xfrm>
            <a:off x="4370834" y="3932386"/>
            <a:ext cx="64770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STUDY</a:t>
            </a:r>
          </a:p>
        </p:txBody>
      </p:sp>
      <p:sp>
        <p:nvSpPr>
          <p:cNvPr id="30901" name="plant"/>
          <p:cNvSpPr>
            <a:spLocks noEditPoints="1" noChangeArrowheads="1"/>
          </p:cNvSpPr>
          <p:nvPr/>
        </p:nvSpPr>
        <p:spPr bwMode="auto">
          <a:xfrm>
            <a:off x="1921321" y="2563961"/>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902" name="plant"/>
          <p:cNvSpPr>
            <a:spLocks noEditPoints="1" noChangeArrowheads="1"/>
          </p:cNvSpPr>
          <p:nvPr/>
        </p:nvSpPr>
        <p:spPr bwMode="auto">
          <a:xfrm>
            <a:off x="2281684" y="3284686"/>
            <a:ext cx="184150" cy="184150"/>
          </a:xfrm>
          <a:custGeom>
            <a:avLst/>
            <a:gdLst>
              <a:gd name="T0" fmla="*/ 0 w 21600"/>
              <a:gd name="T1" fmla="*/ 0 h 21600"/>
              <a:gd name="T2" fmla="*/ 92075 w 21600"/>
              <a:gd name="T3" fmla="*/ 0 h 21600"/>
              <a:gd name="T4" fmla="*/ 184150 w 21600"/>
              <a:gd name="T5" fmla="*/ 0 h 21600"/>
              <a:gd name="T6" fmla="*/ 184150 w 21600"/>
              <a:gd name="T7" fmla="*/ 92075 h 21600"/>
              <a:gd name="T8" fmla="*/ 184150 w 21600"/>
              <a:gd name="T9" fmla="*/ 184150 h 21600"/>
              <a:gd name="T10" fmla="*/ 92075 w 21600"/>
              <a:gd name="T11" fmla="*/ 184150 h 21600"/>
              <a:gd name="T12" fmla="*/ 0 w 21600"/>
              <a:gd name="T13" fmla="*/ 184150 h 21600"/>
              <a:gd name="T14" fmla="*/ 0 w 21600"/>
              <a:gd name="T15" fmla="*/ 92075 h 21600"/>
              <a:gd name="T16" fmla="*/ 0 60000 65536"/>
              <a:gd name="T17" fmla="*/ 0 60000 65536"/>
              <a:gd name="T18" fmla="*/ 0 60000 65536"/>
              <a:gd name="T19" fmla="*/ 0 60000 65536"/>
              <a:gd name="T20" fmla="*/ 0 60000 65536"/>
              <a:gd name="T21" fmla="*/ 0 60000 65536"/>
              <a:gd name="T22" fmla="*/ 0 60000 65536"/>
              <a:gd name="T23" fmla="*/ 0 60000 65536"/>
              <a:gd name="T24" fmla="*/ 7100 w 21600"/>
              <a:gd name="T25" fmla="*/ 10092 h 21600"/>
              <a:gd name="T26" fmla="*/ 14545 w 21600"/>
              <a:gd name="T27" fmla="*/ 1357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8" y="9002"/>
                </a:moveTo>
                <a:lnTo>
                  <a:pt x="9254" y="8422"/>
                </a:lnTo>
                <a:lnTo>
                  <a:pt x="9139" y="7935"/>
                </a:lnTo>
                <a:lnTo>
                  <a:pt x="8819" y="7355"/>
                </a:lnTo>
                <a:lnTo>
                  <a:pt x="8475" y="6728"/>
                </a:lnTo>
                <a:lnTo>
                  <a:pt x="8040" y="6287"/>
                </a:lnTo>
                <a:lnTo>
                  <a:pt x="7421" y="5707"/>
                </a:lnTo>
                <a:lnTo>
                  <a:pt x="6574" y="5429"/>
                </a:lnTo>
                <a:lnTo>
                  <a:pt x="5452" y="5313"/>
                </a:lnTo>
                <a:lnTo>
                  <a:pt x="4856" y="5220"/>
                </a:lnTo>
                <a:lnTo>
                  <a:pt x="4169" y="5220"/>
                </a:lnTo>
                <a:lnTo>
                  <a:pt x="3665" y="5104"/>
                </a:lnTo>
                <a:lnTo>
                  <a:pt x="3001" y="4872"/>
                </a:lnTo>
                <a:lnTo>
                  <a:pt x="2497" y="4756"/>
                </a:lnTo>
                <a:lnTo>
                  <a:pt x="2062" y="4408"/>
                </a:lnTo>
                <a:lnTo>
                  <a:pt x="1603" y="4083"/>
                </a:lnTo>
                <a:lnTo>
                  <a:pt x="1283" y="3689"/>
                </a:lnTo>
                <a:lnTo>
                  <a:pt x="1283" y="4315"/>
                </a:lnTo>
                <a:lnTo>
                  <a:pt x="1489" y="5104"/>
                </a:lnTo>
                <a:lnTo>
                  <a:pt x="1832" y="6055"/>
                </a:lnTo>
                <a:lnTo>
                  <a:pt x="2382" y="6914"/>
                </a:lnTo>
                <a:lnTo>
                  <a:pt x="2680" y="7471"/>
                </a:lnTo>
                <a:lnTo>
                  <a:pt x="3115" y="7935"/>
                </a:lnTo>
                <a:lnTo>
                  <a:pt x="3573" y="8213"/>
                </a:lnTo>
                <a:lnTo>
                  <a:pt x="4077" y="8654"/>
                </a:lnTo>
                <a:lnTo>
                  <a:pt x="4627" y="9002"/>
                </a:lnTo>
                <a:lnTo>
                  <a:pt x="5245" y="9234"/>
                </a:lnTo>
                <a:lnTo>
                  <a:pt x="6024" y="9443"/>
                </a:lnTo>
                <a:lnTo>
                  <a:pt x="6757" y="9628"/>
                </a:lnTo>
                <a:lnTo>
                  <a:pt x="5177" y="10069"/>
                </a:lnTo>
                <a:lnTo>
                  <a:pt x="3963" y="10649"/>
                </a:lnTo>
                <a:lnTo>
                  <a:pt x="3344" y="11044"/>
                </a:lnTo>
                <a:lnTo>
                  <a:pt x="2886" y="11600"/>
                </a:lnTo>
                <a:lnTo>
                  <a:pt x="2497" y="12041"/>
                </a:lnTo>
                <a:lnTo>
                  <a:pt x="1947" y="12343"/>
                </a:lnTo>
                <a:lnTo>
                  <a:pt x="1168" y="12668"/>
                </a:lnTo>
                <a:lnTo>
                  <a:pt x="0" y="12900"/>
                </a:lnTo>
                <a:lnTo>
                  <a:pt x="435" y="13248"/>
                </a:lnTo>
                <a:lnTo>
                  <a:pt x="779" y="13456"/>
                </a:lnTo>
                <a:lnTo>
                  <a:pt x="1283" y="13642"/>
                </a:lnTo>
                <a:lnTo>
                  <a:pt x="1718" y="13758"/>
                </a:lnTo>
                <a:lnTo>
                  <a:pt x="2680" y="13851"/>
                </a:lnTo>
                <a:lnTo>
                  <a:pt x="3573" y="13758"/>
                </a:lnTo>
                <a:lnTo>
                  <a:pt x="4512" y="13526"/>
                </a:lnTo>
                <a:lnTo>
                  <a:pt x="5360" y="13248"/>
                </a:lnTo>
                <a:lnTo>
                  <a:pt x="6139" y="12900"/>
                </a:lnTo>
                <a:lnTo>
                  <a:pt x="6757" y="12552"/>
                </a:lnTo>
                <a:lnTo>
                  <a:pt x="6459" y="13132"/>
                </a:lnTo>
                <a:lnTo>
                  <a:pt x="6139" y="13642"/>
                </a:lnTo>
                <a:lnTo>
                  <a:pt x="5910" y="14199"/>
                </a:lnTo>
                <a:lnTo>
                  <a:pt x="5681" y="14663"/>
                </a:lnTo>
                <a:lnTo>
                  <a:pt x="5681" y="15150"/>
                </a:lnTo>
                <a:lnTo>
                  <a:pt x="5681" y="15730"/>
                </a:lnTo>
                <a:lnTo>
                  <a:pt x="5681" y="16241"/>
                </a:lnTo>
                <a:lnTo>
                  <a:pt x="5795" y="16913"/>
                </a:lnTo>
                <a:lnTo>
                  <a:pt x="5910" y="17586"/>
                </a:lnTo>
                <a:lnTo>
                  <a:pt x="5910" y="18213"/>
                </a:lnTo>
                <a:lnTo>
                  <a:pt x="5795" y="18885"/>
                </a:lnTo>
                <a:lnTo>
                  <a:pt x="5566" y="19396"/>
                </a:lnTo>
                <a:lnTo>
                  <a:pt x="5245" y="19976"/>
                </a:lnTo>
                <a:lnTo>
                  <a:pt x="4971" y="20370"/>
                </a:lnTo>
                <a:lnTo>
                  <a:pt x="4512" y="20811"/>
                </a:lnTo>
                <a:lnTo>
                  <a:pt x="4077" y="21043"/>
                </a:lnTo>
                <a:lnTo>
                  <a:pt x="5177" y="20927"/>
                </a:lnTo>
                <a:lnTo>
                  <a:pt x="6253" y="20486"/>
                </a:lnTo>
                <a:lnTo>
                  <a:pt x="7421" y="19976"/>
                </a:lnTo>
                <a:lnTo>
                  <a:pt x="8361" y="19187"/>
                </a:lnTo>
                <a:lnTo>
                  <a:pt x="8819" y="18769"/>
                </a:lnTo>
                <a:lnTo>
                  <a:pt x="9139" y="18213"/>
                </a:lnTo>
                <a:lnTo>
                  <a:pt x="9437" y="17772"/>
                </a:lnTo>
                <a:lnTo>
                  <a:pt x="9643" y="17261"/>
                </a:lnTo>
                <a:lnTo>
                  <a:pt x="9872" y="16681"/>
                </a:lnTo>
                <a:lnTo>
                  <a:pt x="9872" y="16171"/>
                </a:lnTo>
                <a:lnTo>
                  <a:pt x="9872" y="15614"/>
                </a:lnTo>
                <a:lnTo>
                  <a:pt x="9758" y="15057"/>
                </a:lnTo>
                <a:lnTo>
                  <a:pt x="10216" y="15498"/>
                </a:lnTo>
                <a:lnTo>
                  <a:pt x="10537" y="16241"/>
                </a:lnTo>
                <a:lnTo>
                  <a:pt x="10834" y="17145"/>
                </a:lnTo>
                <a:lnTo>
                  <a:pt x="11041" y="18213"/>
                </a:lnTo>
                <a:lnTo>
                  <a:pt x="11155" y="19187"/>
                </a:lnTo>
                <a:lnTo>
                  <a:pt x="11155" y="20185"/>
                </a:lnTo>
                <a:lnTo>
                  <a:pt x="11155" y="20579"/>
                </a:lnTo>
                <a:lnTo>
                  <a:pt x="11041" y="21043"/>
                </a:lnTo>
                <a:lnTo>
                  <a:pt x="10926" y="21391"/>
                </a:lnTo>
                <a:lnTo>
                  <a:pt x="10766" y="21600"/>
                </a:lnTo>
                <a:lnTo>
                  <a:pt x="11499" y="21484"/>
                </a:lnTo>
                <a:lnTo>
                  <a:pt x="12323" y="21043"/>
                </a:lnTo>
                <a:lnTo>
                  <a:pt x="13102" y="20370"/>
                </a:lnTo>
                <a:lnTo>
                  <a:pt x="13606" y="19628"/>
                </a:lnTo>
                <a:lnTo>
                  <a:pt x="13950" y="19071"/>
                </a:lnTo>
                <a:lnTo>
                  <a:pt x="14064" y="18677"/>
                </a:lnTo>
                <a:lnTo>
                  <a:pt x="14179" y="18097"/>
                </a:lnTo>
                <a:lnTo>
                  <a:pt x="14293" y="17586"/>
                </a:lnTo>
                <a:lnTo>
                  <a:pt x="14179" y="16913"/>
                </a:lnTo>
                <a:lnTo>
                  <a:pt x="14064" y="16241"/>
                </a:lnTo>
                <a:lnTo>
                  <a:pt x="13835" y="15614"/>
                </a:lnTo>
                <a:lnTo>
                  <a:pt x="13560" y="14872"/>
                </a:lnTo>
                <a:lnTo>
                  <a:pt x="13950" y="14941"/>
                </a:lnTo>
                <a:lnTo>
                  <a:pt x="14408" y="15150"/>
                </a:lnTo>
                <a:lnTo>
                  <a:pt x="14843" y="15266"/>
                </a:lnTo>
                <a:lnTo>
                  <a:pt x="15232" y="15614"/>
                </a:lnTo>
                <a:lnTo>
                  <a:pt x="15576" y="15846"/>
                </a:lnTo>
                <a:lnTo>
                  <a:pt x="15897" y="16171"/>
                </a:lnTo>
                <a:lnTo>
                  <a:pt x="16126" y="16473"/>
                </a:lnTo>
                <a:lnTo>
                  <a:pt x="16240" y="16913"/>
                </a:lnTo>
                <a:lnTo>
                  <a:pt x="16515" y="17261"/>
                </a:lnTo>
                <a:lnTo>
                  <a:pt x="17088" y="17586"/>
                </a:lnTo>
                <a:lnTo>
                  <a:pt x="17798" y="17865"/>
                </a:lnTo>
                <a:lnTo>
                  <a:pt x="18576" y="18097"/>
                </a:lnTo>
                <a:lnTo>
                  <a:pt x="19424" y="18213"/>
                </a:lnTo>
                <a:lnTo>
                  <a:pt x="20317" y="18213"/>
                </a:lnTo>
                <a:lnTo>
                  <a:pt x="21050" y="18213"/>
                </a:lnTo>
                <a:lnTo>
                  <a:pt x="21600" y="17865"/>
                </a:lnTo>
                <a:lnTo>
                  <a:pt x="21165" y="17656"/>
                </a:lnTo>
                <a:lnTo>
                  <a:pt x="20592" y="17470"/>
                </a:lnTo>
                <a:lnTo>
                  <a:pt x="20088" y="17029"/>
                </a:lnTo>
                <a:lnTo>
                  <a:pt x="19653" y="16681"/>
                </a:lnTo>
                <a:lnTo>
                  <a:pt x="19195" y="16241"/>
                </a:lnTo>
                <a:lnTo>
                  <a:pt x="18920" y="15962"/>
                </a:lnTo>
                <a:lnTo>
                  <a:pt x="18576" y="15498"/>
                </a:lnTo>
                <a:lnTo>
                  <a:pt x="18576" y="15057"/>
                </a:lnTo>
                <a:lnTo>
                  <a:pt x="18485" y="14756"/>
                </a:lnTo>
                <a:lnTo>
                  <a:pt x="18256" y="14199"/>
                </a:lnTo>
                <a:lnTo>
                  <a:pt x="17912" y="13526"/>
                </a:lnTo>
                <a:lnTo>
                  <a:pt x="17523" y="13016"/>
                </a:lnTo>
                <a:lnTo>
                  <a:pt x="16973" y="12436"/>
                </a:lnTo>
                <a:lnTo>
                  <a:pt x="16355" y="12041"/>
                </a:lnTo>
                <a:lnTo>
                  <a:pt x="16011" y="11832"/>
                </a:lnTo>
                <a:lnTo>
                  <a:pt x="15690" y="11716"/>
                </a:lnTo>
                <a:lnTo>
                  <a:pt x="15232" y="11716"/>
                </a:lnTo>
                <a:lnTo>
                  <a:pt x="14843" y="11716"/>
                </a:lnTo>
                <a:lnTo>
                  <a:pt x="15461" y="11252"/>
                </a:lnTo>
                <a:lnTo>
                  <a:pt x="16126" y="10858"/>
                </a:lnTo>
                <a:lnTo>
                  <a:pt x="16973" y="10649"/>
                </a:lnTo>
                <a:lnTo>
                  <a:pt x="17798" y="10417"/>
                </a:lnTo>
                <a:lnTo>
                  <a:pt x="18806" y="10301"/>
                </a:lnTo>
                <a:lnTo>
                  <a:pt x="19653" y="10301"/>
                </a:lnTo>
                <a:lnTo>
                  <a:pt x="20478" y="10417"/>
                </a:lnTo>
                <a:lnTo>
                  <a:pt x="21256" y="10533"/>
                </a:lnTo>
                <a:lnTo>
                  <a:pt x="20707" y="9837"/>
                </a:lnTo>
                <a:lnTo>
                  <a:pt x="19859" y="9234"/>
                </a:lnTo>
                <a:lnTo>
                  <a:pt x="18806" y="8538"/>
                </a:lnTo>
                <a:lnTo>
                  <a:pt x="17637" y="8144"/>
                </a:lnTo>
                <a:lnTo>
                  <a:pt x="16973" y="8027"/>
                </a:lnTo>
                <a:lnTo>
                  <a:pt x="16355" y="7935"/>
                </a:lnTo>
                <a:lnTo>
                  <a:pt x="15805" y="7935"/>
                </a:lnTo>
                <a:lnTo>
                  <a:pt x="15118" y="8027"/>
                </a:lnTo>
                <a:lnTo>
                  <a:pt x="14614" y="8144"/>
                </a:lnTo>
                <a:lnTo>
                  <a:pt x="14064" y="8422"/>
                </a:lnTo>
                <a:lnTo>
                  <a:pt x="13606" y="8886"/>
                </a:lnTo>
                <a:lnTo>
                  <a:pt x="13217" y="9327"/>
                </a:lnTo>
                <a:lnTo>
                  <a:pt x="13606" y="8538"/>
                </a:lnTo>
                <a:lnTo>
                  <a:pt x="13950" y="7935"/>
                </a:lnTo>
                <a:lnTo>
                  <a:pt x="14293" y="7123"/>
                </a:lnTo>
                <a:lnTo>
                  <a:pt x="14499" y="6519"/>
                </a:lnTo>
                <a:lnTo>
                  <a:pt x="14614" y="5823"/>
                </a:lnTo>
                <a:lnTo>
                  <a:pt x="14614" y="5220"/>
                </a:lnTo>
                <a:lnTo>
                  <a:pt x="14408" y="4524"/>
                </a:lnTo>
                <a:lnTo>
                  <a:pt x="14064" y="3898"/>
                </a:lnTo>
                <a:lnTo>
                  <a:pt x="13606" y="3225"/>
                </a:lnTo>
                <a:lnTo>
                  <a:pt x="13331" y="2598"/>
                </a:lnTo>
                <a:lnTo>
                  <a:pt x="13102" y="2042"/>
                </a:lnTo>
                <a:lnTo>
                  <a:pt x="12896" y="1485"/>
                </a:lnTo>
                <a:lnTo>
                  <a:pt x="12781" y="1090"/>
                </a:lnTo>
                <a:lnTo>
                  <a:pt x="12667" y="626"/>
                </a:lnTo>
                <a:lnTo>
                  <a:pt x="12667" y="278"/>
                </a:lnTo>
                <a:lnTo>
                  <a:pt x="12667" y="0"/>
                </a:lnTo>
                <a:lnTo>
                  <a:pt x="12163" y="394"/>
                </a:lnTo>
                <a:lnTo>
                  <a:pt x="11728" y="974"/>
                </a:lnTo>
                <a:lnTo>
                  <a:pt x="11155" y="1601"/>
                </a:lnTo>
                <a:lnTo>
                  <a:pt x="10766" y="2390"/>
                </a:lnTo>
                <a:lnTo>
                  <a:pt x="10330" y="3109"/>
                </a:lnTo>
                <a:lnTo>
                  <a:pt x="10101" y="3898"/>
                </a:lnTo>
                <a:lnTo>
                  <a:pt x="9987" y="4524"/>
                </a:lnTo>
                <a:lnTo>
                  <a:pt x="10101" y="5220"/>
                </a:lnTo>
                <a:lnTo>
                  <a:pt x="10216" y="5823"/>
                </a:lnTo>
                <a:lnTo>
                  <a:pt x="10330" y="6403"/>
                </a:lnTo>
                <a:lnTo>
                  <a:pt x="10330" y="6914"/>
                </a:lnTo>
                <a:lnTo>
                  <a:pt x="10216" y="7471"/>
                </a:lnTo>
                <a:lnTo>
                  <a:pt x="10101" y="7935"/>
                </a:lnTo>
                <a:lnTo>
                  <a:pt x="9872" y="8329"/>
                </a:lnTo>
                <a:lnTo>
                  <a:pt x="9643" y="8654"/>
                </a:lnTo>
                <a:lnTo>
                  <a:pt x="9368" y="9002"/>
                </a:lnTo>
                <a:close/>
              </a:path>
            </a:pathLst>
          </a:custGeom>
          <a:solidFill>
            <a:srgbClr val="008000"/>
          </a:solidFill>
          <a:ln w="9525">
            <a:solidFill>
              <a:srgbClr val="000000"/>
            </a:solidFill>
            <a:miter lim="800000"/>
            <a:headEnd/>
            <a:tailEnd/>
          </a:ln>
          <a:effectLst>
            <a:outerShdw dist="107763" dir="2700000" algn="ctr" rotWithShape="0">
              <a:srgbClr val="808080"/>
            </a:outerShdw>
          </a:effectLst>
        </p:spPr>
        <p:txBody>
          <a:bodyPr/>
          <a:lstStyle/>
          <a:p>
            <a:endParaRPr lang="en-AU"/>
          </a:p>
        </p:txBody>
      </p:sp>
      <p:sp>
        <p:nvSpPr>
          <p:cNvPr id="30903" name="Text Box 187"/>
          <p:cNvSpPr txBox="1">
            <a:spLocks noChangeArrowheads="1"/>
          </p:cNvSpPr>
          <p:nvPr/>
        </p:nvSpPr>
        <p:spPr bwMode="auto">
          <a:xfrm>
            <a:off x="105772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G1</a:t>
            </a:r>
          </a:p>
        </p:txBody>
      </p:sp>
      <p:sp>
        <p:nvSpPr>
          <p:cNvPr id="30904" name="Text Box 188"/>
          <p:cNvSpPr txBox="1">
            <a:spLocks noChangeArrowheads="1"/>
          </p:cNvSpPr>
          <p:nvPr/>
        </p:nvSpPr>
        <p:spPr bwMode="auto">
          <a:xfrm>
            <a:off x="213722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G2</a:t>
            </a:r>
          </a:p>
        </p:txBody>
      </p:sp>
      <p:sp>
        <p:nvSpPr>
          <p:cNvPr id="30905" name="Text Box 189"/>
          <p:cNvSpPr txBox="1">
            <a:spLocks noChangeArrowheads="1"/>
          </p:cNvSpPr>
          <p:nvPr/>
        </p:nvSpPr>
        <p:spPr bwMode="auto">
          <a:xfrm>
            <a:off x="3145284" y="2205186"/>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G3</a:t>
            </a:r>
          </a:p>
        </p:txBody>
      </p:sp>
      <p:sp>
        <p:nvSpPr>
          <p:cNvPr id="30906" name="Text Box 190"/>
          <p:cNvSpPr txBox="1">
            <a:spLocks noChangeArrowheads="1"/>
          </p:cNvSpPr>
          <p:nvPr/>
        </p:nvSpPr>
        <p:spPr bwMode="auto">
          <a:xfrm>
            <a:off x="4226371" y="2205186"/>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G4</a:t>
            </a:r>
          </a:p>
        </p:txBody>
      </p:sp>
      <p:sp>
        <p:nvSpPr>
          <p:cNvPr id="30907" name="Text Box 191"/>
          <p:cNvSpPr txBox="1">
            <a:spLocks noChangeArrowheads="1"/>
          </p:cNvSpPr>
          <p:nvPr/>
        </p:nvSpPr>
        <p:spPr bwMode="auto">
          <a:xfrm>
            <a:off x="429780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G5</a:t>
            </a:r>
          </a:p>
        </p:txBody>
      </p:sp>
      <p:sp>
        <p:nvSpPr>
          <p:cNvPr id="30908" name="Text Box 192"/>
          <p:cNvSpPr txBox="1">
            <a:spLocks noChangeArrowheads="1"/>
          </p:cNvSpPr>
          <p:nvPr/>
        </p:nvSpPr>
        <p:spPr bwMode="auto">
          <a:xfrm>
            <a:off x="321830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G6</a:t>
            </a:r>
          </a:p>
        </p:txBody>
      </p:sp>
      <p:sp>
        <p:nvSpPr>
          <p:cNvPr id="30909" name="Text Box 193"/>
          <p:cNvSpPr txBox="1">
            <a:spLocks noChangeArrowheads="1"/>
          </p:cNvSpPr>
          <p:nvPr/>
        </p:nvSpPr>
        <p:spPr bwMode="auto">
          <a:xfrm>
            <a:off x="2210246" y="5300811"/>
            <a:ext cx="3603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G7</a:t>
            </a:r>
          </a:p>
        </p:txBody>
      </p:sp>
      <p:sp>
        <p:nvSpPr>
          <p:cNvPr id="30910" name="Text Box 194"/>
          <p:cNvSpPr txBox="1">
            <a:spLocks noChangeArrowheads="1"/>
          </p:cNvSpPr>
          <p:nvPr/>
        </p:nvSpPr>
        <p:spPr bwMode="auto">
          <a:xfrm>
            <a:off x="1129159" y="5300811"/>
            <a:ext cx="36036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algn="r" eaLnBrk="0" fontAlgn="base" hangingPunct="0">
              <a:spcBef>
                <a:spcPct val="0"/>
              </a:spcBef>
              <a:spcAft>
                <a:spcPct val="0"/>
              </a:spcAft>
              <a:defRPr>
                <a:solidFill>
                  <a:schemeClr val="tx1"/>
                </a:solidFill>
                <a:latin typeface="Tahoma" pitchFamily="34" charset="0"/>
              </a:defRPr>
            </a:lvl6pPr>
            <a:lvl7pPr marL="2971800" indent="-228600" algn="r" eaLnBrk="0" fontAlgn="base" hangingPunct="0">
              <a:spcBef>
                <a:spcPct val="0"/>
              </a:spcBef>
              <a:spcAft>
                <a:spcPct val="0"/>
              </a:spcAft>
              <a:defRPr>
                <a:solidFill>
                  <a:schemeClr val="tx1"/>
                </a:solidFill>
                <a:latin typeface="Tahoma" pitchFamily="34" charset="0"/>
              </a:defRPr>
            </a:lvl7pPr>
            <a:lvl8pPr marL="3429000" indent="-228600" algn="r" eaLnBrk="0" fontAlgn="base" hangingPunct="0">
              <a:spcBef>
                <a:spcPct val="0"/>
              </a:spcBef>
              <a:spcAft>
                <a:spcPct val="0"/>
              </a:spcAft>
              <a:defRPr>
                <a:solidFill>
                  <a:schemeClr val="tx1"/>
                </a:solidFill>
                <a:latin typeface="Tahoma" pitchFamily="34" charset="0"/>
              </a:defRPr>
            </a:lvl8pPr>
            <a:lvl9pPr marL="3886200" indent="-228600" algn="r" eaLnBrk="0" fontAlgn="base" hangingPunct="0">
              <a:spcBef>
                <a:spcPct val="0"/>
              </a:spcBef>
              <a:spcAft>
                <a:spcPct val="0"/>
              </a:spcAft>
              <a:defRPr>
                <a:solidFill>
                  <a:schemeClr val="tx1"/>
                </a:solidFill>
                <a:latin typeface="Tahoma" pitchFamily="34" charset="0"/>
              </a:defRPr>
            </a:lvl9pPr>
          </a:lstStyle>
          <a:p>
            <a:pPr algn="ctr" eaLnBrk="1" hangingPunct="1">
              <a:spcBef>
                <a:spcPct val="50000"/>
              </a:spcBef>
            </a:pPr>
            <a:r>
              <a:rPr lang="en-US" sz="800">
                <a:latin typeface="Arial" charset="0"/>
              </a:rPr>
              <a:t>G8</a:t>
            </a:r>
          </a:p>
        </p:txBody>
      </p:sp>
      <p:graphicFrame>
        <p:nvGraphicFramePr>
          <p:cNvPr id="112170" name="Group 554"/>
          <p:cNvGraphicFramePr>
            <a:graphicFrameLocks noGrp="1"/>
          </p:cNvGraphicFramePr>
          <p:nvPr>
            <p:extLst>
              <p:ext uri="{D42A27DB-BD31-4B8C-83A1-F6EECF244321}">
                <p14:modId xmlns:p14="http://schemas.microsoft.com/office/powerpoint/2010/main" val="3690749078"/>
              </p:ext>
            </p:extLst>
          </p:nvPr>
        </p:nvGraphicFramePr>
        <p:xfrm>
          <a:off x="6362675" y="2914794"/>
          <a:ext cx="2590800" cy="1920879"/>
        </p:xfrm>
        <a:graphic>
          <a:graphicData uri="http://schemas.openxmlformats.org/drawingml/2006/table">
            <a:tbl>
              <a:tblPr/>
              <a:tblGrid>
                <a:gridCol w="488950"/>
                <a:gridCol w="2101850"/>
              </a:tblGrid>
              <a:tr h="213431">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charset="0"/>
                          <a:ea typeface="Times New Roman" pitchFamily="18" charset="0"/>
                          <a:cs typeface="Arial" charset="0"/>
                        </a:rPr>
                        <a:t>GLAZING SCHEDULE</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hMerge="1">
                  <a:txBody>
                    <a:bodyPr/>
                    <a:lstStyle/>
                    <a:p>
                      <a:endParaRPr lang="en-AU"/>
                    </a:p>
                  </a:txBody>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G1</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G2</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1200h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G3</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G4</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G5</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2100h x 2400 w Sliding Door</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G6</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G7</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2134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G8</a:t>
                      </a:r>
                      <a:endParaRPr kumimoji="0" lang="en-US" sz="1800" b="0" i="0" u="none" strike="noStrike" cap="none" normalizeH="0" baseline="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ea typeface="Times New Roman" pitchFamily="18" charset="0"/>
                          <a:cs typeface="Arial" charset="0"/>
                        </a:rPr>
                        <a:t>1800h x 2400w Sliding Window</a:t>
                      </a:r>
                      <a:endParaRPr kumimoji="0" lang="en-US" sz="1800" b="0" i="0" u="none" strike="noStrike" cap="none" normalizeH="0" baseline="0" dirty="0" smtClean="0">
                        <a:ln>
                          <a:noFill/>
                        </a:ln>
                        <a:solidFill>
                          <a:schemeClr val="tx1"/>
                        </a:solidFill>
                        <a:effectLst/>
                        <a:latin typeface="Arial" charset="0"/>
                        <a:ea typeface="Times New Roman" pitchFamily="18" charset="0"/>
                        <a:cs typeface="Arial" charset="0"/>
                      </a:endParaRPr>
                    </a:p>
                  </a:txBody>
                  <a:tcPr marT="45735" marB="4573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bl>
          </a:graphicData>
        </a:graphic>
      </p:graphicFrame>
      <p:sp>
        <p:nvSpPr>
          <p:cNvPr id="30942" name="Line 58"/>
          <p:cNvSpPr>
            <a:spLocks noChangeShapeType="1"/>
          </p:cNvSpPr>
          <p:nvPr/>
        </p:nvSpPr>
        <p:spPr bwMode="auto">
          <a:xfrm>
            <a:off x="4010471" y="526429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3" name="Rectangle 19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33512452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9"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8950" y="1600200"/>
            <a:ext cx="8735645" cy="4853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417714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1387475"/>
            <a:ext cx="1536700" cy="5353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05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521" y="1600200"/>
            <a:ext cx="8587410" cy="4778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Exercise 2</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
        <p:nvSpPr>
          <p:cNvPr id="2" name="Rectangle 1"/>
          <p:cNvSpPr/>
          <p:nvPr/>
        </p:nvSpPr>
        <p:spPr>
          <a:xfrm>
            <a:off x="3655326" y="3762000"/>
            <a:ext cx="916674" cy="17552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231584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403648" y="116633"/>
            <a:ext cx="7250399" cy="1200329"/>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Australian Building Codes Board</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13" name="Picture 2" descr="ABCB Logo"/>
          <p:cNvPicPr>
            <a:picLocks noGrp="1" noChangeAspect="1" noChangeArrowheads="1"/>
          </p:cNvPicPr>
          <p:nvPr>
            <p:ph idx="1"/>
          </p:nvPr>
        </p:nvPicPr>
        <p:blipFill>
          <a:blip r:embed="rId3" cstate="print"/>
          <a:srcRect/>
          <a:stretch>
            <a:fillRect/>
          </a:stretch>
        </p:blipFill>
        <p:spPr>
          <a:xfrm>
            <a:off x="4499990" y="1556740"/>
            <a:ext cx="1145600" cy="1630311"/>
          </a:xfrm>
        </p:spPr>
      </p:pic>
      <p:grpSp>
        <p:nvGrpSpPr>
          <p:cNvPr id="14" name="Group 13"/>
          <p:cNvGrpSpPr/>
          <p:nvPr/>
        </p:nvGrpSpPr>
        <p:grpSpPr>
          <a:xfrm>
            <a:off x="4355977" y="6082285"/>
            <a:ext cx="1944216" cy="368355"/>
            <a:chOff x="2987824" y="5727220"/>
            <a:chExt cx="2313390" cy="432312"/>
          </a:xfrm>
        </p:grpSpPr>
        <p:pic>
          <p:nvPicPr>
            <p:cNvPr id="17" name="Picture 1" descr="Facebook Image"/>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987824" y="5729431"/>
              <a:ext cx="418367" cy="41836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Linkedin Image"/>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586781" y="5738956"/>
              <a:ext cx="543877" cy="41836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descr="Youtube Image"/>
            <p:cNvPicPr>
              <a:picLocks noChangeAspect="1" noChangeArrowheads="1"/>
            </p:cNvPicPr>
            <p:nvPr/>
          </p:nvPicPr>
          <p:blipFill>
            <a:blip r:embed="rId8" r:link="rId9">
              <a:extLst>
                <a:ext uri="{28A0092B-C50C-407E-A947-70E740481C1C}">
                  <a14:useLocalDpi xmlns:a14="http://schemas.microsoft.com/office/drawing/2010/main" val="0"/>
                </a:ext>
              </a:extLst>
            </a:blip>
            <a:srcRect/>
            <a:stretch>
              <a:fillRect/>
            </a:stretch>
          </p:blipFill>
          <p:spPr bwMode="auto">
            <a:xfrm>
              <a:off x="4143441" y="5727220"/>
              <a:ext cx="432312" cy="43231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Image result for twitter symbol">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32919" y="5760478"/>
              <a:ext cx="668295" cy="360185"/>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Rectangle 20"/>
          <p:cNvSpPr/>
          <p:nvPr/>
        </p:nvSpPr>
        <p:spPr>
          <a:xfrm>
            <a:off x="2603625" y="5084166"/>
            <a:ext cx="5208735" cy="923330"/>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5400" b="1" cap="none" spc="150" dirty="0" smtClean="0">
                <a:ln w="9525">
                  <a:solidFill>
                    <a:schemeClr val="tx2"/>
                  </a:solidFill>
                </a:ln>
                <a:solidFill>
                  <a:schemeClr val="tx2">
                    <a:lumMod val="60000"/>
                    <a:lumOff val="40000"/>
                  </a:schemeClr>
                </a:solidFill>
                <a:effectLst>
                  <a:glow rad="63500">
                    <a:schemeClr val="bg1">
                      <a:alpha val="40000"/>
                    </a:schemeClr>
                  </a:glow>
                  <a:outerShdw blurRad="25400" algn="tl" rotWithShape="0">
                    <a:srgbClr val="000000">
                      <a:alpha val="43000"/>
                    </a:srgbClr>
                  </a:outerShdw>
                </a:effectLst>
              </a:rPr>
              <a:t>www.abcb.gov.au</a:t>
            </a:r>
            <a:endParaRPr lang="en-AU" sz="5400" b="1" cap="none" spc="150" dirty="0">
              <a:ln w="9525">
                <a:solidFill>
                  <a:schemeClr val="tx2"/>
                </a:solidFill>
              </a:ln>
              <a:solidFill>
                <a:schemeClr val="tx2">
                  <a:lumMod val="60000"/>
                  <a:lumOff val="40000"/>
                </a:schemeClr>
              </a:solidFill>
              <a:effectLst>
                <a:glow rad="63500">
                  <a:schemeClr val="bg1">
                    <a:alpha val="40000"/>
                  </a:schemeClr>
                </a:glow>
                <a:outerShdw blurRad="25400" algn="tl" rotWithShape="0">
                  <a:srgbClr val="000000">
                    <a:alpha val="43000"/>
                  </a:srgbClr>
                </a:outerShdw>
              </a:effectLst>
            </a:endParaRPr>
          </a:p>
        </p:txBody>
      </p:sp>
      <p:pic>
        <p:nvPicPr>
          <p:cNvPr id="22" name="Picture 2" descr="\\prod.protected.ind\user\User04\rhanrahan\desktop\ncc2016_on_screens_v1-hr.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87780" y="3284980"/>
            <a:ext cx="4032448" cy="2112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97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Text Placeholder 2"/>
          <p:cNvSpPr>
            <a:spLocks noGrp="1"/>
          </p:cNvSpPr>
          <p:nvPr>
            <p:ph type="body" idx="1"/>
          </p:nvPr>
        </p:nvSpPr>
        <p:spPr>
          <a:xfrm>
            <a:off x="1547813" y="1852613"/>
            <a:ext cx="3600450" cy="639762"/>
          </a:xfrm>
        </p:spPr>
        <p:txBody>
          <a:bodyPr/>
          <a:lstStyle/>
          <a:p>
            <a:pPr eaLnBrk="1" hangingPunct="1"/>
            <a:r>
              <a:rPr lang="en-AU" dirty="0" smtClean="0">
                <a:latin typeface="+mj-lt"/>
                <a:cs typeface="Arial" charset="0"/>
              </a:rPr>
              <a:t>Teaching Notes </a:t>
            </a:r>
          </a:p>
        </p:txBody>
      </p:sp>
      <p:sp>
        <p:nvSpPr>
          <p:cNvPr id="4" name="Content Placeholder 3"/>
          <p:cNvSpPr>
            <a:spLocks noGrp="1"/>
          </p:cNvSpPr>
          <p:nvPr>
            <p:ph sz="half" idx="2"/>
          </p:nvPr>
        </p:nvSpPr>
        <p:spPr>
          <a:xfrm>
            <a:off x="1547813" y="2528888"/>
            <a:ext cx="3600450" cy="3779837"/>
          </a:xfrm>
        </p:spPr>
        <p:txBody>
          <a:bodyPr rtlCol="0">
            <a:normAutofit/>
          </a:bodyPr>
          <a:lstStyle/>
          <a:p>
            <a:pPr marL="0" indent="0" eaLnBrk="1" fontAlgn="auto" hangingPunct="1">
              <a:spcAft>
                <a:spcPts val="0"/>
              </a:spcAft>
              <a:buFont typeface="Arial" pitchFamily="34" charset="0"/>
              <a:buNone/>
              <a:defRPr/>
            </a:pPr>
            <a:r>
              <a:rPr lang="en-AU" dirty="0">
                <a:latin typeface="+mj-lt"/>
              </a:rPr>
              <a:t>Each slide has teaching notes that include </a:t>
            </a:r>
            <a:r>
              <a:rPr lang="en-AU" b="1" dirty="0">
                <a:solidFill>
                  <a:srgbClr val="1B8B2B"/>
                </a:solidFill>
                <a:latin typeface="+mj-lt"/>
              </a:rPr>
              <a:t>Background Notes</a:t>
            </a:r>
            <a:r>
              <a:rPr lang="en-AU" b="1" dirty="0">
                <a:solidFill>
                  <a:srgbClr val="220797"/>
                </a:solidFill>
                <a:latin typeface="+mj-lt"/>
              </a:rPr>
              <a:t> </a:t>
            </a:r>
            <a:r>
              <a:rPr lang="en-AU" dirty="0">
                <a:latin typeface="+mj-lt"/>
              </a:rPr>
              <a:t>on the topic of the slide, along with the key points; referred to as </a:t>
            </a:r>
            <a:r>
              <a:rPr lang="en-AU" b="1" dirty="0">
                <a:solidFill>
                  <a:srgbClr val="1B8B2B"/>
                </a:solidFill>
                <a:latin typeface="+mj-lt"/>
              </a:rPr>
              <a:t>Quick Points</a:t>
            </a:r>
            <a:r>
              <a:rPr lang="en-AU" dirty="0">
                <a:solidFill>
                  <a:srgbClr val="220797"/>
                </a:solidFill>
                <a:latin typeface="+mj-lt"/>
              </a:rPr>
              <a:t>.</a:t>
            </a:r>
          </a:p>
          <a:p>
            <a:pPr marL="0" indent="0" eaLnBrk="1" fontAlgn="auto" hangingPunct="1">
              <a:spcAft>
                <a:spcPts val="0"/>
              </a:spcAft>
              <a:buFont typeface="Arial" pitchFamily="34" charset="0"/>
              <a:buNone/>
              <a:defRPr/>
            </a:pPr>
            <a:r>
              <a:rPr lang="en-AU" dirty="0">
                <a:latin typeface="+mj-lt"/>
              </a:rPr>
              <a:t>You can print out the teaching notes by:</a:t>
            </a:r>
          </a:p>
          <a:p>
            <a:pPr eaLnBrk="1" fontAlgn="auto" hangingPunct="1">
              <a:spcAft>
                <a:spcPts val="0"/>
              </a:spcAft>
              <a:buFont typeface="Arial" pitchFamily="34" charset="0"/>
              <a:buChar char="•"/>
              <a:defRPr/>
            </a:pPr>
            <a:r>
              <a:rPr lang="en-AU" sz="1800" dirty="0">
                <a:latin typeface="+mj-lt"/>
              </a:rPr>
              <a:t>File / Print </a:t>
            </a:r>
          </a:p>
          <a:p>
            <a:pPr eaLnBrk="1" fontAlgn="auto" hangingPunct="1">
              <a:spcAft>
                <a:spcPts val="0"/>
              </a:spcAft>
              <a:buFont typeface="Arial" pitchFamily="34" charset="0"/>
              <a:buChar char="•"/>
              <a:defRPr/>
            </a:pPr>
            <a:r>
              <a:rPr lang="en-AU" sz="1800" dirty="0">
                <a:latin typeface="+mj-lt"/>
              </a:rPr>
              <a:t>Under Setting change to Notes Page</a:t>
            </a:r>
          </a:p>
        </p:txBody>
      </p:sp>
      <p:sp>
        <p:nvSpPr>
          <p:cNvPr id="54276" name="Text Placeholder 4"/>
          <p:cNvSpPr>
            <a:spLocks noGrp="1"/>
          </p:cNvSpPr>
          <p:nvPr>
            <p:ph type="body" sz="quarter" idx="3"/>
          </p:nvPr>
        </p:nvSpPr>
        <p:spPr>
          <a:xfrm>
            <a:off x="5437188" y="1852613"/>
            <a:ext cx="3598862" cy="639762"/>
          </a:xfrm>
        </p:spPr>
        <p:txBody>
          <a:bodyPr/>
          <a:lstStyle/>
          <a:p>
            <a:pPr eaLnBrk="1" hangingPunct="1"/>
            <a:r>
              <a:rPr lang="en-AU" dirty="0" smtClean="0">
                <a:cs typeface="Arial" charset="0"/>
              </a:rPr>
              <a:t>Example:</a:t>
            </a:r>
          </a:p>
        </p:txBody>
      </p:sp>
      <p:sp>
        <p:nvSpPr>
          <p:cNvPr id="9" name="Rectangle 8"/>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Teaching Notes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cxnSp>
        <p:nvCxnSpPr>
          <p:cNvPr id="7" name="Straight Arrow Connector 6"/>
          <p:cNvCxnSpPr/>
          <p:nvPr/>
        </p:nvCxnSpPr>
        <p:spPr>
          <a:xfrm>
            <a:off x="2779093" y="4674669"/>
            <a:ext cx="2663825" cy="180182"/>
          </a:xfrm>
          <a:prstGeom prst="straightConnector1">
            <a:avLst/>
          </a:prstGeom>
          <a:ln w="76200">
            <a:solidFill>
              <a:srgbClr val="1B8B2B"/>
            </a:solidFill>
            <a:tailEnd type="arrow"/>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4501" y="2545904"/>
            <a:ext cx="2779546" cy="3608534"/>
          </a:xfrm>
          <a:prstGeom prst="rect">
            <a:avLst/>
          </a:prstGeom>
        </p:spPr>
      </p:pic>
    </p:spTree>
    <p:extLst>
      <p:ext uri="{BB962C8B-B14F-4D97-AF65-F5344CB8AC3E}">
        <p14:creationId xmlns:p14="http://schemas.microsoft.com/office/powerpoint/2010/main" val="1498203789"/>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Text Placeholder 2"/>
          <p:cNvSpPr>
            <a:spLocks noGrp="1"/>
          </p:cNvSpPr>
          <p:nvPr>
            <p:ph type="body" idx="1"/>
          </p:nvPr>
        </p:nvSpPr>
        <p:spPr>
          <a:xfrm>
            <a:off x="1547813" y="1852613"/>
            <a:ext cx="3600450" cy="639762"/>
          </a:xfrm>
        </p:spPr>
        <p:txBody>
          <a:bodyPr/>
          <a:lstStyle/>
          <a:p>
            <a:pPr eaLnBrk="1" hangingPunct="1"/>
            <a:r>
              <a:rPr lang="en-AU" dirty="0" smtClean="0">
                <a:latin typeface="+mj-lt"/>
                <a:cs typeface="Arial" pitchFamily="34" charset="0"/>
              </a:rPr>
              <a:t>Use of Examples</a:t>
            </a:r>
          </a:p>
        </p:txBody>
      </p:sp>
      <p:sp>
        <p:nvSpPr>
          <p:cNvPr id="58371" name="Content Placeholder 3"/>
          <p:cNvSpPr>
            <a:spLocks noGrp="1"/>
          </p:cNvSpPr>
          <p:nvPr>
            <p:ph sz="half" idx="2"/>
          </p:nvPr>
        </p:nvSpPr>
        <p:spPr>
          <a:xfrm>
            <a:off x="1476375" y="2492375"/>
            <a:ext cx="3167063" cy="4140200"/>
          </a:xfrm>
        </p:spPr>
        <p:txBody>
          <a:bodyPr/>
          <a:lstStyle/>
          <a:p>
            <a:pPr marL="0" indent="0" eaLnBrk="1" hangingPunct="1">
              <a:buFont typeface="Arial" charset="0"/>
              <a:buNone/>
            </a:pPr>
            <a:r>
              <a:rPr lang="en-AU" dirty="0" smtClean="0">
                <a:latin typeface="+mj-lt"/>
                <a:cs typeface="Arial" pitchFamily="34" charset="0"/>
              </a:rPr>
              <a:t>A number of examples have been presented within this resource.  They are for teaching purposes only and have been simplified in some instances.  However, they do show how the NCC is applied in different instances.</a:t>
            </a:r>
          </a:p>
        </p:txBody>
      </p:sp>
      <p:sp>
        <p:nvSpPr>
          <p:cNvPr id="5" name="Text Placeholder 4"/>
          <p:cNvSpPr>
            <a:spLocks noGrp="1"/>
          </p:cNvSpPr>
          <p:nvPr>
            <p:ph type="body" sz="quarter" idx="3"/>
          </p:nvPr>
        </p:nvSpPr>
        <p:spPr>
          <a:xfrm>
            <a:off x="5437188" y="2068513"/>
            <a:ext cx="3598862" cy="639762"/>
          </a:xfrm>
        </p:spPr>
        <p:txBody>
          <a:bodyPr rtlCol="0">
            <a:normAutofit fontScale="92500" lnSpcReduction="20000"/>
          </a:bodyPr>
          <a:lstStyle/>
          <a:p>
            <a:pPr eaLnBrk="1" fontAlgn="auto" hangingPunct="1">
              <a:spcAft>
                <a:spcPts val="0"/>
              </a:spcAft>
              <a:buFont typeface="Arial" pitchFamily="34" charset="0"/>
              <a:buNone/>
              <a:defRPr/>
            </a:pPr>
            <a:r>
              <a:rPr lang="en-AU" dirty="0" smtClean="0">
                <a:latin typeface="+mj-lt"/>
                <a:cs typeface="Arial" pitchFamily="34" charset="0"/>
              </a:rPr>
              <a:t>Best used with a copy of the NCC in hand …</a:t>
            </a:r>
            <a:endParaRPr lang="en-AU" dirty="0">
              <a:latin typeface="+mj-lt"/>
              <a:cs typeface="Arial" pitchFamily="34" charset="0"/>
            </a:endParaRPr>
          </a:p>
        </p:txBody>
      </p:sp>
      <p:sp>
        <p:nvSpPr>
          <p:cNvPr id="9" name="Rectangle 8"/>
          <p:cNvSpPr/>
          <p:nvPr/>
        </p:nvSpPr>
        <p:spPr>
          <a:xfrm>
            <a:off x="1403648" y="332656"/>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Use of Examples</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1426" t="20317" r="12472" b="12635"/>
          <a:stretch/>
        </p:blipFill>
        <p:spPr bwMode="auto">
          <a:xfrm>
            <a:off x="5052408" y="3068960"/>
            <a:ext cx="3856165"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867202"/>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5938" name="Text Placeholder 2"/>
          <p:cNvSpPr>
            <a:spLocks noGrp="1"/>
          </p:cNvSpPr>
          <p:nvPr>
            <p:ph type="body" idx="4294967295"/>
          </p:nvPr>
        </p:nvSpPr>
        <p:spPr>
          <a:xfrm>
            <a:off x="1547813" y="1852613"/>
            <a:ext cx="3600450" cy="639762"/>
          </a:xfrm>
        </p:spPr>
        <p:txBody>
          <a:bodyPr anchor="b"/>
          <a:lstStyle/>
          <a:p>
            <a:pPr marL="0" indent="0" eaLnBrk="1" hangingPunct="1">
              <a:buFont typeface="Arial" charset="0"/>
              <a:buNone/>
            </a:pPr>
            <a:r>
              <a:rPr lang="en-AU" sz="2400" b="1" smtClean="0">
                <a:latin typeface="Arial Narrow" pitchFamily="34" charset="0"/>
                <a:cs typeface="Arial" charset="0"/>
              </a:rPr>
              <a:t>Focus of Content</a:t>
            </a:r>
          </a:p>
        </p:txBody>
      </p:sp>
      <p:sp>
        <p:nvSpPr>
          <p:cNvPr id="4" name="Content Placeholder 3"/>
          <p:cNvSpPr>
            <a:spLocks noGrp="1"/>
          </p:cNvSpPr>
          <p:nvPr>
            <p:ph sz="half" idx="4294967295"/>
          </p:nvPr>
        </p:nvSpPr>
        <p:spPr>
          <a:xfrm>
            <a:off x="1547813" y="2528888"/>
            <a:ext cx="3600450" cy="4068762"/>
          </a:xfrm>
        </p:spPr>
        <p:txBody>
          <a:bodyPr rtlCol="0">
            <a:normAutofit lnSpcReduction="10000"/>
          </a:bodyPr>
          <a:lstStyle/>
          <a:p>
            <a:pPr marL="0" indent="0" eaLnBrk="1" fontAlgn="auto" hangingPunct="1">
              <a:spcAft>
                <a:spcPts val="0"/>
              </a:spcAft>
              <a:buFont typeface="Arial" pitchFamily="34" charset="0"/>
              <a:buNone/>
              <a:defRPr/>
            </a:pPr>
            <a:r>
              <a:rPr lang="en-AU" sz="2400" dirty="0">
                <a:latin typeface="Arial Narrow" pitchFamily="34" charset="0"/>
              </a:rPr>
              <a:t>T</a:t>
            </a:r>
            <a:r>
              <a:rPr lang="en-AU" sz="2400" dirty="0" smtClean="0">
                <a:latin typeface="Arial Narrow" pitchFamily="34" charset="0"/>
              </a:rPr>
              <a:t>his presentation only includes group exercises and questions. It does not include any other content that is contained within the rest of the module. Therefore it important that the group this is presented to, either have a good understanding of the NCC or have already seen the contents of this module.</a:t>
            </a:r>
            <a:endParaRPr lang="en-AU" sz="2400" dirty="0">
              <a:latin typeface="Arial Narrow" pitchFamily="34" charset="0"/>
            </a:endParaRPr>
          </a:p>
        </p:txBody>
      </p:sp>
      <p:sp>
        <p:nvSpPr>
          <p:cNvPr id="295940" name="Text Placeholder 4"/>
          <p:cNvSpPr>
            <a:spLocks noGrp="1"/>
          </p:cNvSpPr>
          <p:nvPr>
            <p:ph type="body" sz="quarter" idx="4294967295"/>
          </p:nvPr>
        </p:nvSpPr>
        <p:spPr>
          <a:xfrm>
            <a:off x="5437188" y="1852613"/>
            <a:ext cx="3598862" cy="639762"/>
          </a:xfrm>
        </p:spPr>
        <p:txBody>
          <a:bodyPr anchor="b"/>
          <a:lstStyle/>
          <a:p>
            <a:pPr marL="0" indent="0" eaLnBrk="1" hangingPunct="1">
              <a:buFont typeface="Arial" charset="0"/>
              <a:buNone/>
            </a:pPr>
            <a:r>
              <a:rPr lang="en-AU" sz="2400" b="1" dirty="0" smtClean="0">
                <a:latin typeface="Arial Narrow" pitchFamily="34" charset="0"/>
                <a:cs typeface="Arial" charset="0"/>
              </a:rPr>
              <a:t>What’s presented</a:t>
            </a:r>
          </a:p>
        </p:txBody>
      </p:sp>
      <p:sp>
        <p:nvSpPr>
          <p:cNvPr id="295941" name="Content Placeholder 5"/>
          <p:cNvSpPr>
            <a:spLocks noGrp="1"/>
          </p:cNvSpPr>
          <p:nvPr>
            <p:ph sz="quarter" idx="4294967295"/>
          </p:nvPr>
        </p:nvSpPr>
        <p:spPr>
          <a:xfrm>
            <a:off x="5435600" y="2528888"/>
            <a:ext cx="3600450" cy="3779837"/>
          </a:xfrm>
        </p:spPr>
        <p:txBody>
          <a:bodyPr/>
          <a:lstStyle/>
          <a:p>
            <a:pPr eaLnBrk="1" hangingPunct="1"/>
            <a:r>
              <a:rPr lang="en-AU" sz="2400" dirty="0" smtClean="0">
                <a:latin typeface="Arial Narrow" pitchFamily="34" charset="0"/>
                <a:cs typeface="Arial" charset="0"/>
              </a:rPr>
              <a:t>Group Exercises and Questions</a:t>
            </a:r>
          </a:p>
          <a:p>
            <a:pPr eaLnBrk="1" hangingPunct="1"/>
            <a:endParaRPr lang="en-AU" sz="2400" dirty="0" smtClean="0">
              <a:latin typeface="Arial Narrow" pitchFamily="34" charset="0"/>
              <a:cs typeface="Arial" charset="0"/>
            </a:endParaRPr>
          </a:p>
          <a:p>
            <a:pPr eaLnBrk="1" hangingPunct="1">
              <a:buFont typeface="Arial" charset="0"/>
              <a:buNone/>
            </a:pPr>
            <a:r>
              <a:rPr lang="en-AU" sz="2400" b="1" dirty="0" smtClean="0">
                <a:latin typeface="Arial Narrow" pitchFamily="34" charset="0"/>
                <a:cs typeface="Arial" charset="0"/>
              </a:rPr>
              <a:t>What it does not cover </a:t>
            </a:r>
          </a:p>
          <a:p>
            <a:pPr eaLnBrk="1" hangingPunct="1"/>
            <a:r>
              <a:rPr lang="en-AU" sz="2400" dirty="0" smtClean="0">
                <a:latin typeface="Arial Narrow" pitchFamily="34" charset="0"/>
                <a:cs typeface="Arial" charset="0"/>
              </a:rPr>
              <a:t>General contents of the Module</a:t>
            </a:r>
          </a:p>
        </p:txBody>
      </p:sp>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Group Exercises Presentation</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2663286213"/>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5938" name="Text Placeholder 2"/>
          <p:cNvSpPr>
            <a:spLocks noGrp="1"/>
          </p:cNvSpPr>
          <p:nvPr>
            <p:ph type="body" idx="4294967295"/>
          </p:nvPr>
        </p:nvSpPr>
        <p:spPr>
          <a:xfrm>
            <a:off x="1547813" y="1852613"/>
            <a:ext cx="3600450" cy="639762"/>
          </a:xfrm>
        </p:spPr>
        <p:txBody>
          <a:bodyPr anchor="b"/>
          <a:lstStyle/>
          <a:p>
            <a:pPr marL="0" indent="0" eaLnBrk="1" hangingPunct="1">
              <a:buFont typeface="Arial" charset="0"/>
              <a:buNone/>
            </a:pPr>
            <a:r>
              <a:rPr lang="en-AU" sz="2400" b="1" smtClean="0">
                <a:latin typeface="Arial Narrow" pitchFamily="34" charset="0"/>
                <a:cs typeface="Arial" charset="0"/>
              </a:rPr>
              <a:t>Focus of Content</a:t>
            </a:r>
          </a:p>
        </p:txBody>
      </p:sp>
      <p:sp>
        <p:nvSpPr>
          <p:cNvPr id="4" name="Content Placeholder 3"/>
          <p:cNvSpPr>
            <a:spLocks noGrp="1"/>
          </p:cNvSpPr>
          <p:nvPr>
            <p:ph sz="half" idx="4294967295"/>
          </p:nvPr>
        </p:nvSpPr>
        <p:spPr>
          <a:xfrm>
            <a:off x="1547813" y="2528888"/>
            <a:ext cx="3600450" cy="4068762"/>
          </a:xfrm>
        </p:spPr>
        <p:txBody>
          <a:bodyPr rtlCol="0">
            <a:normAutofit fontScale="92500" lnSpcReduction="10000"/>
          </a:bodyPr>
          <a:lstStyle/>
          <a:p>
            <a:pPr marL="0" indent="0" eaLnBrk="1" fontAlgn="auto" hangingPunct="1">
              <a:spcAft>
                <a:spcPts val="0"/>
              </a:spcAft>
              <a:buFont typeface="Arial" pitchFamily="34" charset="0"/>
              <a:buNone/>
              <a:defRPr/>
            </a:pPr>
            <a:r>
              <a:rPr lang="en-AU" sz="2400" dirty="0" smtClean="0">
                <a:latin typeface="Arial Narrow" pitchFamily="34" charset="0"/>
              </a:rPr>
              <a:t>There are approximately 150 content slides in this presentation, so you may need to decide which topics are important to your group.</a:t>
            </a:r>
          </a:p>
          <a:p>
            <a:pPr marL="0" indent="0" eaLnBrk="1" fontAlgn="auto" hangingPunct="1">
              <a:spcAft>
                <a:spcPts val="0"/>
              </a:spcAft>
              <a:buFont typeface="Arial" pitchFamily="34" charset="0"/>
              <a:buNone/>
              <a:defRPr/>
            </a:pPr>
            <a:r>
              <a:rPr lang="en-AU" sz="2400" dirty="0" smtClean="0">
                <a:latin typeface="Arial Narrow" pitchFamily="34" charset="0"/>
              </a:rPr>
              <a:t>Remember that the Table of Contents (without any highlights) can link you to any section in the PowerPoint.  Therefore, if you are running out of time and want to skip a topic, just click another topic.</a:t>
            </a:r>
          </a:p>
          <a:p>
            <a:pPr marL="0" indent="0" eaLnBrk="1" fontAlgn="auto" hangingPunct="1">
              <a:spcAft>
                <a:spcPts val="0"/>
              </a:spcAft>
              <a:buFont typeface="Arial" pitchFamily="34" charset="0"/>
              <a:buNone/>
              <a:defRPr/>
            </a:pPr>
            <a:endParaRPr lang="en-AU" sz="2400" dirty="0">
              <a:latin typeface="Arial Narrow" pitchFamily="34" charset="0"/>
            </a:endParaRPr>
          </a:p>
        </p:txBody>
      </p:sp>
      <p:sp>
        <p:nvSpPr>
          <p:cNvPr id="295940" name="Text Placeholder 4"/>
          <p:cNvSpPr>
            <a:spLocks noGrp="1"/>
          </p:cNvSpPr>
          <p:nvPr>
            <p:ph type="body" sz="quarter" idx="4294967295"/>
          </p:nvPr>
        </p:nvSpPr>
        <p:spPr>
          <a:xfrm>
            <a:off x="5437188" y="1852613"/>
            <a:ext cx="3598862" cy="639762"/>
          </a:xfrm>
        </p:spPr>
        <p:txBody>
          <a:bodyPr anchor="b"/>
          <a:lstStyle/>
          <a:p>
            <a:pPr marL="0" indent="0" eaLnBrk="1" hangingPunct="1">
              <a:buFont typeface="Arial" charset="0"/>
              <a:buNone/>
            </a:pPr>
            <a:r>
              <a:rPr lang="en-AU" sz="2400" b="1" smtClean="0">
                <a:latin typeface="Arial Narrow" pitchFamily="34" charset="0"/>
                <a:cs typeface="Arial" charset="0"/>
              </a:rPr>
              <a:t>What’s presented</a:t>
            </a:r>
          </a:p>
        </p:txBody>
      </p:sp>
      <p:sp>
        <p:nvSpPr>
          <p:cNvPr id="7" name="Rectangle 6"/>
          <p:cNvSpPr/>
          <p:nvPr/>
        </p:nvSpPr>
        <p:spPr>
          <a:xfrm>
            <a:off x="1403648" y="406405"/>
            <a:ext cx="7250399" cy="646331"/>
          </a:xfrm>
          <a:prstGeom prst="rect">
            <a:avLst/>
          </a:prstGeom>
          <a:noFill/>
        </p:spPr>
        <p:txBody>
          <a:bodyPr wrap="square" lIns="91440" tIns="45720" rIns="91440" bIns="45720">
            <a:spAutoFit/>
          </a:bodyPr>
          <a:lstStyle/>
          <a:p>
            <a:pPr algn="ctr"/>
            <a:r>
              <a:rPr lang="en-AU" sz="3600" b="1" dirty="0" smtClean="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rPr>
              <a:t>All Slides Presentation</a:t>
            </a:r>
            <a:endParaRPr lang="en-AU" sz="3600" b="1" dirty="0">
              <a:ln w="18415" cmpd="sng">
                <a:solidFill>
                  <a:srgbClr val="FFFFFF"/>
                </a:solidFill>
                <a:prstDash val="solid"/>
              </a:ln>
              <a:solidFill>
                <a:srgbClr val="FFFFFF"/>
              </a:solidFill>
              <a:effectLst>
                <a:outerShdw blurRad="63500" dir="3600000" algn="tl" rotWithShape="0">
                  <a:srgbClr val="000000">
                    <a:alpha val="70000"/>
                  </a:srgbClr>
                </a:outerShdw>
                <a:reflection blurRad="6350" stA="55000" endA="300" endPos="45500" dir="5400000" sy="-100000" algn="bl" rotWithShape="0"/>
              </a:effectLst>
              <a:latin typeface="Arial" pitchFamily="34" charset="0"/>
              <a:cs typeface="Arial" pitchFamily="34" charset="0"/>
            </a:endParaRPr>
          </a:p>
        </p:txBody>
      </p:sp>
      <p:sp>
        <p:nvSpPr>
          <p:cNvPr id="8" name="Content Placeholder 5"/>
          <p:cNvSpPr txBox="1">
            <a:spLocks/>
          </p:cNvSpPr>
          <p:nvPr/>
        </p:nvSpPr>
        <p:spPr>
          <a:xfrm>
            <a:off x="5435600" y="2528888"/>
            <a:ext cx="3600450" cy="37798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2400" dirty="0" smtClean="0">
                <a:latin typeface="Arial Narrow" pitchFamily="34" charset="0"/>
                <a:cs typeface="Arial" charset="0"/>
              </a:rPr>
              <a:t>All of the content from the main topics</a:t>
            </a:r>
          </a:p>
          <a:p>
            <a:endParaRPr lang="en-AU" sz="2400" dirty="0" smtClean="0">
              <a:latin typeface="Arial Narrow" pitchFamily="34" charset="0"/>
              <a:cs typeface="Arial" charset="0"/>
            </a:endParaRPr>
          </a:p>
          <a:p>
            <a:pPr>
              <a:buFont typeface="Arial" charset="0"/>
              <a:buNone/>
            </a:pPr>
            <a:r>
              <a:rPr lang="en-AU" sz="2400" b="1" dirty="0" smtClean="0">
                <a:latin typeface="Arial Narrow" pitchFamily="34" charset="0"/>
                <a:cs typeface="Arial" charset="0"/>
              </a:rPr>
              <a:t>What it does not cover </a:t>
            </a:r>
          </a:p>
          <a:p>
            <a:r>
              <a:rPr lang="en-AU" sz="2400" dirty="0" smtClean="0">
                <a:latin typeface="Arial Narrow" pitchFamily="34" charset="0"/>
                <a:cs typeface="Arial" charset="0"/>
              </a:rPr>
              <a:t>Additional Group Exercises</a:t>
            </a:r>
          </a:p>
        </p:txBody>
      </p:sp>
    </p:spTree>
    <p:extLst>
      <p:ext uri="{BB962C8B-B14F-4D97-AF65-F5344CB8AC3E}">
        <p14:creationId xmlns:p14="http://schemas.microsoft.com/office/powerpoint/2010/main" val="361471905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c8f403-9f31-4fcf-87f3-4da25a4d66b0">
      <Terms xmlns="http://schemas.microsoft.com/office/infopath/2007/PartnerControls"/>
    </lcf76f155ced4ddcb4097134ff3c332f>
    <TaxCatchAll xmlns="368d40e7-c45d-4157-968f-809ef70544cd" xsi:nil="true"/>
    <MigrationSourceID xmlns="368d40e7-c45d-4157-968f-809ef70544cd">1MCNEv921inqwNUorxDopECW-Q4tDQS8e</MigrationSourceI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76DED150055E409505283EBB3DEF82" ma:contentTypeVersion="13" ma:contentTypeDescription="Create a new document." ma:contentTypeScope="" ma:versionID="6c3021c16faed8000210fdc35d2ddedb">
  <xsd:schema xmlns:xsd="http://www.w3.org/2001/XMLSchema" xmlns:xs="http://www.w3.org/2001/XMLSchema" xmlns:p="http://schemas.microsoft.com/office/2006/metadata/properties" xmlns:ns2="e3c8f403-9f31-4fcf-87f3-4da25a4d66b0" xmlns:ns3="368d40e7-c45d-4157-968f-809ef70544cd" targetNamespace="http://schemas.microsoft.com/office/2006/metadata/properties" ma:root="true" ma:fieldsID="fa9f52c0c25954f9bc4cf9290eb63076" ns2:_="" ns3:_="">
    <xsd:import namespace="e3c8f403-9f31-4fcf-87f3-4da25a4d66b0"/>
    <xsd:import namespace="368d40e7-c45d-4157-968f-809ef70544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MigrationSourceID"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c8f403-9f31-4fcf-87f3-4da25a4d66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6dff65b-3efd-42d0-8d63-aab23e39cbfa"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68d40e7-c45d-4157-968f-809ef70544cd"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a3f5129-3fa9-4e18-becf-162004a77a4e}" ma:internalName="TaxCatchAll" ma:showField="CatchAllData" ma:web="368d40e7-c45d-4157-968f-809ef70544cd">
      <xsd:complexType>
        <xsd:complexContent>
          <xsd:extension base="dms:MultiChoiceLookup">
            <xsd:sequence>
              <xsd:element name="Value" type="dms:Lookup" maxOccurs="unbounded" minOccurs="0" nillable="true"/>
            </xsd:sequence>
          </xsd:extension>
        </xsd:complexContent>
      </xsd:complexType>
    </xsd:element>
    <xsd:element name="MigrationSourceID" ma:index="19"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E6C6BB-7273-46B5-89BE-0CD831B6A6B7}">
  <ds:schemaRefs>
    <ds:schemaRef ds:uri="http://purl.org/dc/elements/1.1/"/>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E65E5E87-7E29-4335-8FA9-AD584DE19BBB}">
  <ds:schemaRefs>
    <ds:schemaRef ds:uri="http://schemas.microsoft.com/sharepoint/v3/contenttype/forms"/>
  </ds:schemaRefs>
</ds:datastoreItem>
</file>

<file path=customXml/itemProps3.xml><?xml version="1.0" encoding="utf-8"?>
<ds:datastoreItem xmlns:ds="http://schemas.openxmlformats.org/officeDocument/2006/customXml" ds:itemID="{7F0CD077-5D65-4AE0-9E44-ED7B7797333B}"/>
</file>

<file path=docProps/app.xml><?xml version="1.0" encoding="utf-8"?>
<Properties xmlns="http://schemas.openxmlformats.org/officeDocument/2006/extended-properties" xmlns:vt="http://schemas.openxmlformats.org/officeDocument/2006/docPropsVTypes">
  <TotalTime>19667</TotalTime>
  <Words>4641</Words>
  <Application>Microsoft Office PowerPoint</Application>
  <PresentationFormat>On-screen Show (4:3)</PresentationFormat>
  <Paragraphs>726</Paragraphs>
  <Slides>46</Slides>
  <Notes>46</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MS PGothic</vt:lpstr>
      <vt:lpstr>Arial</vt:lpstr>
      <vt:lpstr>Arial Narrow</vt:lpstr>
      <vt:lpstr>Calibri</vt:lpstr>
      <vt:lpstr>Cambria Math</vt:lpstr>
      <vt:lpstr>Monotype Sorts</vt:lpstr>
      <vt:lpstr>Times</vt:lpstr>
      <vt:lpstr>Times New Roman</vt:lpstr>
      <vt:lpstr>Wingdings</vt:lpstr>
      <vt:lpstr>Office Theme</vt:lpstr>
      <vt:lpstr>Presenter Notes</vt:lpstr>
      <vt:lpstr>Presenter Notes</vt:lpstr>
      <vt:lpstr>Presenter Notes</vt:lpstr>
      <vt:lpstr>Presenter Notes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Energy Efficiency NCC Volume Two</dc:title>
  <dc:creator>Nick</dc:creator>
  <cp:lastModifiedBy>Wright, Clare</cp:lastModifiedBy>
  <cp:revision>651</cp:revision>
  <cp:lastPrinted>2016-06-08T00:32:54Z</cp:lastPrinted>
  <dcterms:created xsi:type="dcterms:W3CDTF">2012-07-04T06:36:53Z</dcterms:created>
  <dcterms:modified xsi:type="dcterms:W3CDTF">2016-08-04T00:43:05Z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0x010100BB76DED150055E409505283EBB3DEF82</vt:lpwstr>
  </property>
  <property fmtid="{D5CDD505-2E9C-101B-9397-08002B2CF9AE}" pid="3" name="Order">
    <vt:r8>2500</vt:r8>
  </property>
</Properties>
</file>